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462" r:id="rId5"/>
    <p:sldId id="553" r:id="rId6"/>
    <p:sldId id="554" r:id="rId7"/>
    <p:sldId id="528" r:id="rId8"/>
    <p:sldId id="529" r:id="rId9"/>
    <p:sldId id="530" r:id="rId10"/>
    <p:sldId id="531" r:id="rId11"/>
    <p:sldId id="532" r:id="rId12"/>
    <p:sldId id="533" r:id="rId13"/>
    <p:sldId id="534" r:id="rId14"/>
    <p:sldId id="535" r:id="rId15"/>
    <p:sldId id="536" r:id="rId16"/>
    <p:sldId id="537" r:id="rId17"/>
    <p:sldId id="512" r:id="rId18"/>
  </p:sldIdLst>
  <p:sldSz cx="12192000" cy="6858000"/>
  <p:notesSz cx="6645275" cy="9775825"/>
  <p:custDataLst>
    <p:tags r:id="rId2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DE8BF54A-1323-4403-83F8-D7B5510C9D53}">
          <p14:sldIdLst>
            <p14:sldId id="462"/>
          </p14:sldIdLst>
        </p14:section>
        <p14:section name="Title slide" id="{37B72C25-0166-462C-A543-F7179707BB82}">
          <p14:sldIdLst>
            <p14:sldId id="553"/>
            <p14:sldId id="554"/>
            <p14:sldId id="528"/>
            <p14:sldId id="529"/>
            <p14:sldId id="530"/>
            <p14:sldId id="531"/>
            <p14:sldId id="532"/>
            <p14:sldId id="533"/>
            <p14:sldId id="534"/>
            <p14:sldId id="535"/>
            <p14:sldId id="536"/>
            <p14:sldId id="537"/>
            <p14:sldId id="512"/>
          </p14:sldIdLst>
        </p14:section>
      </p14:sectionLst>
    </p:ex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D237"/>
    <a:srgbClr val="FFFFFF"/>
    <a:srgbClr val="F3622C"/>
    <a:srgbClr val="31D3AE"/>
    <a:srgbClr val="004050"/>
    <a:srgbClr val="09EDB8"/>
    <a:srgbClr val="F91258"/>
    <a:srgbClr val="7E007C"/>
    <a:srgbClr val="28CFF9"/>
    <a:srgbClr val="F3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673" autoAdjust="0"/>
    <p:restoredTop sz="83564" autoAdjust="0"/>
  </p:normalViewPr>
  <p:slideViewPr>
    <p:cSldViewPr snapToGrid="0" snapToObjects="1" showGuides="1">
      <p:cViewPr varScale="1">
        <p:scale>
          <a:sx n="70" d="100"/>
          <a:sy n="70" d="100"/>
        </p:scale>
        <p:origin x="1459" y="43"/>
      </p:cViewPr>
      <p:guideLst>
        <p:guide pos="3840"/>
        <p:guide orient="horz" pos="377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83" d="100"/>
          <a:sy n="83" d="100"/>
        </p:scale>
        <p:origin x="399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tags" Target="tags/tag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s>
</file>

<file path=ppt/diagrams/_rels/data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C52E4E0-E5FE-49F8-AF23-12D867D670B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C907216-3F26-4CE6-AE4E-094970B7B6C9}">
      <dgm:prSet/>
      <dgm:spPr/>
      <dgm:t>
        <a:bodyPr/>
        <a:lstStyle/>
        <a:p>
          <a:r>
            <a:rPr lang="en-GB" b="1" dirty="0"/>
            <a:t>Lab</a:t>
          </a:r>
          <a:endParaRPr lang="en-US" b="1" dirty="0"/>
        </a:p>
      </dgm:t>
    </dgm:pt>
    <dgm:pt modelId="{D38252C2-E158-4460-9A7E-5F15F08C6232}" type="parTrans" cxnId="{E0CEAFCC-69AC-4BCD-8C45-AFCA6AABAF07}">
      <dgm:prSet/>
      <dgm:spPr/>
      <dgm:t>
        <a:bodyPr/>
        <a:lstStyle/>
        <a:p>
          <a:endParaRPr lang="en-US"/>
        </a:p>
      </dgm:t>
    </dgm:pt>
    <dgm:pt modelId="{E7552E0D-3340-48C8-BD78-DC7043AE987C}" type="sibTrans" cxnId="{E0CEAFCC-69AC-4BCD-8C45-AFCA6AABAF07}">
      <dgm:prSet/>
      <dgm:spPr/>
      <dgm:t>
        <a:bodyPr/>
        <a:lstStyle/>
        <a:p>
          <a:endParaRPr lang="en-US"/>
        </a:p>
      </dgm:t>
    </dgm:pt>
    <dgm:pt modelId="{562D6B78-B01D-4DA9-9297-FFDE616BA399}">
      <dgm:prSet custT="1"/>
      <dgm:spPr/>
      <dgm:t>
        <a:bodyPr/>
        <a:lstStyle/>
        <a:p>
          <a:r>
            <a:rPr lang="en-GB" sz="1800" b="1" dirty="0"/>
            <a:t>Accessing Databases using Java</a:t>
          </a:r>
          <a:endParaRPr lang="en-US" sz="1800" dirty="0"/>
        </a:p>
      </dgm:t>
    </dgm:pt>
    <dgm:pt modelId="{83715110-F455-499D-A5E6-F09BEE250B3C}" type="parTrans" cxnId="{7D54007D-4F44-46EC-AB2A-2C914C707F9D}">
      <dgm:prSet/>
      <dgm:spPr/>
      <dgm:t>
        <a:bodyPr/>
        <a:lstStyle/>
        <a:p>
          <a:endParaRPr lang="en-US"/>
        </a:p>
      </dgm:t>
    </dgm:pt>
    <dgm:pt modelId="{159CBD13-B110-4B0A-BE73-18522501FD32}" type="sibTrans" cxnId="{7D54007D-4F44-46EC-AB2A-2C914C707F9D}">
      <dgm:prSet/>
      <dgm:spPr/>
      <dgm:t>
        <a:bodyPr/>
        <a:lstStyle/>
        <a:p>
          <a:endParaRPr lang="en-US"/>
        </a:p>
      </dgm:t>
    </dgm:pt>
    <dgm:pt modelId="{55ADE6D9-5076-40E9-BD05-49E4D3EBC18C}">
      <dgm:prSet custT="1"/>
      <dgm:spPr/>
      <dgm:t>
        <a:bodyPr/>
        <a:lstStyle/>
        <a:p>
          <a:r>
            <a:rPr lang="en-GB" sz="2000" b="1" dirty="0"/>
            <a:t>Duration 30 minutes</a:t>
          </a:r>
          <a:br>
            <a:rPr lang="en-GB" sz="2000" b="1" dirty="0"/>
          </a:br>
          <a:r>
            <a:rPr lang="en-GB" sz="1800" b="0" dirty="0"/>
            <a:t>(Java code is provided)</a:t>
          </a:r>
          <a:endParaRPr lang="en-US" sz="2000" b="0" dirty="0"/>
        </a:p>
      </dgm:t>
    </dgm:pt>
    <dgm:pt modelId="{361C0206-96F0-46A8-97FF-017271078142}" type="parTrans" cxnId="{27698506-2C97-43E8-A553-9C9C48E81DBF}">
      <dgm:prSet/>
      <dgm:spPr/>
      <dgm:t>
        <a:bodyPr/>
        <a:lstStyle/>
        <a:p>
          <a:endParaRPr lang="en-US"/>
        </a:p>
      </dgm:t>
    </dgm:pt>
    <dgm:pt modelId="{FD3C85DE-C931-4249-9943-7107BBFB2906}" type="sibTrans" cxnId="{27698506-2C97-43E8-A553-9C9C48E81DBF}">
      <dgm:prSet/>
      <dgm:spPr/>
      <dgm:t>
        <a:bodyPr/>
        <a:lstStyle/>
        <a:p>
          <a:endParaRPr lang="en-US"/>
        </a:p>
      </dgm:t>
    </dgm:pt>
    <dgm:pt modelId="{89945425-01DF-47EC-96A0-9A80721F8BB8}" type="pres">
      <dgm:prSet presAssocID="{BC52E4E0-E5FE-49F8-AF23-12D867D670B9}" presName="root" presStyleCnt="0">
        <dgm:presLayoutVars>
          <dgm:dir/>
          <dgm:resizeHandles val="exact"/>
        </dgm:presLayoutVars>
      </dgm:prSet>
      <dgm:spPr/>
    </dgm:pt>
    <dgm:pt modelId="{3B518A6B-5E11-4C08-9926-E67D5BBB3512}" type="pres">
      <dgm:prSet presAssocID="{5C907216-3F26-4CE6-AE4E-094970B7B6C9}" presName="compNode" presStyleCnt="0"/>
      <dgm:spPr/>
    </dgm:pt>
    <dgm:pt modelId="{52000E03-545F-4C7C-A58A-A4393DF1D1A8}" type="pres">
      <dgm:prSet presAssocID="{5C907216-3F26-4CE6-AE4E-094970B7B6C9}" presName="bgRect" presStyleLbl="bgShp" presStyleIdx="0" presStyleCnt="3"/>
      <dgm:spPr/>
    </dgm:pt>
    <dgm:pt modelId="{FB16D9A6-4DE4-4CBC-848D-0A6DEE1D8688}" type="pres">
      <dgm:prSet presAssocID="{5C907216-3F26-4CE6-AE4E-094970B7B6C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est tubes"/>
        </a:ext>
      </dgm:extLst>
    </dgm:pt>
    <dgm:pt modelId="{B3E590FD-EB62-4B67-973A-3FE19FEFC14D}" type="pres">
      <dgm:prSet presAssocID="{5C907216-3F26-4CE6-AE4E-094970B7B6C9}" presName="spaceRect" presStyleCnt="0"/>
      <dgm:spPr/>
    </dgm:pt>
    <dgm:pt modelId="{2122E02C-9AA3-49B7-A0E5-D6618A805077}" type="pres">
      <dgm:prSet presAssocID="{5C907216-3F26-4CE6-AE4E-094970B7B6C9}" presName="parTx" presStyleLbl="revTx" presStyleIdx="0" presStyleCnt="3">
        <dgm:presLayoutVars>
          <dgm:chMax val="0"/>
          <dgm:chPref val="0"/>
        </dgm:presLayoutVars>
      </dgm:prSet>
      <dgm:spPr/>
    </dgm:pt>
    <dgm:pt modelId="{1C4F9FC3-B481-4CB9-9823-3CC9AAAA2C61}" type="pres">
      <dgm:prSet presAssocID="{E7552E0D-3340-48C8-BD78-DC7043AE987C}" presName="sibTrans" presStyleCnt="0"/>
      <dgm:spPr/>
    </dgm:pt>
    <dgm:pt modelId="{C67DA21A-CF27-424B-B502-C5E71ED7D7A3}" type="pres">
      <dgm:prSet presAssocID="{562D6B78-B01D-4DA9-9297-FFDE616BA399}" presName="compNode" presStyleCnt="0"/>
      <dgm:spPr/>
    </dgm:pt>
    <dgm:pt modelId="{9BE840AB-520F-443E-BECC-BFCC394531D9}" type="pres">
      <dgm:prSet presAssocID="{562D6B78-B01D-4DA9-9297-FFDE616BA399}" presName="bgRect" presStyleLbl="bgShp" presStyleIdx="1" presStyleCnt="3"/>
      <dgm:spPr/>
    </dgm:pt>
    <dgm:pt modelId="{EC0BF47E-EE83-4EA1-873A-C6C4BC4B9512}" type="pres">
      <dgm:prSet presAssocID="{562D6B78-B01D-4DA9-9297-FFDE616BA39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B32F8BB7-6D59-495F-84F0-963D414DA81F}" type="pres">
      <dgm:prSet presAssocID="{562D6B78-B01D-4DA9-9297-FFDE616BA399}" presName="spaceRect" presStyleCnt="0"/>
      <dgm:spPr/>
    </dgm:pt>
    <dgm:pt modelId="{DC45E8F4-4EDE-4783-9CD1-348DE983FAF8}" type="pres">
      <dgm:prSet presAssocID="{562D6B78-B01D-4DA9-9297-FFDE616BA399}" presName="parTx" presStyleLbl="revTx" presStyleIdx="1" presStyleCnt="3">
        <dgm:presLayoutVars>
          <dgm:chMax val="0"/>
          <dgm:chPref val="0"/>
        </dgm:presLayoutVars>
      </dgm:prSet>
      <dgm:spPr/>
    </dgm:pt>
    <dgm:pt modelId="{24FBAC6F-8F76-4949-BE32-C6256FEC5DB5}" type="pres">
      <dgm:prSet presAssocID="{159CBD13-B110-4B0A-BE73-18522501FD32}" presName="sibTrans" presStyleCnt="0"/>
      <dgm:spPr/>
    </dgm:pt>
    <dgm:pt modelId="{2385F5C5-597D-4C0A-B5C2-063EB74A3F97}" type="pres">
      <dgm:prSet presAssocID="{55ADE6D9-5076-40E9-BD05-49E4D3EBC18C}" presName="compNode" presStyleCnt="0"/>
      <dgm:spPr/>
    </dgm:pt>
    <dgm:pt modelId="{3B8DAC15-68DF-488B-A011-DCE3E4527EE7}" type="pres">
      <dgm:prSet presAssocID="{55ADE6D9-5076-40E9-BD05-49E4D3EBC18C}" presName="bgRect" presStyleLbl="bgShp" presStyleIdx="2" presStyleCnt="3" custLinFactNeighborX="-223"/>
      <dgm:spPr/>
    </dgm:pt>
    <dgm:pt modelId="{ABFB47BF-0212-41BD-B8AD-A307585F6912}" type="pres">
      <dgm:prSet presAssocID="{55ADE6D9-5076-40E9-BD05-49E4D3EBC18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D4890D2F-06D3-4507-B71E-8A02343C6D5F}" type="pres">
      <dgm:prSet presAssocID="{55ADE6D9-5076-40E9-BD05-49E4D3EBC18C}" presName="spaceRect" presStyleCnt="0"/>
      <dgm:spPr/>
    </dgm:pt>
    <dgm:pt modelId="{5E85366E-6B3B-4F00-9D48-3D906262C02F}" type="pres">
      <dgm:prSet presAssocID="{55ADE6D9-5076-40E9-BD05-49E4D3EBC18C}" presName="parTx" presStyleLbl="revTx" presStyleIdx="2" presStyleCnt="3">
        <dgm:presLayoutVars>
          <dgm:chMax val="0"/>
          <dgm:chPref val="0"/>
        </dgm:presLayoutVars>
      </dgm:prSet>
      <dgm:spPr/>
    </dgm:pt>
  </dgm:ptLst>
  <dgm:cxnLst>
    <dgm:cxn modelId="{27698506-2C97-43E8-A553-9C9C48E81DBF}" srcId="{BC52E4E0-E5FE-49F8-AF23-12D867D670B9}" destId="{55ADE6D9-5076-40E9-BD05-49E4D3EBC18C}" srcOrd="2" destOrd="0" parTransId="{361C0206-96F0-46A8-97FF-017271078142}" sibTransId="{FD3C85DE-C931-4249-9943-7107BBFB2906}"/>
    <dgm:cxn modelId="{8A2B4430-7156-4199-A8F1-AA6625252B1E}" type="presOf" srcId="{55ADE6D9-5076-40E9-BD05-49E4D3EBC18C}" destId="{5E85366E-6B3B-4F00-9D48-3D906262C02F}" srcOrd="0" destOrd="0" presId="urn:microsoft.com/office/officeart/2018/2/layout/IconVerticalSolidList"/>
    <dgm:cxn modelId="{7D54007D-4F44-46EC-AB2A-2C914C707F9D}" srcId="{BC52E4E0-E5FE-49F8-AF23-12D867D670B9}" destId="{562D6B78-B01D-4DA9-9297-FFDE616BA399}" srcOrd="1" destOrd="0" parTransId="{83715110-F455-499D-A5E6-F09BEE250B3C}" sibTransId="{159CBD13-B110-4B0A-BE73-18522501FD32}"/>
    <dgm:cxn modelId="{375DCEB8-3B3D-4904-9570-8F907E49511E}" type="presOf" srcId="{BC52E4E0-E5FE-49F8-AF23-12D867D670B9}" destId="{89945425-01DF-47EC-96A0-9A80721F8BB8}" srcOrd="0" destOrd="0" presId="urn:microsoft.com/office/officeart/2018/2/layout/IconVerticalSolidList"/>
    <dgm:cxn modelId="{E0CEAFCC-69AC-4BCD-8C45-AFCA6AABAF07}" srcId="{BC52E4E0-E5FE-49F8-AF23-12D867D670B9}" destId="{5C907216-3F26-4CE6-AE4E-094970B7B6C9}" srcOrd="0" destOrd="0" parTransId="{D38252C2-E158-4460-9A7E-5F15F08C6232}" sibTransId="{E7552E0D-3340-48C8-BD78-DC7043AE987C}"/>
    <dgm:cxn modelId="{0C37EFD6-CAD8-4DBA-9647-6A5F60BDAAFA}" type="presOf" srcId="{5C907216-3F26-4CE6-AE4E-094970B7B6C9}" destId="{2122E02C-9AA3-49B7-A0E5-D6618A805077}" srcOrd="0" destOrd="0" presId="urn:microsoft.com/office/officeart/2018/2/layout/IconVerticalSolidList"/>
    <dgm:cxn modelId="{4B1056F0-E9A7-4FE5-887F-FC9D9B2945A0}" type="presOf" srcId="{562D6B78-B01D-4DA9-9297-FFDE616BA399}" destId="{DC45E8F4-4EDE-4783-9CD1-348DE983FAF8}" srcOrd="0" destOrd="0" presId="urn:microsoft.com/office/officeart/2018/2/layout/IconVerticalSolidList"/>
    <dgm:cxn modelId="{EB38249D-77BB-4140-8031-F946C7821E37}" type="presParOf" srcId="{89945425-01DF-47EC-96A0-9A80721F8BB8}" destId="{3B518A6B-5E11-4C08-9926-E67D5BBB3512}" srcOrd="0" destOrd="0" presId="urn:microsoft.com/office/officeart/2018/2/layout/IconVerticalSolidList"/>
    <dgm:cxn modelId="{B4D0D1BF-D9CA-49C9-A9E2-85A8C51F928C}" type="presParOf" srcId="{3B518A6B-5E11-4C08-9926-E67D5BBB3512}" destId="{52000E03-545F-4C7C-A58A-A4393DF1D1A8}" srcOrd="0" destOrd="0" presId="urn:microsoft.com/office/officeart/2018/2/layout/IconVerticalSolidList"/>
    <dgm:cxn modelId="{E9370EEE-B313-4789-AB33-E86B33E58673}" type="presParOf" srcId="{3B518A6B-5E11-4C08-9926-E67D5BBB3512}" destId="{FB16D9A6-4DE4-4CBC-848D-0A6DEE1D8688}" srcOrd="1" destOrd="0" presId="urn:microsoft.com/office/officeart/2018/2/layout/IconVerticalSolidList"/>
    <dgm:cxn modelId="{D57685BD-0A5D-42F6-B167-22B908FC5586}" type="presParOf" srcId="{3B518A6B-5E11-4C08-9926-E67D5BBB3512}" destId="{B3E590FD-EB62-4B67-973A-3FE19FEFC14D}" srcOrd="2" destOrd="0" presId="urn:microsoft.com/office/officeart/2018/2/layout/IconVerticalSolidList"/>
    <dgm:cxn modelId="{2D019463-35CE-4FC5-A585-6A7E077637B3}" type="presParOf" srcId="{3B518A6B-5E11-4C08-9926-E67D5BBB3512}" destId="{2122E02C-9AA3-49B7-A0E5-D6618A805077}" srcOrd="3" destOrd="0" presId="urn:microsoft.com/office/officeart/2018/2/layout/IconVerticalSolidList"/>
    <dgm:cxn modelId="{CDD7274C-8232-4CBA-B03F-1FA4DA56D408}" type="presParOf" srcId="{89945425-01DF-47EC-96A0-9A80721F8BB8}" destId="{1C4F9FC3-B481-4CB9-9823-3CC9AAAA2C61}" srcOrd="1" destOrd="0" presId="urn:microsoft.com/office/officeart/2018/2/layout/IconVerticalSolidList"/>
    <dgm:cxn modelId="{90D6F04D-357F-4EA7-A512-8F23D475F0E4}" type="presParOf" srcId="{89945425-01DF-47EC-96A0-9A80721F8BB8}" destId="{C67DA21A-CF27-424B-B502-C5E71ED7D7A3}" srcOrd="2" destOrd="0" presId="urn:microsoft.com/office/officeart/2018/2/layout/IconVerticalSolidList"/>
    <dgm:cxn modelId="{1EB05999-4C2B-4677-91A8-8138537112F9}" type="presParOf" srcId="{C67DA21A-CF27-424B-B502-C5E71ED7D7A3}" destId="{9BE840AB-520F-443E-BECC-BFCC394531D9}" srcOrd="0" destOrd="0" presId="urn:microsoft.com/office/officeart/2018/2/layout/IconVerticalSolidList"/>
    <dgm:cxn modelId="{1BCC08A3-CCD2-47A7-BD7A-8C13F766E9CC}" type="presParOf" srcId="{C67DA21A-CF27-424B-B502-C5E71ED7D7A3}" destId="{EC0BF47E-EE83-4EA1-873A-C6C4BC4B9512}" srcOrd="1" destOrd="0" presId="urn:microsoft.com/office/officeart/2018/2/layout/IconVerticalSolidList"/>
    <dgm:cxn modelId="{B730164B-10A4-4931-A2B5-F55A1456E34B}" type="presParOf" srcId="{C67DA21A-CF27-424B-B502-C5E71ED7D7A3}" destId="{B32F8BB7-6D59-495F-84F0-963D414DA81F}" srcOrd="2" destOrd="0" presId="urn:microsoft.com/office/officeart/2018/2/layout/IconVerticalSolidList"/>
    <dgm:cxn modelId="{E79E5E78-2DF8-439E-A9CC-5537370C8DD4}" type="presParOf" srcId="{C67DA21A-CF27-424B-B502-C5E71ED7D7A3}" destId="{DC45E8F4-4EDE-4783-9CD1-348DE983FAF8}" srcOrd="3" destOrd="0" presId="urn:microsoft.com/office/officeart/2018/2/layout/IconVerticalSolidList"/>
    <dgm:cxn modelId="{6E84A9A5-D718-450E-9097-80620694DC9D}" type="presParOf" srcId="{89945425-01DF-47EC-96A0-9A80721F8BB8}" destId="{24FBAC6F-8F76-4949-BE32-C6256FEC5DB5}" srcOrd="3" destOrd="0" presId="urn:microsoft.com/office/officeart/2018/2/layout/IconVerticalSolidList"/>
    <dgm:cxn modelId="{069AD59D-7503-4617-8993-DB5DC3B247A2}" type="presParOf" srcId="{89945425-01DF-47EC-96A0-9A80721F8BB8}" destId="{2385F5C5-597D-4C0A-B5C2-063EB74A3F97}" srcOrd="4" destOrd="0" presId="urn:microsoft.com/office/officeart/2018/2/layout/IconVerticalSolidList"/>
    <dgm:cxn modelId="{EF120689-E3C0-453F-95DE-F27B63DADD85}" type="presParOf" srcId="{2385F5C5-597D-4C0A-B5C2-063EB74A3F97}" destId="{3B8DAC15-68DF-488B-A011-DCE3E4527EE7}" srcOrd="0" destOrd="0" presId="urn:microsoft.com/office/officeart/2018/2/layout/IconVerticalSolidList"/>
    <dgm:cxn modelId="{66F2ACD2-2EC8-442A-B2A8-1E5AA0C60F3D}" type="presParOf" srcId="{2385F5C5-597D-4C0A-B5C2-063EB74A3F97}" destId="{ABFB47BF-0212-41BD-B8AD-A307585F6912}" srcOrd="1" destOrd="0" presId="urn:microsoft.com/office/officeart/2018/2/layout/IconVerticalSolidList"/>
    <dgm:cxn modelId="{A19C9162-EAC1-4EC3-B551-8D6E56683E09}" type="presParOf" srcId="{2385F5C5-597D-4C0A-B5C2-063EB74A3F97}" destId="{D4890D2F-06D3-4507-B71E-8A02343C6D5F}" srcOrd="2" destOrd="0" presId="urn:microsoft.com/office/officeart/2018/2/layout/IconVerticalSolidList"/>
    <dgm:cxn modelId="{BBF29337-2440-4AD6-A101-AF2B7DBC7407}" type="presParOf" srcId="{2385F5C5-597D-4C0A-B5C2-063EB74A3F97}" destId="{5E85366E-6B3B-4F00-9D48-3D906262C02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000E03-545F-4C7C-A58A-A4393DF1D1A8}">
      <dsp:nvSpPr>
        <dsp:cNvPr id="0" name=""/>
        <dsp:cNvSpPr/>
      </dsp:nvSpPr>
      <dsp:spPr>
        <a:xfrm>
          <a:off x="0" y="335"/>
          <a:ext cx="5878286" cy="7860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16D9A6-4DE4-4CBC-848D-0A6DEE1D8688}">
      <dsp:nvSpPr>
        <dsp:cNvPr id="0" name=""/>
        <dsp:cNvSpPr/>
      </dsp:nvSpPr>
      <dsp:spPr>
        <a:xfrm>
          <a:off x="237793" y="177206"/>
          <a:ext cx="432351" cy="4323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22E02C-9AA3-49B7-A0E5-D6618A805077}">
      <dsp:nvSpPr>
        <dsp:cNvPr id="0" name=""/>
        <dsp:cNvSpPr/>
      </dsp:nvSpPr>
      <dsp:spPr>
        <a:xfrm>
          <a:off x="907937" y="335"/>
          <a:ext cx="4970348" cy="78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195" tIns="83195" rIns="83195" bIns="83195" numCol="1" spcCol="1270" anchor="ctr" anchorCtr="0">
          <a:noAutofit/>
        </a:bodyPr>
        <a:lstStyle/>
        <a:p>
          <a:pPr marL="0" lvl="0" indent="0" algn="l" defTabSz="1111250">
            <a:lnSpc>
              <a:spcPct val="90000"/>
            </a:lnSpc>
            <a:spcBef>
              <a:spcPct val="0"/>
            </a:spcBef>
            <a:spcAft>
              <a:spcPct val="35000"/>
            </a:spcAft>
            <a:buNone/>
          </a:pPr>
          <a:r>
            <a:rPr lang="en-GB" sz="2500" b="1" kern="1200" dirty="0"/>
            <a:t>Lab</a:t>
          </a:r>
          <a:endParaRPr lang="en-US" sz="2500" b="1" kern="1200" dirty="0"/>
        </a:p>
      </dsp:txBody>
      <dsp:txXfrm>
        <a:off x="907937" y="335"/>
        <a:ext cx="4970348" cy="786093"/>
      </dsp:txXfrm>
    </dsp:sp>
    <dsp:sp modelId="{9BE840AB-520F-443E-BECC-BFCC394531D9}">
      <dsp:nvSpPr>
        <dsp:cNvPr id="0" name=""/>
        <dsp:cNvSpPr/>
      </dsp:nvSpPr>
      <dsp:spPr>
        <a:xfrm>
          <a:off x="0" y="982952"/>
          <a:ext cx="5878286" cy="7860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0BF47E-EE83-4EA1-873A-C6C4BC4B9512}">
      <dsp:nvSpPr>
        <dsp:cNvPr id="0" name=""/>
        <dsp:cNvSpPr/>
      </dsp:nvSpPr>
      <dsp:spPr>
        <a:xfrm>
          <a:off x="237793" y="1159823"/>
          <a:ext cx="432351" cy="4323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C45E8F4-4EDE-4783-9CD1-348DE983FAF8}">
      <dsp:nvSpPr>
        <dsp:cNvPr id="0" name=""/>
        <dsp:cNvSpPr/>
      </dsp:nvSpPr>
      <dsp:spPr>
        <a:xfrm>
          <a:off x="907937" y="982952"/>
          <a:ext cx="4970348" cy="78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195" tIns="83195" rIns="83195" bIns="83195" numCol="1" spcCol="1270" anchor="ctr" anchorCtr="0">
          <a:noAutofit/>
        </a:bodyPr>
        <a:lstStyle/>
        <a:p>
          <a:pPr marL="0" lvl="0" indent="0" algn="l" defTabSz="800100">
            <a:lnSpc>
              <a:spcPct val="90000"/>
            </a:lnSpc>
            <a:spcBef>
              <a:spcPct val="0"/>
            </a:spcBef>
            <a:spcAft>
              <a:spcPct val="35000"/>
            </a:spcAft>
            <a:buNone/>
          </a:pPr>
          <a:r>
            <a:rPr lang="en-GB" sz="1800" b="1" kern="1200" dirty="0"/>
            <a:t>Accessing Databases using Java</a:t>
          </a:r>
          <a:endParaRPr lang="en-US" sz="1800" kern="1200" dirty="0"/>
        </a:p>
      </dsp:txBody>
      <dsp:txXfrm>
        <a:off x="907937" y="982952"/>
        <a:ext cx="4970348" cy="786093"/>
      </dsp:txXfrm>
    </dsp:sp>
    <dsp:sp modelId="{3B8DAC15-68DF-488B-A011-DCE3E4527EE7}">
      <dsp:nvSpPr>
        <dsp:cNvPr id="0" name=""/>
        <dsp:cNvSpPr/>
      </dsp:nvSpPr>
      <dsp:spPr>
        <a:xfrm>
          <a:off x="0" y="1965568"/>
          <a:ext cx="5878286" cy="786093"/>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BFB47BF-0212-41BD-B8AD-A307585F6912}">
      <dsp:nvSpPr>
        <dsp:cNvPr id="0" name=""/>
        <dsp:cNvSpPr/>
      </dsp:nvSpPr>
      <dsp:spPr>
        <a:xfrm>
          <a:off x="237793" y="2142439"/>
          <a:ext cx="432351" cy="4323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E85366E-6B3B-4F00-9D48-3D906262C02F}">
      <dsp:nvSpPr>
        <dsp:cNvPr id="0" name=""/>
        <dsp:cNvSpPr/>
      </dsp:nvSpPr>
      <dsp:spPr>
        <a:xfrm>
          <a:off x="907937" y="1965568"/>
          <a:ext cx="4970348" cy="7860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195" tIns="83195" rIns="83195" bIns="83195" numCol="1" spcCol="1270" anchor="ctr" anchorCtr="0">
          <a:noAutofit/>
        </a:bodyPr>
        <a:lstStyle/>
        <a:p>
          <a:pPr marL="0" lvl="0" indent="0" algn="l" defTabSz="889000">
            <a:lnSpc>
              <a:spcPct val="90000"/>
            </a:lnSpc>
            <a:spcBef>
              <a:spcPct val="0"/>
            </a:spcBef>
            <a:spcAft>
              <a:spcPct val="35000"/>
            </a:spcAft>
            <a:buNone/>
          </a:pPr>
          <a:r>
            <a:rPr lang="en-GB" sz="2000" b="1" kern="1200" dirty="0"/>
            <a:t>Duration 30 minutes</a:t>
          </a:r>
          <a:br>
            <a:rPr lang="en-GB" sz="2000" b="1" kern="1200" dirty="0"/>
          </a:br>
          <a:r>
            <a:rPr lang="en-GB" sz="1800" b="0" kern="1200" dirty="0"/>
            <a:t>(Java code is provided)</a:t>
          </a:r>
          <a:endParaRPr lang="en-US" sz="2000" b="0" kern="1200" dirty="0"/>
        </a:p>
      </dsp:txBody>
      <dsp:txXfrm>
        <a:off x="907937" y="1965568"/>
        <a:ext cx="4970348" cy="78609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t>10/10/2022</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10/10/2022</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a:t>This module will enable the learner to write SQL to maintain database objects.</a:t>
            </a:r>
          </a:p>
          <a:p>
            <a:pPr lvl="0"/>
            <a:r>
              <a:rPr lang="en-GB" dirty="0"/>
              <a:t>Specifically the learner will be able to:</a:t>
            </a:r>
          </a:p>
          <a:p>
            <a:pPr lvl="1"/>
            <a:r>
              <a:rPr lang="en-GB" dirty="0"/>
              <a:t>Use CREATE, ALTER and DROP to maintain table including column, Primary and Foreign Key constraints.</a:t>
            </a:r>
          </a:p>
          <a:p>
            <a:pPr lvl="1"/>
            <a:r>
              <a:rPr lang="en-GB" dirty="0"/>
              <a:t>Use CREATE and DROP to maintain single column, multiple columns and unique indexes.</a:t>
            </a:r>
          </a:p>
          <a:p>
            <a:pPr lvl="1"/>
            <a:r>
              <a:rPr lang="en-GB" dirty="0"/>
              <a:t>Use CREATE, ALTER and DROP to  maintain views with and without the check option.</a:t>
            </a:r>
          </a:p>
          <a:p>
            <a:pPr lvl="1"/>
            <a:r>
              <a:rPr lang="en-GB" dirty="0"/>
              <a:t>Use SELECT, INSERT, UPDATE and DELETE to maintain records using a view.</a:t>
            </a:r>
          </a:p>
          <a:p>
            <a:pPr lvl="1"/>
            <a:r>
              <a:rPr lang="en-GB" dirty="0"/>
              <a:t>Use CREATE and DROP to maintain users and GRANT and REVOKE to maintain security options.</a:t>
            </a:r>
          </a:p>
          <a:p>
            <a:pPr lvl="0"/>
            <a:r>
              <a:rPr lang="en-GB" dirty="0"/>
              <a:t>Code examples will be used to explain and demonstrate the content and for leaners to imitate. Supporting exercises will provide practice opportunities. At the end of the module there is a short quiz to review the topic.</a:t>
            </a:r>
          </a:p>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2613327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193675" y="422275"/>
            <a:ext cx="7094538" cy="3990975"/>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dirty="0">
              <a:latin typeface="Arial" charset="0"/>
              <a:cs typeface="Arial" charset="0"/>
            </a:endParaRPr>
          </a:p>
        </p:txBody>
      </p:sp>
    </p:spTree>
    <p:extLst>
      <p:ext uri="{BB962C8B-B14F-4D97-AF65-F5344CB8AC3E}">
        <p14:creationId xmlns:p14="http://schemas.microsoft.com/office/powerpoint/2010/main" val="28052253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p:cNvSpPr>
            <a:spLocks noGrp="1" noRot="1" noChangeAspect="1" noTextEdit="1"/>
          </p:cNvSpPr>
          <p:nvPr>
            <p:ph type="sldImg"/>
          </p:nvPr>
        </p:nvSpPr>
        <p:spPr bwMode="auto">
          <a:xfrm>
            <a:off x="-193675" y="422275"/>
            <a:ext cx="7094538" cy="3990975"/>
          </a:xfrm>
          <a:noFill/>
          <a:ln>
            <a:solidFill>
              <a:srgbClr val="000000"/>
            </a:solidFill>
            <a:miter lim="800000"/>
            <a:headEnd/>
            <a:tailEnd/>
          </a:ln>
        </p:spPr>
      </p:sp>
      <p:sp>
        <p:nvSpPr>
          <p:cNvPr id="13315"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US">
              <a:latin typeface="Arial" charset="0"/>
              <a:cs typeface="Arial" charset="0"/>
            </a:endParaRPr>
          </a:p>
        </p:txBody>
      </p:sp>
    </p:spTree>
    <p:extLst>
      <p:ext uri="{BB962C8B-B14F-4D97-AF65-F5344CB8AC3E}">
        <p14:creationId xmlns:p14="http://schemas.microsoft.com/office/powerpoint/2010/main" val="3887936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4</a:t>
            </a:fld>
            <a:endParaRPr lang="en-US"/>
          </a:p>
        </p:txBody>
      </p:sp>
    </p:spTree>
    <p:extLst>
      <p:ext uri="{BB962C8B-B14F-4D97-AF65-F5344CB8AC3E}">
        <p14:creationId xmlns:p14="http://schemas.microsoft.com/office/powerpoint/2010/main" val="1691429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GB" dirty="0"/>
              <a:t>In the previous chapter we briefly covered</a:t>
            </a:r>
            <a:r>
              <a:rPr lang="en-GB" baseline="0" dirty="0"/>
              <a:t> the two methods of data access. The first object you will come across in the Connected or Disconnected database methods is the Connection object. We also discussed there are different types of Connection classes depending on the database used. For example, for MS-Sql database you will need a </a:t>
            </a:r>
            <a:r>
              <a:rPr lang="en-GB" baseline="0" dirty="0" err="1"/>
              <a:t>SqlConnection</a:t>
            </a:r>
            <a:r>
              <a:rPr lang="en-GB" baseline="0" dirty="0"/>
              <a:t> object, for Oracle </a:t>
            </a:r>
            <a:r>
              <a:rPr lang="en-GB" dirty="0"/>
              <a:t>a</a:t>
            </a:r>
            <a:r>
              <a:rPr lang="en-GB" baseline="0" dirty="0"/>
              <a:t>n </a:t>
            </a:r>
            <a:r>
              <a:rPr lang="en-GB" baseline="0" dirty="0" err="1"/>
              <a:t>OracleConnection</a:t>
            </a:r>
            <a:r>
              <a:rPr lang="en-GB" baseline="0" dirty="0"/>
              <a:t> object is instantiated and for MS-Access you will create an </a:t>
            </a:r>
            <a:r>
              <a:rPr lang="en-GB" baseline="0" dirty="0" err="1"/>
              <a:t>OleDbConnection</a:t>
            </a:r>
            <a:r>
              <a:rPr lang="en-GB" baseline="0" dirty="0"/>
              <a:t> object. The connection objects opens a connection to your data source and maintains the connection for execution of commands (seen later). It is your duty as a developer to open the connection only when needed and close it as soon as it no longer is required. Connections that are closed are commonly hibernated in a Connection Pool, ready for re-use. </a:t>
            </a:r>
          </a:p>
          <a:p>
            <a:r>
              <a:rPr lang="en-GB" baseline="0" dirty="0"/>
              <a:t>Use the connection object’s Open() method to open the connection and the Close() method to close it.</a:t>
            </a:r>
          </a:p>
          <a:p>
            <a:r>
              <a:rPr lang="en-GB" baseline="0" dirty="0"/>
              <a:t>To open a connection, certain amount of textual information has to be supplied to the Open() method. The information will include the database server, the provider you intend to use, the security model you wish to employ, the user name and password if Windows authentication is not used, pooling options etc.</a:t>
            </a:r>
          </a:p>
          <a:p>
            <a:r>
              <a:rPr lang="en-GB" baseline="0" dirty="0"/>
              <a:t>Visual studio will greatly assist you in constructing the required connection string but if you have a peculiar database type, please search the www.ConnectionStrings.com site for more information or contact the database vendor.</a:t>
            </a:r>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5</a:t>
            </a:fld>
            <a:endParaRPr lang="en-US"/>
          </a:p>
        </p:txBody>
      </p:sp>
    </p:spTree>
    <p:extLst>
      <p:ext uri="{BB962C8B-B14F-4D97-AF65-F5344CB8AC3E}">
        <p14:creationId xmlns:p14="http://schemas.microsoft.com/office/powerpoint/2010/main" val="41813452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The slides shows how to hard code the connection string. </a:t>
            </a:r>
          </a:p>
          <a:p>
            <a:r>
              <a:rPr lang="en-GB" b="1" dirty="0">
                <a:latin typeface="Courier New" pitchFamily="49" charset="0"/>
                <a:cs typeface="Courier New" pitchFamily="49" charset="0"/>
              </a:rPr>
              <a:t>using  </a:t>
            </a:r>
            <a:r>
              <a:rPr lang="en-GB" b="1" dirty="0" err="1">
                <a:latin typeface="Courier New" pitchFamily="49" charset="0"/>
                <a:cs typeface="Courier New" pitchFamily="49" charset="0"/>
              </a:rPr>
              <a:t>System.Data.SqlClient</a:t>
            </a:r>
            <a:r>
              <a:rPr lang="en-GB" b="1" dirty="0">
                <a:latin typeface="Courier New" pitchFamily="49" charset="0"/>
                <a:cs typeface="Courier New" pitchFamily="49" charset="0"/>
              </a:rPr>
              <a:t>;</a:t>
            </a:r>
          </a:p>
          <a:p>
            <a:r>
              <a:rPr lang="en-GB" b="1" dirty="0" err="1">
                <a:latin typeface="Courier New" pitchFamily="49" charset="0"/>
                <a:cs typeface="Courier New" pitchFamily="49" charset="0"/>
              </a:rPr>
              <a:t>SqlConnection</a:t>
            </a:r>
            <a:r>
              <a:rPr lang="en-GB" b="1" dirty="0">
                <a:latin typeface="Courier New" pitchFamily="49" charset="0"/>
                <a:cs typeface="Courier New" pitchFamily="49" charset="0"/>
              </a:rPr>
              <a:t> </a:t>
            </a:r>
            <a:r>
              <a:rPr lang="en-GB" b="1" dirty="0" err="1">
                <a:latin typeface="Courier New" pitchFamily="49" charset="0"/>
                <a:cs typeface="Courier New" pitchFamily="49" charset="0"/>
              </a:rPr>
              <a:t>Cn</a:t>
            </a:r>
            <a:r>
              <a:rPr lang="en-GB" b="1" dirty="0">
                <a:latin typeface="Courier New" pitchFamily="49" charset="0"/>
                <a:cs typeface="Courier New" pitchFamily="49" charset="0"/>
              </a:rPr>
              <a:t> = new </a:t>
            </a:r>
            <a:r>
              <a:rPr lang="en-GB" b="1" dirty="0" err="1">
                <a:latin typeface="Courier New" pitchFamily="49" charset="0"/>
                <a:cs typeface="Courier New" pitchFamily="49" charset="0"/>
              </a:rPr>
              <a:t>SqlConnection</a:t>
            </a:r>
            <a:r>
              <a:rPr lang="en-GB" sz="1000" b="1" dirty="0">
                <a:latin typeface="Courier New" pitchFamily="49" charset="0"/>
                <a:cs typeface="Courier New" pitchFamily="49" charset="0"/>
              </a:rPr>
              <a:t>(</a:t>
            </a:r>
            <a:r>
              <a:rPr lang="en-GB" sz="1000" b="1" dirty="0">
                <a:solidFill>
                  <a:srgbClr val="A31515"/>
                </a:solidFill>
                <a:latin typeface="Courier New" pitchFamily="49" charset="0"/>
                <a:cs typeface="Courier New" pitchFamily="49" charset="0"/>
              </a:rPr>
              <a:t>@"Data Source=.;Initial </a:t>
            </a:r>
            <a:r>
              <a:rPr lang="en-GB" sz="1000" b="1" dirty="0" err="1">
                <a:solidFill>
                  <a:srgbClr val="A31515"/>
                </a:solidFill>
                <a:latin typeface="Courier New" pitchFamily="49" charset="0"/>
                <a:cs typeface="Courier New" pitchFamily="49" charset="0"/>
              </a:rPr>
              <a:t>Catalog</a:t>
            </a:r>
            <a:r>
              <a:rPr lang="en-GB" sz="1000" b="1" dirty="0">
                <a:solidFill>
                  <a:srgbClr val="A31515"/>
                </a:solidFill>
                <a:latin typeface="Courier New" pitchFamily="49" charset="0"/>
                <a:cs typeface="Courier New" pitchFamily="49" charset="0"/>
              </a:rPr>
              <a:t>=Northwind2000;Integr..."</a:t>
            </a:r>
            <a:r>
              <a:rPr lang="en-GB" sz="1000" b="1" dirty="0">
                <a:latin typeface="Courier New" pitchFamily="49" charset="0"/>
                <a:cs typeface="Courier New" pitchFamily="49" charset="0"/>
              </a:rPr>
              <a:t>);</a:t>
            </a:r>
            <a:br>
              <a:rPr lang="en-GB" sz="1000" b="1" dirty="0">
                <a:latin typeface="Courier New" pitchFamily="49" charset="0"/>
                <a:cs typeface="Courier New" pitchFamily="49" charset="0"/>
              </a:rPr>
            </a:br>
            <a:endParaRPr lang="en-GB" b="0" dirty="0">
              <a:latin typeface="Courier New" pitchFamily="49" charset="0"/>
              <a:cs typeface="Courier New" pitchFamily="49" charset="0"/>
            </a:endParaRPr>
          </a:p>
          <a:p>
            <a:r>
              <a:rPr lang="en-GB" b="0" dirty="0"/>
              <a:t>The above code will work for now but the chances are the </a:t>
            </a:r>
            <a:r>
              <a:rPr lang="en-GB" b="0" dirty="0" err="1"/>
              <a:t>DataSource</a:t>
            </a:r>
            <a:r>
              <a:rPr lang="en-GB" b="0" dirty="0"/>
              <a:t> and other items in the connection string will change when you install</a:t>
            </a:r>
            <a:r>
              <a:rPr lang="en-GB" b="0" baseline="0" dirty="0"/>
              <a:t> the code in a staging server and eventually on the client site. At each deployment stage you will have to search and replace every connection string. If you do, you will have to compile and test your code again! </a:t>
            </a:r>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6</a:t>
            </a:fld>
            <a:endParaRPr lang="en-US" dirty="0"/>
          </a:p>
        </p:txBody>
      </p:sp>
    </p:spTree>
    <p:extLst>
      <p:ext uri="{BB962C8B-B14F-4D97-AF65-F5344CB8AC3E}">
        <p14:creationId xmlns:p14="http://schemas.microsoft.com/office/powerpoint/2010/main" val="27368497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GB" dirty="0"/>
              <a:t>After creating a connection,</a:t>
            </a:r>
            <a:r>
              <a:rPr lang="en-GB" baseline="0" dirty="0"/>
              <a:t> the next step is to execute a command to fetch data, </a:t>
            </a:r>
            <a:r>
              <a:rPr lang="en-GB" dirty="0"/>
              <a:t>u</a:t>
            </a:r>
            <a:r>
              <a:rPr lang="en-GB" baseline="0" dirty="0"/>
              <a:t>pdate, </a:t>
            </a:r>
            <a:r>
              <a:rPr lang="en-GB" dirty="0"/>
              <a:t>delete, insert, </a:t>
            </a:r>
            <a:r>
              <a:rPr lang="en-GB" baseline="0" dirty="0"/>
              <a:t>run stored procedures or even execute DML queries. You will use the framework’s Command object for these tasks. As we discussed before every database type has its own specialised Command class. For example MS-SQL’s command class is called </a:t>
            </a:r>
            <a:r>
              <a:rPr lang="en-GB" baseline="0" dirty="0" err="1"/>
              <a:t>SqlCommand</a:t>
            </a:r>
            <a:r>
              <a:rPr lang="en-GB" baseline="0" dirty="0"/>
              <a:t>.</a:t>
            </a:r>
          </a:p>
          <a:p>
            <a:r>
              <a:rPr lang="en-GB" baseline="0" dirty="0"/>
              <a:t>Depending on the nature of the work assigned to a Command object, you will need different specialised execute methods.</a:t>
            </a:r>
            <a:br>
              <a:rPr lang="en-GB" baseline="0" dirty="0"/>
            </a:br>
            <a:endParaRPr lang="en-GB" baseline="0" dirty="0"/>
          </a:p>
          <a:p>
            <a:pPr marL="280692" lvl="1" indent="-336831">
              <a:spcAft>
                <a:spcPts val="1179"/>
              </a:spcAft>
              <a:buFont typeface="Wingdings 3" pitchFamily="18" charset="2"/>
              <a:buChar char="}"/>
            </a:pPr>
            <a:r>
              <a:rPr lang="en-GB" b="1" dirty="0" err="1">
                <a:solidFill>
                  <a:srgbClr val="333399"/>
                </a:solidFill>
                <a:latin typeface="Courier New" pitchFamily="49" charset="0"/>
                <a:cs typeface="Courier New" pitchFamily="49" charset="0"/>
              </a:rPr>
              <a:t>ExecuteReader</a:t>
            </a:r>
            <a:r>
              <a:rPr lang="en-GB" b="1" dirty="0">
                <a:solidFill>
                  <a:srgbClr val="333399"/>
                </a:solidFill>
                <a:latin typeface="Courier New" pitchFamily="49" charset="0"/>
                <a:cs typeface="Courier New" pitchFamily="49" charset="0"/>
              </a:rPr>
              <a:t>( )</a:t>
            </a:r>
            <a:r>
              <a:rPr lang="en-GB" dirty="0"/>
              <a:t>	To  read the result of a query. This method </a:t>
            </a:r>
            <a:r>
              <a:rPr lang="en-GB" baseline="0" dirty="0"/>
              <a:t>returns a DataReader that references the</a:t>
            </a:r>
            <a:r>
              <a:rPr lang="en-GB" dirty="0"/>
              <a:t> </a:t>
            </a:r>
            <a:r>
              <a:rPr lang="en-GB" baseline="0" dirty="0" err="1"/>
              <a:t>resultset</a:t>
            </a:r>
            <a:r>
              <a:rPr lang="en-GB" baseline="0" dirty="0"/>
              <a:t>.</a:t>
            </a:r>
            <a:endParaRPr lang="en-GB" dirty="0"/>
          </a:p>
          <a:p>
            <a:pPr marL="280692" lvl="1" indent="-336831">
              <a:spcAft>
                <a:spcPts val="1179"/>
              </a:spcAft>
              <a:buFont typeface="Wingdings 3" pitchFamily="18" charset="2"/>
              <a:buChar char="}"/>
            </a:pPr>
            <a:r>
              <a:rPr lang="en-GB" b="1" dirty="0" err="1">
                <a:solidFill>
                  <a:srgbClr val="333399"/>
                </a:solidFill>
                <a:latin typeface="Courier New" pitchFamily="49" charset="0"/>
                <a:cs typeface="Courier New" pitchFamily="49" charset="0"/>
              </a:rPr>
              <a:t>ExecuteScalar</a:t>
            </a:r>
            <a:r>
              <a:rPr lang="en-GB" b="1" dirty="0">
                <a:solidFill>
                  <a:srgbClr val="333399"/>
                </a:solidFill>
                <a:latin typeface="Courier New" pitchFamily="49" charset="0"/>
                <a:cs typeface="Courier New" pitchFamily="49" charset="0"/>
              </a:rPr>
              <a:t>( )</a:t>
            </a:r>
            <a:r>
              <a:rPr lang="en-GB" dirty="0"/>
              <a:t>	To read a single scalar value back. This method</a:t>
            </a:r>
            <a:r>
              <a:rPr lang="en-GB" baseline="0" dirty="0"/>
              <a:t> returns an object that you will have to cast to an appropriate type. For example:</a:t>
            </a:r>
            <a:r>
              <a:rPr lang="en-GB" dirty="0"/>
              <a:t>   </a:t>
            </a:r>
            <a:r>
              <a:rPr lang="en-GB" baseline="0" dirty="0"/>
              <a:t>SELECT count(*) from customers;  </a:t>
            </a:r>
            <a:br>
              <a:rPr lang="en-GB" baseline="0" dirty="0"/>
            </a:br>
            <a:r>
              <a:rPr lang="en-GB" baseline="0" dirty="0"/>
              <a:t>returns an integer.</a:t>
            </a:r>
            <a:endParaRPr lang="en-GB" dirty="0"/>
          </a:p>
          <a:p>
            <a:pPr marL="280692" lvl="1" indent="-336831">
              <a:spcAft>
                <a:spcPts val="1179"/>
              </a:spcAft>
              <a:buFont typeface="Wingdings 3" pitchFamily="18" charset="2"/>
              <a:buChar char="}"/>
            </a:pPr>
            <a:r>
              <a:rPr lang="en-GB" b="1" dirty="0" err="1">
                <a:solidFill>
                  <a:srgbClr val="333399"/>
                </a:solidFill>
                <a:latin typeface="Courier New" pitchFamily="49" charset="0"/>
                <a:cs typeface="Courier New" pitchFamily="49" charset="0"/>
              </a:rPr>
              <a:t>ExecuteNonQuery</a:t>
            </a:r>
            <a:r>
              <a:rPr lang="en-GB" b="1" dirty="0">
                <a:solidFill>
                  <a:srgbClr val="333399"/>
                </a:solidFill>
                <a:latin typeface="Courier New" pitchFamily="49" charset="0"/>
                <a:cs typeface="Courier New" pitchFamily="49" charset="0"/>
              </a:rPr>
              <a:t>( )  </a:t>
            </a:r>
            <a:r>
              <a:rPr lang="en-GB" dirty="0"/>
              <a:t>To update a database</a:t>
            </a:r>
            <a:br>
              <a:rPr lang="en-GB" dirty="0"/>
            </a:br>
            <a:r>
              <a:rPr lang="en-GB" dirty="0"/>
              <a:t>Use this method when your</a:t>
            </a:r>
            <a:r>
              <a:rPr lang="en-GB" baseline="0" dirty="0"/>
              <a:t> query updates a database. By update we</a:t>
            </a:r>
            <a:r>
              <a:rPr lang="en-GB" dirty="0"/>
              <a:t> </a:t>
            </a:r>
            <a:r>
              <a:rPr lang="en-GB" baseline="0" dirty="0"/>
              <a:t>mean, insert, delete or update records. This method returns an integer that indicates the number of rows affected. So, if a zero is returned, the chances are your query did not do anything!</a:t>
            </a:r>
            <a:endParaRPr lang="en-GB" dirty="0"/>
          </a:p>
          <a:p>
            <a:pPr marL="280692" lvl="1" indent="-336831">
              <a:spcAft>
                <a:spcPts val="1179"/>
              </a:spcAft>
              <a:buFont typeface="Wingdings 3" pitchFamily="18" charset="2"/>
              <a:buChar char="}"/>
            </a:pPr>
            <a:r>
              <a:rPr lang="en-GB" b="1" dirty="0" err="1">
                <a:solidFill>
                  <a:srgbClr val="333399"/>
                </a:solidFill>
                <a:latin typeface="Courier New" pitchFamily="49" charset="0"/>
                <a:cs typeface="Courier New" pitchFamily="49" charset="0"/>
              </a:rPr>
              <a:t>ExecuteXmlReader</a:t>
            </a:r>
            <a:r>
              <a:rPr lang="en-GB" b="1" dirty="0">
                <a:solidFill>
                  <a:srgbClr val="333399"/>
                </a:solidFill>
                <a:latin typeface="Courier New" pitchFamily="49" charset="0"/>
                <a:cs typeface="Courier New" pitchFamily="49" charset="0"/>
              </a:rPr>
              <a:t>( )  </a:t>
            </a:r>
            <a:r>
              <a:rPr lang="en-GB" dirty="0"/>
              <a:t>To read result of a query which returns XML (see T-</a:t>
            </a:r>
            <a:r>
              <a:rPr lang="en-GB" dirty="0" err="1"/>
              <a:t>Sql’s</a:t>
            </a:r>
            <a:r>
              <a:rPr lang="en-GB" dirty="0"/>
              <a:t> select statements with “for xml” clause). This method returns</a:t>
            </a:r>
            <a:r>
              <a:rPr lang="en-GB" baseline="0" dirty="0"/>
              <a:t> a DataReader that references the returned data row/s. </a:t>
            </a:r>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7</a:t>
            </a:fld>
            <a:endParaRPr lang="en-US"/>
          </a:p>
        </p:txBody>
      </p:sp>
    </p:spTree>
    <p:extLst>
      <p:ext uri="{BB962C8B-B14F-4D97-AF65-F5344CB8AC3E}">
        <p14:creationId xmlns:p14="http://schemas.microsoft.com/office/powerpoint/2010/main" val="2907062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GB" dirty="0"/>
              <a:t>To</a:t>
            </a:r>
            <a:r>
              <a:rPr lang="en-GB" baseline="0" dirty="0"/>
              <a:t> read data from a textual query or a stored procedure that returns data, execute the </a:t>
            </a:r>
            <a:r>
              <a:rPr lang="en-GB" baseline="0" dirty="0" err="1"/>
              <a:t>ExecuteRedaer</a:t>
            </a:r>
            <a:r>
              <a:rPr lang="en-GB" baseline="0" dirty="0"/>
              <a:t>() method of a Command object. This method return a data reader that can reference the result of any query or stored procedure that returns row/s of data.</a:t>
            </a:r>
          </a:p>
          <a:p>
            <a:r>
              <a:rPr lang="en-GB" baseline="0" dirty="0"/>
              <a:t>It is important to realise when the command is executed, no data is actually returned until the Read() method of the data reader is invoked. The Read() method returns false if no more rows are left to read.</a:t>
            </a:r>
          </a:p>
          <a:p>
            <a:endParaRPr lang="en-GB" b="1" baseline="0" dirty="0"/>
          </a:p>
          <a:p>
            <a:r>
              <a:rPr lang="en-GB" b="1" baseline="0" dirty="0"/>
              <a:t>How to read the columns?</a:t>
            </a:r>
          </a:p>
          <a:p>
            <a:r>
              <a:rPr lang="en-GB" baseline="0" dirty="0"/>
              <a:t>To access a column, examine </a:t>
            </a:r>
            <a:r>
              <a:rPr lang="en-GB" baseline="0" dirty="0" err="1"/>
              <a:t>DataReader</a:t>
            </a:r>
            <a:r>
              <a:rPr lang="en-GB" baseline="0" dirty="0"/>
              <a:t> objects using either numeric indexes or column names. Obviously using numbers yields a better performance than using string key names but, using key names is safer. If you execute a query such as “SELECET </a:t>
            </a:r>
            <a:r>
              <a:rPr lang="en-GB" baseline="0" dirty="0" err="1"/>
              <a:t>fname</a:t>
            </a:r>
            <a:r>
              <a:rPr lang="en-GB" baseline="0" dirty="0"/>
              <a:t>, </a:t>
            </a:r>
            <a:r>
              <a:rPr lang="en-GB" baseline="0" dirty="0" err="1"/>
              <a:t>lname</a:t>
            </a:r>
            <a:r>
              <a:rPr lang="en-GB" baseline="0" dirty="0"/>
              <a:t> FROM customers” there is no point using column names because index 0 refers to the </a:t>
            </a:r>
            <a:r>
              <a:rPr lang="en-GB" baseline="0" dirty="0" err="1"/>
              <a:t>fname</a:t>
            </a:r>
            <a:r>
              <a:rPr lang="en-GB" baseline="0" dirty="0"/>
              <a:t> column and index of 1 refers to </a:t>
            </a:r>
            <a:r>
              <a:rPr lang="en-GB" baseline="0" dirty="0" err="1"/>
              <a:t>lname</a:t>
            </a:r>
            <a:r>
              <a:rPr lang="en-GB" baseline="0" dirty="0"/>
              <a:t>.</a:t>
            </a:r>
          </a:p>
          <a:p>
            <a:endParaRPr lang="en-GB" dirty="0"/>
          </a:p>
          <a:p>
            <a:r>
              <a:rPr lang="en-GB" b="1" dirty="0"/>
              <a:t>A note on Connection object</a:t>
            </a:r>
          </a:p>
          <a:p>
            <a:r>
              <a:rPr lang="en-GB" dirty="0"/>
              <a:t>Reference to the slide code, please note the connection object is opened just before executing the command and immediately  closed after all the rows are read. In other words, it is opened as late as possible and closed as soon as it is no longer needed.</a:t>
            </a:r>
          </a:p>
          <a:p>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8</a:t>
            </a:fld>
            <a:endParaRPr lang="en-US"/>
          </a:p>
        </p:txBody>
      </p:sp>
    </p:spTree>
    <p:extLst>
      <p:ext uri="{BB962C8B-B14F-4D97-AF65-F5344CB8AC3E}">
        <p14:creationId xmlns:p14="http://schemas.microsoft.com/office/powerpoint/2010/main" val="24539862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GB" dirty="0"/>
              <a:t>Use a Command object to update records in a table. </a:t>
            </a:r>
          </a:p>
          <a:p>
            <a:r>
              <a:rPr lang="en-GB" dirty="0"/>
              <a:t>The code example on this slide demonstrates an SQL update statement but as we will see later in this chapter, a stored procedure can also be used.</a:t>
            </a:r>
          </a:p>
          <a:p>
            <a:r>
              <a:rPr lang="en-GB" dirty="0"/>
              <a:t>Because no rows are returned, the command objects </a:t>
            </a:r>
            <a:r>
              <a:rPr lang="en-GB" dirty="0" err="1"/>
              <a:t>ExecuteNonQuery</a:t>
            </a:r>
            <a:r>
              <a:rPr lang="en-GB" dirty="0"/>
              <a:t>() method is used. This method returns a number indicating the number of rows affected.</a:t>
            </a:r>
          </a:p>
          <a:p>
            <a:r>
              <a:rPr lang="en-GB" dirty="0"/>
              <a:t>Just as we seen before, the connection object is opened just before the execution of the command and closed just afterward.</a:t>
            </a:r>
          </a:p>
          <a:p>
            <a:endParaRPr lang="en-GB" dirty="0"/>
          </a:p>
          <a:p>
            <a:r>
              <a:rPr lang="en-GB" dirty="0"/>
              <a:t>Please note, as with all IO operations and specially the ones that writes to a data source, exceptions must be caught or handled. Due to the limitation of slide it is not possible to demonstrate the exception handling code such as:</a:t>
            </a:r>
          </a:p>
          <a:p>
            <a:br>
              <a:rPr lang="en-GB" dirty="0"/>
            </a:br>
            <a:r>
              <a:rPr lang="en-GB" b="1" dirty="0" err="1">
                <a:latin typeface="Courier New" pitchFamily="49" charset="0"/>
              </a:rPr>
              <a:t>SqlConnection</a:t>
            </a:r>
            <a:r>
              <a:rPr lang="en-GB" b="1" dirty="0">
                <a:latin typeface="Courier New" pitchFamily="49" charset="0"/>
              </a:rPr>
              <a:t> con = null;</a:t>
            </a:r>
          </a:p>
          <a:p>
            <a:r>
              <a:rPr lang="en-GB" b="1" dirty="0">
                <a:latin typeface="Courier New" pitchFamily="49" charset="0"/>
              </a:rPr>
              <a:t>try {</a:t>
            </a:r>
          </a:p>
          <a:p>
            <a:r>
              <a:rPr lang="en-GB" b="1" dirty="0">
                <a:latin typeface="Courier New" pitchFamily="49" charset="0"/>
              </a:rPr>
              <a:t>    con = new </a:t>
            </a:r>
            <a:r>
              <a:rPr lang="en-GB" b="1" dirty="0" err="1">
                <a:latin typeface="Courier New" pitchFamily="49" charset="0"/>
              </a:rPr>
              <a:t>SqlConnection</a:t>
            </a:r>
            <a:r>
              <a:rPr lang="en-GB" b="1" dirty="0">
                <a:latin typeface="Courier New" pitchFamily="49" charset="0"/>
              </a:rPr>
              <a:t>("</a:t>
            </a:r>
            <a:r>
              <a:rPr lang="en-GB" b="1" dirty="0" err="1">
                <a:latin typeface="Courier New" pitchFamily="49" charset="0"/>
              </a:rPr>
              <a:t>xxxxx</a:t>
            </a:r>
            <a:r>
              <a:rPr lang="en-GB" b="1" dirty="0">
                <a:latin typeface="Courier New" pitchFamily="49" charset="0"/>
              </a:rPr>
              <a:t>");</a:t>
            </a:r>
          </a:p>
          <a:p>
            <a:r>
              <a:rPr lang="en-GB" b="1" dirty="0">
                <a:latin typeface="Courier New" pitchFamily="49" charset="0"/>
              </a:rPr>
              <a:t>    // create and execute commands</a:t>
            </a:r>
          </a:p>
          <a:p>
            <a:r>
              <a:rPr lang="en-GB" b="1" dirty="0">
                <a:latin typeface="Courier New" pitchFamily="49" charset="0"/>
              </a:rPr>
              <a:t>}</a:t>
            </a:r>
          </a:p>
          <a:p>
            <a:r>
              <a:rPr lang="en-GB" b="1" dirty="0">
                <a:latin typeface="Courier New" pitchFamily="49" charset="0"/>
              </a:rPr>
              <a:t>catch (Exception ex) {</a:t>
            </a:r>
          </a:p>
          <a:p>
            <a:r>
              <a:rPr lang="en-GB" b="1" dirty="0">
                <a:latin typeface="Courier New" pitchFamily="49" charset="0"/>
              </a:rPr>
              <a:t>    // Handel the exception</a:t>
            </a:r>
          </a:p>
          <a:p>
            <a:r>
              <a:rPr lang="en-GB" b="1" dirty="0">
                <a:latin typeface="Courier New" pitchFamily="49" charset="0"/>
              </a:rPr>
              <a:t>}</a:t>
            </a:r>
          </a:p>
          <a:p>
            <a:r>
              <a:rPr lang="en-GB" b="1" dirty="0">
                <a:latin typeface="Courier New" pitchFamily="49" charset="0"/>
              </a:rPr>
              <a:t>finally {</a:t>
            </a:r>
          </a:p>
          <a:p>
            <a:r>
              <a:rPr lang="en-GB" b="1" dirty="0">
                <a:latin typeface="Courier New" pitchFamily="49" charset="0"/>
              </a:rPr>
              <a:t>    if (con != null) </a:t>
            </a:r>
            <a:r>
              <a:rPr lang="en-GB" b="1" dirty="0" err="1">
                <a:latin typeface="Courier New" pitchFamily="49" charset="0"/>
              </a:rPr>
              <a:t>con.Close</a:t>
            </a:r>
            <a:r>
              <a:rPr lang="en-GB" b="1" dirty="0">
                <a:latin typeface="Courier New" pitchFamily="49" charset="0"/>
              </a:rPr>
              <a:t>();</a:t>
            </a:r>
          </a:p>
          <a:p>
            <a:r>
              <a:rPr lang="en-GB" b="1" dirty="0">
                <a:latin typeface="Courier New" pitchFamily="49" charset="0"/>
              </a:rPr>
              <a:t>}</a:t>
            </a:r>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9</a:t>
            </a:fld>
            <a:endParaRPr lang="en-US"/>
          </a:p>
        </p:txBody>
      </p:sp>
    </p:spTree>
    <p:extLst>
      <p:ext uri="{BB962C8B-B14F-4D97-AF65-F5344CB8AC3E}">
        <p14:creationId xmlns:p14="http://schemas.microsoft.com/office/powerpoint/2010/main" val="1127899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Use a Command object to insert records into a table. </a:t>
            </a:r>
          </a:p>
          <a:p>
            <a:r>
              <a:rPr lang="en-GB" dirty="0"/>
              <a:t>The code example on this slide demonstrates an SQL insert statement but as we will see later in this chapter, a stored procedure can also be used to increase efficiency and security.</a:t>
            </a:r>
          </a:p>
          <a:p>
            <a:r>
              <a:rPr lang="en-GB" dirty="0"/>
              <a:t>Because no rows are returned, again the command objects </a:t>
            </a:r>
            <a:r>
              <a:rPr lang="en-GB" dirty="0" err="1"/>
              <a:t>ExecuteNonQuery</a:t>
            </a:r>
            <a:r>
              <a:rPr lang="en-GB" dirty="0"/>
              <a:t>() method is used. This method returns a number indicating the number of rows inserted.</a:t>
            </a:r>
          </a:p>
          <a:p>
            <a:r>
              <a:rPr lang="en-GB" dirty="0"/>
              <a:t>Just as before the connection object is opened just before the execution of the command and closed immediately after.</a:t>
            </a:r>
          </a:p>
          <a:p>
            <a:endParaRPr lang="en-GB" dirty="0"/>
          </a:p>
          <a:p>
            <a:r>
              <a:rPr lang="en-GB" dirty="0"/>
              <a:t>Please note, as with all </a:t>
            </a:r>
            <a:r>
              <a:rPr lang="en-GB" i="1" dirty="0"/>
              <a:t>IO </a:t>
            </a:r>
            <a:r>
              <a:rPr lang="en-GB" dirty="0"/>
              <a:t>operations and specially the ones that writes to a data source, exceptions must be caught or handled.</a:t>
            </a:r>
          </a:p>
          <a:p>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10</a:t>
            </a:fld>
            <a:endParaRPr lang="en-US"/>
          </a:p>
        </p:txBody>
      </p:sp>
    </p:spTree>
    <p:extLst>
      <p:ext uri="{BB962C8B-B14F-4D97-AF65-F5344CB8AC3E}">
        <p14:creationId xmlns:p14="http://schemas.microsoft.com/office/powerpoint/2010/main" val="2057206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Use a Command object to delete row/s from a table. </a:t>
            </a:r>
          </a:p>
          <a:p>
            <a:r>
              <a:rPr lang="en-GB" dirty="0"/>
              <a:t>The code example on this slide demonstrates an SQL delete statement but you can equally use a stored procedure (seen later).</a:t>
            </a:r>
          </a:p>
          <a:p>
            <a:r>
              <a:rPr lang="en-GB" dirty="0"/>
              <a:t>Because no rows are returned, the command object’s </a:t>
            </a:r>
            <a:r>
              <a:rPr lang="en-GB" dirty="0" err="1"/>
              <a:t>ExecuteNonQuery</a:t>
            </a:r>
            <a:r>
              <a:rPr lang="en-GB" dirty="0"/>
              <a:t>() method is used. This method returns a number indicating rows deleted.</a:t>
            </a:r>
          </a:p>
          <a:p>
            <a:r>
              <a:rPr lang="en-GB" dirty="0"/>
              <a:t>Please note, the connection object is opened just before the execution of the command and closed just afterward. Open connection as late as possible  and close  them as soon as possible.</a:t>
            </a:r>
          </a:p>
          <a:p>
            <a:endParaRPr lang="en-GB" dirty="0"/>
          </a:p>
          <a:p>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11</a:t>
            </a:fld>
            <a:endParaRPr lang="en-US"/>
          </a:p>
        </p:txBody>
      </p:sp>
    </p:spTree>
    <p:extLst>
      <p:ext uri="{BB962C8B-B14F-4D97-AF65-F5344CB8AC3E}">
        <p14:creationId xmlns:p14="http://schemas.microsoft.com/office/powerpoint/2010/main" val="154798588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GB" dirty="0"/>
              <a:t>Use a Command object to execute a </a:t>
            </a:r>
            <a:r>
              <a:rPr lang="en-GB" dirty="0" err="1"/>
              <a:t>Scaler</a:t>
            </a:r>
            <a:r>
              <a:rPr lang="en-GB" dirty="0"/>
              <a:t> function. </a:t>
            </a:r>
          </a:p>
          <a:p>
            <a:r>
              <a:rPr lang="en-GB" dirty="0"/>
              <a:t>The code example on this slide demonstrates an SQL Select statement that counts</a:t>
            </a:r>
            <a:r>
              <a:rPr lang="en-GB" baseline="0" dirty="0"/>
              <a:t> the number of customers in the Customers table.</a:t>
            </a:r>
          </a:p>
          <a:p>
            <a:r>
              <a:rPr lang="en-GB" baseline="0" dirty="0"/>
              <a:t>This method returns an Object type which must be cast to the type you would expect.</a:t>
            </a:r>
            <a:endParaRPr lang="en-GB" dirty="0"/>
          </a:p>
          <a:p>
            <a:endParaRPr lang="en-GB" dirty="0"/>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12</a:t>
            </a:fld>
            <a:endParaRPr lang="en-US"/>
          </a:p>
        </p:txBody>
      </p:sp>
    </p:spTree>
    <p:extLst>
      <p:ext uri="{BB962C8B-B14F-4D97-AF65-F5344CB8AC3E}">
        <p14:creationId xmlns:p14="http://schemas.microsoft.com/office/powerpoint/2010/main" val="937023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a:xfrm>
            <a:off x="3769797" y="9240892"/>
            <a:ext cx="2878584" cy="486446"/>
          </a:xfrm>
          <a:prstGeom prst="rect">
            <a:avLst/>
          </a:prstGeom>
        </p:spPr>
        <p:txBody>
          <a:bodyPr/>
          <a:lstStyle/>
          <a:p>
            <a:fld id="{DE6C85E1-D451-48DF-864D-F69891B91C11}" type="slidenum">
              <a:rPr lang="en-US" smtClean="0"/>
              <a:pPr/>
              <a:t>13</a:t>
            </a:fld>
            <a:endParaRPr lang="en-US"/>
          </a:p>
        </p:txBody>
      </p:sp>
    </p:spTree>
    <p:extLst>
      <p:ext uri="{BB962C8B-B14F-4D97-AF65-F5344CB8AC3E}">
        <p14:creationId xmlns:p14="http://schemas.microsoft.com/office/powerpoint/2010/main" val="1240680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Please see your Exercise Guide for full instructions.</a:t>
            </a:r>
          </a:p>
          <a:p>
            <a:r>
              <a:rPr lang="en-GB" dirty="0"/>
              <a:t>Work individually or in pairs; your choice.</a:t>
            </a:r>
          </a:p>
          <a:p>
            <a:r>
              <a:rPr lang="en-GB" dirty="0"/>
              <a:t>The exercise should take about 15 minutes.</a:t>
            </a:r>
          </a:p>
          <a:p>
            <a:r>
              <a:rPr lang="en-GB" dirty="0"/>
              <a:t>Solutions are provided in the Exercise Guide for reference.</a:t>
            </a:r>
          </a:p>
          <a:p>
            <a:endParaRPr lang="en-GB" dirty="0"/>
          </a:p>
        </p:txBody>
      </p:sp>
      <p:sp>
        <p:nvSpPr>
          <p:cNvPr id="4" name="Slide Number Placeholder 3"/>
          <p:cNvSpPr>
            <a:spLocks noGrp="1"/>
          </p:cNvSpPr>
          <p:nvPr>
            <p:ph type="sldNum" sz="quarter" idx="10"/>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104250974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2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426935730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8D237"/>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316282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3_Text Slide - With side bar C1">
    <p:spTree>
      <p:nvGrpSpPr>
        <p:cNvPr id="1" name=""/>
        <p:cNvGrpSpPr/>
        <p:nvPr/>
      </p:nvGrpSpPr>
      <p:grpSpPr>
        <a:xfrm>
          <a:off x="0" y="0"/>
          <a:ext cx="0" cy="0"/>
          <a:chOff x="0" y="0"/>
          <a:chExt cx="0" cy="0"/>
        </a:xfrm>
      </p:grpSpPr>
      <p:sp>
        <p:nvSpPr>
          <p:cNvPr id="6" name="Rectangle 5"/>
          <p:cNvSpPr/>
          <p:nvPr userDrawn="1"/>
        </p:nvSpPr>
        <p:spPr>
          <a:xfrm>
            <a:off x="-3047" y="-3252"/>
            <a:ext cx="4070352" cy="6858000"/>
          </a:xfrm>
          <a:prstGeom prst="rect">
            <a:avLst/>
          </a:prstGeom>
          <a:solidFill>
            <a:srgbClr val="F8D2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accent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chemeClr val="accent1"/>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chemeClr val="accent1"/>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chemeClr val="accent1"/>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237821952"/>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6_03 Section Divider">
    <p:bg>
      <p:bgPr>
        <a:solidFill>
          <a:srgbClr val="F8D237"/>
        </a:solidFill>
        <a:effectLst/>
      </p:bgPr>
    </p:bg>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accent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chemeClr val="accent1"/>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chemeClr val="accent1"/>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chemeClr val="accent1"/>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308624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4_Activity 1">
    <p:bg>
      <p:bgPr>
        <a:solidFill>
          <a:srgbClr val="F8D237"/>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2431480715"/>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pic>
        <p:nvPicPr>
          <p:cNvPr id="5" name="Picture 4" descr="NewSwoop_Footer.jpg"/>
          <p:cNvPicPr>
            <a:picLocks noChangeAspect="1"/>
          </p:cNvPicPr>
          <p:nvPr userDrawn="1"/>
        </p:nvPicPr>
        <p:blipFill>
          <a:blip r:embed="rId2" cstate="print"/>
          <a:srcRect b="6922"/>
          <a:stretch>
            <a:fillRect/>
          </a:stretch>
        </p:blipFill>
        <p:spPr>
          <a:xfrm>
            <a:off x="0" y="4980440"/>
            <a:ext cx="12192000" cy="1775961"/>
          </a:xfrm>
          <a:prstGeom prst="rect">
            <a:avLst/>
          </a:prstGeom>
        </p:spPr>
      </p:pic>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rcRect l="47414"/>
          <a:stretch>
            <a:fillRect/>
          </a:stretch>
        </p:blipFill>
        <p:spPr>
          <a:xfrm>
            <a:off x="894080" y="785794"/>
            <a:ext cx="991616" cy="707136"/>
          </a:xfrm>
          <a:prstGeom prst="rect">
            <a:avLst/>
          </a:prstGeom>
        </p:spPr>
      </p:pic>
    </p:spTree>
    <p:extLst>
      <p:ext uri="{BB962C8B-B14F-4D97-AF65-F5344CB8AC3E}">
        <p14:creationId xmlns:p14="http://schemas.microsoft.com/office/powerpoint/2010/main" val="18013663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defRPr b="1"/>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dirty="0"/>
              <a:t>Click to edit Master title style</a:t>
            </a:r>
            <a:endParaRPr lang="en-GB" dirty="0"/>
          </a:p>
        </p:txBody>
      </p:sp>
      <p:sp>
        <p:nvSpPr>
          <p:cNvPr id="6" name="Slide Number Placeholder 5"/>
          <p:cNvSpPr txBox="1">
            <a:spLocks/>
          </p:cNvSpPr>
          <p:nvPr userDrawn="1"/>
        </p:nvSpPr>
        <p:spPr>
          <a:xfrm>
            <a:off x="9061491" y="6492906"/>
            <a:ext cx="2844800" cy="365125"/>
          </a:xfrm>
          <a:prstGeom prst="rect">
            <a:avLst/>
          </a:prstGeom>
        </p:spPr>
        <p:txBody>
          <a:bodyPr vert="horz" lIns="91440" tIns="45720" rIns="91440" bIns="45720" rtlCol="0" anchor="ctr"/>
          <a:lstStyle>
            <a:lvl1pPr algn="r">
              <a:defRPr sz="1000">
                <a:solidFill>
                  <a:schemeClr val="bg1"/>
                </a:solidFill>
                <a:latin typeface="Arial" pitchFamily="34" charset="0"/>
                <a:cs typeface="Arial"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18ABFB6-A9C6-4619-9721-3B608E8ED143}" type="slidenum">
              <a:rPr kumimoji="0" lang="en-GB" sz="1000" b="0" i="0" u="none" strike="noStrike" kern="1200" cap="none" spc="0" normalizeH="0" baseline="0" noProof="0" smtClean="0">
                <a:ln>
                  <a:noFill/>
                </a:ln>
                <a:solidFill>
                  <a:srgbClr val="0070C0"/>
                </a:solidFill>
                <a:effectLst/>
                <a:uLnTx/>
                <a:uFillTx/>
                <a:latin typeface="Arial" pitchFamily="34" charset="0"/>
                <a:ea typeface="+mn-ea"/>
                <a:cs typeface="Arial"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a:t>
            </a:fld>
            <a:endParaRPr kumimoji="0" lang="en-GB" sz="1000" b="0" i="0" u="none" strike="noStrike" kern="1200" cap="none" spc="0" normalizeH="0" baseline="0" noProof="0" dirty="0">
              <a:ln>
                <a:noFill/>
              </a:ln>
              <a:solidFill>
                <a:srgbClr val="0070C0"/>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155211673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9_Bubble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3" name="Date Placeholder 2"/>
          <p:cNvSpPr>
            <a:spLocks noGrp="1"/>
          </p:cNvSpPr>
          <p:nvPr>
            <p:ph type="dt" sz="half" idx="10"/>
          </p:nvPr>
        </p:nvSpPr>
        <p:spPr>
          <a:xfrm>
            <a:off x="838200" y="6356353"/>
            <a:ext cx="2743200" cy="365125"/>
          </a:xfrm>
          <a:prstGeom prst="rect">
            <a:avLst/>
          </a:prstGeom>
        </p:spPr>
        <p:txBody>
          <a:bodyPr/>
          <a:lstStyle/>
          <a:p>
            <a:endParaRPr lang="en-US" dirty="0"/>
          </a:p>
        </p:txBody>
      </p:sp>
      <p:sp>
        <p:nvSpPr>
          <p:cNvPr id="4" name="Footer Placeholder 3"/>
          <p:cNvSpPr>
            <a:spLocks noGrp="1"/>
          </p:cNvSpPr>
          <p:nvPr>
            <p:ph type="ftr" sz="quarter" idx="11"/>
          </p:nvPr>
        </p:nvSpPr>
        <p:spPr>
          <a:xfrm>
            <a:off x="4038601" y="6356353"/>
            <a:ext cx="4114800" cy="365125"/>
          </a:xfrm>
          <a:prstGeom prst="rect">
            <a:avLst/>
          </a:prstGeom>
        </p:spPr>
        <p:txBody>
          <a:bodyPr/>
          <a:lstStyle/>
          <a:p>
            <a:endParaRPr lang="en-US" dirty="0"/>
          </a:p>
        </p:txBody>
      </p:sp>
      <p:sp>
        <p:nvSpPr>
          <p:cNvPr id="5" name="Slide Number Placeholder 4"/>
          <p:cNvSpPr>
            <a:spLocks noGrp="1"/>
          </p:cNvSpPr>
          <p:nvPr>
            <p:ph type="sldNum" sz="quarter" idx="12"/>
          </p:nvPr>
        </p:nvSpPr>
        <p:spPr>
          <a:xfrm>
            <a:off x="8610600" y="6356353"/>
            <a:ext cx="2743200" cy="365125"/>
          </a:xfrm>
          <a:prstGeom prst="rect">
            <a:avLst/>
          </a:prstGeom>
        </p:spPr>
        <p:txBody>
          <a:bodyPr/>
          <a:lstStyle/>
          <a:p>
            <a:fld id="{6FABC43E-362F-47C7-AE5F-E86AE3749A26}" type="slidenum">
              <a:rPr lang="en-US" smtClean="0"/>
              <a:pPr/>
              <a:t>‹#›</a:t>
            </a:fld>
            <a:endParaRPr lang="en-US" dirty="0"/>
          </a:p>
        </p:txBody>
      </p:sp>
      <p:sp>
        <p:nvSpPr>
          <p:cNvPr id="8" name="Text Placeholder 7"/>
          <p:cNvSpPr>
            <a:spLocks noGrp="1"/>
          </p:cNvSpPr>
          <p:nvPr>
            <p:ph type="body" sz="quarter" idx="13" hasCustomPrompt="1"/>
          </p:nvPr>
        </p:nvSpPr>
        <p:spPr>
          <a:xfrm>
            <a:off x="926124" y="2438401"/>
            <a:ext cx="10363569" cy="1819692"/>
          </a:xfrm>
          <a:prstGeom prst="roundRect">
            <a:avLst>
              <a:gd name="adj" fmla="val 10982"/>
            </a:avLst>
          </a:prstGeom>
          <a:solidFill>
            <a:srgbClr val="9EC23C"/>
          </a:solidFill>
          <a:ln w="28575" cap="flat" cmpd="sng" algn="ctr">
            <a:solidFill>
              <a:srgbClr val="333399"/>
            </a:solidFill>
            <a:prstDash val="solid"/>
            <a:round/>
            <a:headEnd type="none" w="med" len="med"/>
            <a:tailEnd type="none" w="med" len="med"/>
          </a:ln>
          <a:effectLst>
            <a:outerShdw blurRad="50800" dist="38100" dir="2700000" algn="tl" rotWithShape="0">
              <a:prstClr val="black">
                <a:alpha val="40000"/>
              </a:prstClr>
            </a:outerShdw>
          </a:effectLst>
        </p:spPr>
        <p:txBody>
          <a:bodyPr wrap="square">
            <a:spAutoFit/>
          </a:bodyPr>
          <a:lstStyle>
            <a:lvl1pPr marL="0" indent="0" algn="l" rtl="0" eaLnBrk="0" fontAlgn="base" hangingPunct="0">
              <a:spcBef>
                <a:spcPct val="0"/>
              </a:spcBef>
              <a:spcAft>
                <a:spcPct val="0"/>
              </a:spcAft>
              <a:buNone/>
              <a:defRPr lang="en-GB" sz="2215" b="1" kern="1200" dirty="0">
                <a:solidFill>
                  <a:srgbClr val="333399"/>
                </a:solidFill>
                <a:effectLst/>
                <a:latin typeface="Arial" charset="0"/>
                <a:ea typeface="ヒラギノ角ゴ Pro W3" pitchFamily="-112" charset="-128"/>
                <a:cs typeface="+mn-cs"/>
              </a:defRPr>
            </a:lvl1pPr>
          </a:lstStyle>
          <a:p>
            <a:pPr lvl="0"/>
            <a:r>
              <a:rPr lang="en-GB" dirty="0"/>
              <a:t>Insert 'bubble' text here...</a:t>
            </a:r>
          </a:p>
          <a:p>
            <a:pPr lvl="0"/>
            <a:endParaRPr lang="en-GB" dirty="0"/>
          </a:p>
          <a:p>
            <a:pPr lvl="0"/>
            <a:endParaRPr lang="en-GB" dirty="0"/>
          </a:p>
          <a:p>
            <a:pPr lvl="0"/>
            <a:endParaRPr lang="en-GB" dirty="0"/>
          </a:p>
          <a:p>
            <a:pPr lvl="0"/>
            <a:endParaRPr lang="en-GB" dirty="0"/>
          </a:p>
        </p:txBody>
      </p:sp>
    </p:spTree>
    <p:extLst>
      <p:ext uri="{BB962C8B-B14F-4D97-AF65-F5344CB8AC3E}">
        <p14:creationId xmlns:p14="http://schemas.microsoft.com/office/powerpoint/2010/main" val="260959036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903" r:id="rId22"/>
    <p:sldLayoutId id="2147483904" r:id="rId23"/>
    <p:sldLayoutId id="2147483902" r:id="rId24"/>
    <p:sldLayoutId id="2147483906" r:id="rId25"/>
    <p:sldLayoutId id="2147483905" r:id="rId26"/>
    <p:sldLayoutId id="2147483820" r:id="rId27"/>
    <p:sldLayoutId id="2147483842" r:id="rId28"/>
    <p:sldLayoutId id="2147483845" r:id="rId29"/>
    <p:sldLayoutId id="2147483851" r:id="rId30"/>
    <p:sldLayoutId id="2147483901" r:id="rId31"/>
    <p:sldLayoutId id="2147483650" r:id="rId32"/>
    <p:sldLayoutId id="2147483734" r:id="rId33"/>
    <p:sldLayoutId id="2147483796" r:id="rId34"/>
    <p:sldLayoutId id="2147483719" r:id="rId35"/>
    <p:sldLayoutId id="2147483721" r:id="rId36"/>
    <p:sldLayoutId id="2147483724" r:id="rId37"/>
    <p:sldLayoutId id="2147483797" r:id="rId38"/>
    <p:sldLayoutId id="2147483814" r:id="rId39"/>
    <p:sldLayoutId id="2147483907" r:id="rId40"/>
    <p:sldLayoutId id="2147483908" r:id="rId41"/>
    <p:sldLayoutId id="2147483909" r:id="rId42"/>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44"/>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44"/>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44"/>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44"/>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4.xml"/><Relationship Id="rId4" Type="http://schemas.openxmlformats.org/officeDocument/2006/relationships/image" Target="../media/image1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2"/>
          </p:nvPr>
        </p:nvSpPr>
        <p:spPr/>
        <p:txBody>
          <a:bodyPr/>
          <a:lstStyle/>
          <a:p>
            <a:endParaRPr lang="en-GB" dirty="0"/>
          </a:p>
        </p:txBody>
      </p:sp>
      <p:sp>
        <p:nvSpPr>
          <p:cNvPr id="3" name="Title 2"/>
          <p:cNvSpPr>
            <a:spLocks noGrp="1"/>
          </p:cNvSpPr>
          <p:nvPr>
            <p:ph type="ctrTitle"/>
          </p:nvPr>
        </p:nvSpPr>
        <p:spPr/>
        <p:txBody>
          <a:bodyPr/>
          <a:lstStyle/>
          <a:p>
            <a:r>
              <a:rPr lang="en-GB" dirty="0">
                <a:latin typeface="Lucida Console" pitchFamily="49" charset="0"/>
              </a:rPr>
              <a:t>Accessing databases using code</a:t>
            </a:r>
          </a:p>
        </p:txBody>
      </p:sp>
      <p:sp>
        <p:nvSpPr>
          <p:cNvPr id="5" name="Content Placeholder 2"/>
          <p:cNvSpPr txBox="1">
            <a:spLocks/>
          </p:cNvSpPr>
          <p:nvPr/>
        </p:nvSpPr>
        <p:spPr>
          <a:xfrm>
            <a:off x="385299" y="5768975"/>
            <a:ext cx="5627171" cy="705846"/>
          </a:xfrm>
          <a:prstGeom prst="rect">
            <a:avLst/>
          </a:prstGeom>
        </p:spPr>
        <p:txBody>
          <a:bodyPr/>
          <a:lstStyle>
            <a:lvl1pPr marL="0" indent="0" algn="l" defTabSz="914400" rtl="0" eaLnBrk="1" latinLnBrk="0" hangingPunct="1">
              <a:lnSpc>
                <a:spcPct val="100000"/>
              </a:lnSpc>
              <a:spcBef>
                <a:spcPts val="0"/>
              </a:spcBef>
              <a:spcAft>
                <a:spcPts val="650"/>
              </a:spcAft>
              <a:buSzPct val="115000"/>
              <a:buFontTx/>
              <a:buNone/>
              <a:defRPr sz="18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18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18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18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sz="1400" dirty="0"/>
          </a:p>
        </p:txBody>
      </p:sp>
    </p:spTree>
    <p:extLst>
      <p:ext uri="{BB962C8B-B14F-4D97-AF65-F5344CB8AC3E}">
        <p14:creationId xmlns:p14="http://schemas.microsoft.com/office/powerpoint/2010/main" val="1792101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27308" y="1349984"/>
            <a:ext cx="3569777" cy="2862322"/>
          </a:xfrm>
          <a:prstGeom prst="rect">
            <a:avLst/>
          </a:prstGeom>
        </p:spPr>
        <p:txBody>
          <a:bodyPr wrap="square">
            <a:spAutoFit/>
          </a:bodyPr>
          <a:lstStyle/>
          <a:p>
            <a:r>
              <a:rPr lang="en-US" sz="3600" dirty="0">
                <a:latin typeface="Krana Fat B" panose="00000B00000000000000" pitchFamily="50" charset="0"/>
                <a:cs typeface="Arial" charset="0"/>
              </a:rPr>
              <a:t>INTRODUCTION TO ACCESSING DATABASES USING .NET</a:t>
            </a:r>
            <a:br>
              <a:rPr lang="en-US" sz="3600" dirty="0">
                <a:latin typeface="Krana Fat B" panose="00000B00000000000000" pitchFamily="50" charset="0"/>
                <a:cs typeface="Arial" charset="0"/>
              </a:rPr>
            </a:br>
            <a:endParaRPr lang="en-GB" sz="3600" dirty="0">
              <a:latin typeface="Krana Fat B" panose="00000B00000000000000" pitchFamily="50" charset="0"/>
            </a:endParaRPr>
          </a:p>
        </p:txBody>
      </p:sp>
      <p:pic>
        <p:nvPicPr>
          <p:cNvPr id="1026" name="Picture 2" descr="C#/ASP PROGRAMMI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0823" y="1329491"/>
            <a:ext cx="4461709" cy="4461709"/>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C:\Users\User\AppData\Local\Microsoft\Windows\INetCache\IE\BXASUNLW\layered_database_source_documents_by_barrymieny-d5rnycs[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3931" y="3378819"/>
            <a:ext cx="2780371" cy="27803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8736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nvPr>
        </p:nvSpPr>
        <p:spPr>
          <a:xfrm>
            <a:off x="376238" y="2067007"/>
            <a:ext cx="6664642" cy="2353439"/>
          </a:xfrm>
        </p:spPr>
        <p:txBody>
          <a:bodyPr/>
          <a:lstStyle/>
          <a:p>
            <a:r>
              <a:rPr lang="en-US" sz="5600" dirty="0">
                <a:cs typeface="Arial" charset="0"/>
              </a:rPr>
              <a:t>.NET CONNECTED MODEL</a:t>
            </a:r>
            <a:br>
              <a:rPr lang="en-US" sz="5600" dirty="0">
                <a:cs typeface="Arial" charset="0"/>
              </a:rPr>
            </a:br>
            <a:r>
              <a:rPr lang="en-US" sz="5600" dirty="0">
                <a:cs typeface="Arial" charset="0"/>
              </a:rPr>
              <a:t>USING C#</a:t>
            </a:r>
          </a:p>
        </p:txBody>
      </p:sp>
    </p:spTree>
    <p:extLst>
      <p:ext uri="{BB962C8B-B14F-4D97-AF65-F5344CB8AC3E}">
        <p14:creationId xmlns:p14="http://schemas.microsoft.com/office/powerpoint/2010/main" val="125623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GB" dirty="0"/>
              <a:t>Module objectives</a:t>
            </a:r>
            <a:endParaRPr lang="en-US" dirty="0"/>
          </a:p>
        </p:txBody>
      </p:sp>
      <p:sp>
        <p:nvSpPr>
          <p:cNvPr id="3076" name="Rectangle 3"/>
          <p:cNvSpPr>
            <a:spLocks noGrp="1" noChangeArrowheads="1"/>
          </p:cNvSpPr>
          <p:nvPr>
            <p:ph idx="1"/>
          </p:nvPr>
        </p:nvSpPr>
        <p:spPr/>
        <p:txBody>
          <a:bodyPr/>
          <a:lstStyle/>
          <a:p>
            <a:pPr>
              <a:buNone/>
            </a:pPr>
            <a:r>
              <a:rPr lang="en-GB" b="1" dirty="0"/>
              <a:t>After completing this module you will be able to:</a:t>
            </a:r>
          </a:p>
          <a:p>
            <a:r>
              <a:rPr lang="en-GB" dirty="0"/>
              <a:t>Describe how to use the ADO.NET’s Connected model</a:t>
            </a:r>
          </a:p>
          <a:p>
            <a:r>
              <a:rPr lang="en-GB" dirty="0"/>
              <a:t>Demonstrate </a:t>
            </a:r>
          </a:p>
          <a:p>
            <a:pPr lvl="1"/>
            <a:r>
              <a:rPr lang="en-GB" dirty="0"/>
              <a:t>How to connect to databases</a:t>
            </a:r>
          </a:p>
          <a:p>
            <a:pPr lvl="1"/>
            <a:r>
              <a:rPr lang="en-GB" dirty="0"/>
              <a:t>How to read data</a:t>
            </a:r>
          </a:p>
          <a:p>
            <a:pPr lvl="1"/>
            <a:r>
              <a:rPr lang="en-GB" dirty="0"/>
              <a:t>Your ability to update databases by issuing commends</a:t>
            </a:r>
          </a:p>
          <a:p>
            <a:pPr>
              <a:buNone/>
            </a:pPr>
            <a:endParaRPr lang="en-GB" dirty="0"/>
          </a:p>
        </p:txBody>
      </p:sp>
    </p:spTree>
    <p:extLst>
      <p:ext uri="{BB962C8B-B14F-4D97-AF65-F5344CB8AC3E}">
        <p14:creationId xmlns:p14="http://schemas.microsoft.com/office/powerpoint/2010/main" val="3326191883"/>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normAutofit/>
          </a:bodyPr>
          <a:lstStyle/>
          <a:p>
            <a:pPr marL="316531" lvl="1" indent="-316531">
              <a:spcBef>
                <a:spcPts val="0"/>
              </a:spcBef>
              <a:spcAft>
                <a:spcPts val="1108"/>
              </a:spcAft>
              <a:buFont typeface="Wingdings 3" pitchFamily="18" charset="2"/>
              <a:buChar char="}"/>
            </a:pPr>
            <a:r>
              <a:rPr lang="en-GB" dirty="0"/>
              <a:t>Used in both the Connected and Disconnected models</a:t>
            </a:r>
          </a:p>
          <a:p>
            <a:pPr marL="316531" lvl="1" indent="-316531">
              <a:spcBef>
                <a:spcPts val="0"/>
              </a:spcBef>
              <a:spcAft>
                <a:spcPts val="1108"/>
              </a:spcAft>
              <a:buFont typeface="Wingdings 3" pitchFamily="18" charset="2"/>
              <a:buChar char="}"/>
            </a:pPr>
            <a:r>
              <a:rPr lang="en-GB" dirty="0"/>
              <a:t>Requires a connection string to define the data source</a:t>
            </a:r>
          </a:p>
          <a:p>
            <a:pPr marL="685817" lvl="2" indent="-316531">
              <a:spcBef>
                <a:spcPts val="0"/>
              </a:spcBef>
              <a:spcAft>
                <a:spcPts val="1108"/>
              </a:spcAft>
              <a:buFont typeface="Wingdings 3" pitchFamily="18" charset="2"/>
              <a:buChar char="}"/>
            </a:pPr>
            <a:r>
              <a:rPr lang="en-GB" dirty="0"/>
              <a:t>Defines the database’s server name, ADO provider, Pooling options, access security credential and more...</a:t>
            </a:r>
          </a:p>
          <a:p>
            <a:pPr marL="316531" lvl="1" indent="-316531">
              <a:spcBef>
                <a:spcPts val="0"/>
              </a:spcBef>
              <a:spcAft>
                <a:spcPts val="1108"/>
              </a:spcAft>
              <a:buFont typeface="Wingdings 3" pitchFamily="18" charset="2"/>
              <a:buChar char="}"/>
            </a:pPr>
            <a:r>
              <a:rPr lang="en-GB" b="1" dirty="0"/>
              <a:t>Open()</a:t>
            </a:r>
            <a:r>
              <a:rPr lang="en-GB" dirty="0"/>
              <a:t> method to open the connection</a:t>
            </a:r>
            <a:br>
              <a:rPr lang="en-GB" dirty="0"/>
            </a:br>
            <a:endParaRPr lang="en-GB" dirty="0"/>
          </a:p>
          <a:p>
            <a:pPr marL="316531" lvl="1" indent="-316531">
              <a:spcBef>
                <a:spcPts val="0"/>
              </a:spcBef>
              <a:spcAft>
                <a:spcPts val="1108"/>
              </a:spcAft>
              <a:buFont typeface="Wingdings 3" pitchFamily="18" charset="2"/>
              <a:buChar char="}"/>
            </a:pPr>
            <a:r>
              <a:rPr lang="en-GB" u="sng" dirty="0"/>
              <a:t>Always</a:t>
            </a:r>
            <a:r>
              <a:rPr lang="en-GB" dirty="0"/>
              <a:t> call the </a:t>
            </a:r>
            <a:r>
              <a:rPr lang="en-GB" b="1" dirty="0"/>
              <a:t>Close()</a:t>
            </a:r>
            <a:r>
              <a:rPr lang="en-GB" dirty="0"/>
              <a:t> methods to close an open connection</a:t>
            </a:r>
          </a:p>
          <a:p>
            <a:pPr marL="685817" lvl="2" indent="-316531">
              <a:spcBef>
                <a:spcPts val="0"/>
              </a:spcBef>
              <a:spcAft>
                <a:spcPts val="1108"/>
              </a:spcAft>
              <a:buFont typeface="Wingdings 3" pitchFamily="18" charset="2"/>
              <a:buChar char="}"/>
            </a:pPr>
            <a:r>
              <a:rPr lang="en-GB" dirty="0"/>
              <a:t>Open as late as possible and close as soon as not needed</a:t>
            </a:r>
            <a:br>
              <a:rPr lang="en-GB" dirty="0"/>
            </a:br>
            <a:endParaRPr lang="en-GB" dirty="0"/>
          </a:p>
          <a:p>
            <a:pPr marL="342909" lvl="1" indent="-316531">
              <a:spcBef>
                <a:spcPts val="0"/>
              </a:spcBef>
              <a:spcAft>
                <a:spcPts val="1108"/>
              </a:spcAft>
              <a:buFont typeface="Wingdings 3" pitchFamily="18" charset="2"/>
              <a:buChar char="}"/>
            </a:pPr>
            <a:r>
              <a:rPr lang="en-GB" dirty="0"/>
              <a:t>Connections with </a:t>
            </a:r>
            <a:r>
              <a:rPr lang="en-GB" b="1" dirty="0"/>
              <a:t>the same connection string </a:t>
            </a:r>
            <a:r>
              <a:rPr lang="en-GB" dirty="0"/>
              <a:t>are pooled together</a:t>
            </a:r>
          </a:p>
          <a:p>
            <a:endParaRPr lang="en-GB" dirty="0"/>
          </a:p>
        </p:txBody>
      </p:sp>
      <p:sp>
        <p:nvSpPr>
          <p:cNvPr id="8" name="Title 7"/>
          <p:cNvSpPr>
            <a:spLocks noGrp="1"/>
          </p:cNvSpPr>
          <p:nvPr>
            <p:ph type="title"/>
          </p:nvPr>
        </p:nvSpPr>
        <p:spPr>
          <a:xfrm>
            <a:off x="205699" y="178564"/>
            <a:ext cx="11986301" cy="1071584"/>
          </a:xfrm>
        </p:spPr>
        <p:txBody>
          <a:bodyPr>
            <a:normAutofit/>
          </a:bodyPr>
          <a:lstStyle/>
          <a:p>
            <a:pPr lvl="0"/>
            <a:r>
              <a:rPr lang="en-US" sz="3600" dirty="0">
                <a:solidFill>
                  <a:schemeClr val="tx1"/>
                </a:solidFill>
                <a:latin typeface="Krana Fat B" panose="00000B00000000000000" pitchFamily="50" charset="0"/>
              </a:rPr>
              <a:t>The Connection object</a:t>
            </a:r>
            <a:endParaRPr lang="en-GB" sz="3600" dirty="0">
              <a:solidFill>
                <a:schemeClr val="tx1"/>
              </a:solidFill>
              <a:latin typeface="Krana Fat B" panose="00000B00000000000000" pitchFamily="50" charset="0"/>
            </a:endParaRPr>
          </a:p>
        </p:txBody>
      </p:sp>
    </p:spTree>
    <p:extLst>
      <p:ext uri="{BB962C8B-B14F-4D97-AF65-F5344CB8AC3E}">
        <p14:creationId xmlns:p14="http://schemas.microsoft.com/office/powerpoint/2010/main" val="4162395536"/>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190463" y="928670"/>
            <a:ext cx="11715792" cy="5214974"/>
          </a:xfrm>
        </p:spPr>
        <p:txBody>
          <a:bodyPr/>
          <a:lstStyle/>
          <a:p>
            <a:pPr marL="342900" lvl="1" indent="-342900"/>
            <a:r>
              <a:rPr lang="en-GB" sz="1662" b="1" kern="0" dirty="0"/>
              <a:t>You can specify connection strings in code</a:t>
            </a:r>
          </a:p>
          <a:p>
            <a:pPr marL="342900" lvl="1" indent="-342900"/>
            <a:endParaRPr lang="en-GB" sz="1662" kern="0" dirty="0"/>
          </a:p>
          <a:p>
            <a:pPr marL="342900" lvl="1" indent="-342900"/>
            <a:endParaRPr lang="en-GB" sz="1662" kern="0" dirty="0"/>
          </a:p>
          <a:p>
            <a:pPr marL="0" lvl="1" indent="0">
              <a:buNone/>
            </a:pPr>
            <a:endParaRPr lang="en-GB" sz="1662" kern="0" dirty="0"/>
          </a:p>
          <a:p>
            <a:pPr marL="0" lvl="1" indent="0">
              <a:buNone/>
            </a:pPr>
            <a:endParaRPr lang="en-GB" sz="1662" kern="0" dirty="0"/>
          </a:p>
          <a:p>
            <a:pPr marL="316531" lvl="1" indent="-316531">
              <a:spcBef>
                <a:spcPts val="0"/>
              </a:spcBef>
              <a:spcAft>
                <a:spcPts val="1108"/>
              </a:spcAft>
              <a:buClr>
                <a:srgbClr val="333399"/>
              </a:buClr>
              <a:buFont typeface="Wingdings 3" pitchFamily="18" charset="2"/>
              <a:buChar char="}"/>
              <a:defRPr/>
            </a:pPr>
            <a:r>
              <a:rPr lang="en-GB" sz="1662" b="1" kern="0" dirty="0"/>
              <a:t>Always use a </a:t>
            </a:r>
            <a:r>
              <a:rPr lang="en-GB" sz="1662" b="1" kern="0" dirty="0" err="1"/>
              <a:t>config</a:t>
            </a:r>
            <a:r>
              <a:rPr lang="en-GB" sz="1662" b="1" kern="0" dirty="0"/>
              <a:t> file to store connection strings </a:t>
            </a:r>
            <a:r>
              <a:rPr lang="en-GB" sz="1662" kern="0" dirty="0"/>
              <a:t>(see the annex for code example)</a:t>
            </a:r>
            <a:endParaRPr lang="en-GB" dirty="0"/>
          </a:p>
        </p:txBody>
      </p:sp>
      <p:sp>
        <p:nvSpPr>
          <p:cNvPr id="8" name="Title 7"/>
          <p:cNvSpPr>
            <a:spLocks noGrp="1"/>
          </p:cNvSpPr>
          <p:nvPr>
            <p:ph type="title"/>
          </p:nvPr>
        </p:nvSpPr>
        <p:spPr>
          <a:xfrm>
            <a:off x="190463" y="173542"/>
            <a:ext cx="11723548" cy="748589"/>
          </a:xfrm>
        </p:spPr>
        <p:txBody>
          <a:bodyPr>
            <a:normAutofit/>
          </a:bodyPr>
          <a:lstStyle/>
          <a:p>
            <a:pPr lvl="0"/>
            <a:r>
              <a:rPr lang="en-US" sz="3600" dirty="0">
                <a:solidFill>
                  <a:schemeClr val="tx1"/>
                </a:solidFill>
                <a:latin typeface="Krana Fat B" panose="00000B00000000000000" pitchFamily="50" charset="0"/>
              </a:rPr>
              <a:t>An example of creating connections</a:t>
            </a:r>
            <a:endParaRPr lang="en-GB" sz="3600" dirty="0">
              <a:solidFill>
                <a:schemeClr val="tx1"/>
              </a:solidFill>
              <a:latin typeface="Krana Fat B" panose="00000B00000000000000" pitchFamily="50" charset="0"/>
            </a:endParaRPr>
          </a:p>
        </p:txBody>
      </p:sp>
      <p:sp>
        <p:nvSpPr>
          <p:cNvPr id="4" name="Rectangle 3"/>
          <p:cNvSpPr/>
          <p:nvPr/>
        </p:nvSpPr>
        <p:spPr>
          <a:xfrm>
            <a:off x="332819" y="1367029"/>
            <a:ext cx="11554381" cy="584775"/>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00" b="1" dirty="0" err="1">
                <a:solidFill>
                  <a:srgbClr val="333399"/>
                </a:solidFill>
                <a:latin typeface="Consolas"/>
              </a:rPr>
              <a:t>SqlConnection</a:t>
            </a:r>
            <a:r>
              <a:rPr lang="en-GB" sz="1600" b="1" dirty="0">
                <a:solidFill>
                  <a:srgbClr val="333399"/>
                </a:solidFill>
                <a:latin typeface="Consolas"/>
              </a:rPr>
              <a:t> Cn = </a:t>
            </a:r>
            <a:r>
              <a:rPr lang="en-GB" sz="1600" b="1" dirty="0">
                <a:solidFill>
                  <a:srgbClr val="0000FF"/>
                </a:solidFill>
                <a:latin typeface="Consolas"/>
              </a:rPr>
              <a:t>new </a:t>
            </a:r>
            <a:r>
              <a:rPr lang="en-GB" sz="1600" b="1" dirty="0" err="1">
                <a:solidFill>
                  <a:srgbClr val="333399"/>
                </a:solidFill>
                <a:latin typeface="Consolas"/>
              </a:rPr>
              <a:t>SqlConnection</a:t>
            </a:r>
            <a:r>
              <a:rPr lang="en-GB" sz="1600" b="1" dirty="0">
                <a:solidFill>
                  <a:srgbClr val="333399"/>
                </a:solidFill>
                <a:latin typeface="Consolas"/>
              </a:rPr>
              <a:t>(</a:t>
            </a:r>
          </a:p>
          <a:p>
            <a:r>
              <a:rPr lang="en-GB" sz="1600" b="1" dirty="0">
                <a:solidFill>
                  <a:schemeClr val="tx1"/>
                </a:solidFill>
              </a:rPr>
              <a:t>@</a:t>
            </a:r>
            <a:r>
              <a:rPr lang="en-GB" sz="1600" dirty="0">
                <a:solidFill>
                  <a:schemeClr val="tx1"/>
                </a:solidFill>
              </a:rPr>
              <a:t>"</a:t>
            </a:r>
            <a:r>
              <a:rPr lang="en-GB" sz="1600" dirty="0">
                <a:solidFill>
                  <a:srgbClr val="333399"/>
                </a:solidFill>
              </a:rPr>
              <a:t>Data Source=.\</a:t>
            </a:r>
            <a:r>
              <a:rPr lang="en-GB" sz="1600" dirty="0" err="1">
                <a:solidFill>
                  <a:srgbClr val="333399"/>
                </a:solidFill>
              </a:rPr>
              <a:t>sqlexpress;Initial</a:t>
            </a:r>
            <a:r>
              <a:rPr lang="en-GB" sz="1600" dirty="0">
                <a:solidFill>
                  <a:srgbClr val="333399"/>
                </a:solidFill>
              </a:rPr>
              <a:t> </a:t>
            </a:r>
            <a:r>
              <a:rPr lang="en-GB" sz="1600" dirty="0" err="1">
                <a:solidFill>
                  <a:srgbClr val="333399"/>
                </a:solidFill>
              </a:rPr>
              <a:t>Catalog</a:t>
            </a:r>
            <a:r>
              <a:rPr lang="en-GB" sz="1600" dirty="0">
                <a:solidFill>
                  <a:srgbClr val="333399"/>
                </a:solidFill>
              </a:rPr>
              <a:t>=</a:t>
            </a:r>
            <a:r>
              <a:rPr lang="en-GB" sz="1600" dirty="0" err="1">
                <a:solidFill>
                  <a:srgbClr val="333399"/>
                </a:solidFill>
              </a:rPr>
              <a:t>Northwind;Integrated</a:t>
            </a:r>
            <a:r>
              <a:rPr lang="en-GB" sz="1600" dirty="0">
                <a:solidFill>
                  <a:srgbClr val="333399"/>
                </a:solidFill>
              </a:rPr>
              <a:t> Security=True</a:t>
            </a:r>
            <a:r>
              <a:rPr lang="en-GB" sz="1600" dirty="0">
                <a:solidFill>
                  <a:schemeClr val="tx1"/>
                </a:solidFill>
              </a:rPr>
              <a:t>" </a:t>
            </a:r>
            <a:r>
              <a:rPr lang="en-GB" sz="1600" b="1" dirty="0">
                <a:solidFill>
                  <a:srgbClr val="333399"/>
                </a:solidFill>
                <a:latin typeface="Consolas"/>
              </a:rPr>
              <a:t>);</a:t>
            </a:r>
          </a:p>
        </p:txBody>
      </p:sp>
      <p:sp>
        <p:nvSpPr>
          <p:cNvPr id="6" name="Text Placeholder 1"/>
          <p:cNvSpPr txBox="1">
            <a:spLocks/>
          </p:cNvSpPr>
          <p:nvPr/>
        </p:nvSpPr>
        <p:spPr>
          <a:xfrm>
            <a:off x="252113" y="3006058"/>
            <a:ext cx="11715792" cy="2531219"/>
          </a:xfrm>
          <a:prstGeom prst="rect">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0">
            <a:normAutofit/>
          </a:bodyPr>
          <a:lstStyle>
            <a:lvl1pPr marL="342900" indent="-342900" algn="l" defTabSz="914400" rtl="0" eaLnBrk="1" latinLnBrk="0" hangingPunct="1">
              <a:spcBef>
                <a:spcPct val="20000"/>
              </a:spcBef>
              <a:buClr>
                <a:schemeClr val="accent1"/>
              </a:buClr>
              <a:buFont typeface="Wingdings" pitchFamily="2" charset="2"/>
              <a:buChar char="§"/>
              <a:defRPr sz="2000" b="1" kern="1200">
                <a:solidFill>
                  <a:schemeClr val="tx1"/>
                </a:solidFill>
                <a:latin typeface="Arial" pitchFamily="34" charset="0"/>
                <a:ea typeface="+mn-ea"/>
                <a:cs typeface="Arial" pitchFamily="34" charset="0"/>
              </a:defRPr>
            </a:lvl1pPr>
            <a:lvl2pPr marL="742950" indent="-28575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2pPr>
            <a:lvl3pPr marL="11430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3pPr>
            <a:lvl4pPr marL="16002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4pPr>
            <a:lvl5pPr marL="2057400" indent="-228600" algn="l" defTabSz="914400" rtl="0" eaLnBrk="1" latinLnBrk="0" hangingPunct="1">
              <a:spcBef>
                <a:spcPct val="20000"/>
              </a:spcBef>
              <a:buClr>
                <a:schemeClr val="accent1"/>
              </a:buClr>
              <a:buFont typeface="Wingdings" pitchFamily="2" charset="2"/>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GB" sz="1662" kern="0" dirty="0"/>
              <a:t>Recommended way:</a:t>
            </a:r>
            <a:br>
              <a:rPr lang="en-GB" sz="1662" kern="0" dirty="0"/>
            </a:br>
            <a:br>
              <a:rPr lang="en-GB" sz="1662" kern="0" dirty="0"/>
            </a:br>
            <a:r>
              <a:rPr lang="en-GB" sz="1800" dirty="0">
                <a:solidFill>
                  <a:srgbClr val="0000FF"/>
                </a:solidFill>
                <a:highlight>
                  <a:srgbClr val="FFFFFF"/>
                </a:highlight>
                <a:latin typeface="Consolas" panose="020B0609020204030204" pitchFamily="49" charset="0"/>
              </a:rPr>
              <a:t>using</a:t>
            </a:r>
            <a:r>
              <a:rPr lang="en-GB" sz="1800" dirty="0">
                <a:solidFill>
                  <a:srgbClr val="000000"/>
                </a:solidFill>
                <a:highlight>
                  <a:srgbClr val="FFFFFF"/>
                </a:highlight>
                <a:latin typeface="Consolas" panose="020B0609020204030204" pitchFamily="49" charset="0"/>
              </a:rPr>
              <a:t> </a:t>
            </a:r>
            <a:r>
              <a:rPr lang="en-GB" sz="1600" dirty="0">
                <a:solidFill>
                  <a:srgbClr val="000000"/>
                </a:solidFill>
                <a:highlight>
                  <a:srgbClr val="FFFFFF"/>
                </a:highlight>
                <a:latin typeface="Consolas" panose="020B0609020204030204" pitchFamily="49" charset="0"/>
              </a:rPr>
              <a:t>(</a:t>
            </a:r>
            <a:r>
              <a:rPr lang="en-GB" sz="18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SqlConnection</a:t>
            </a:r>
            <a:r>
              <a:rPr lang="en-GB" sz="1600" dirty="0">
                <a:solidFill>
                  <a:srgbClr val="000000"/>
                </a:solidFill>
                <a:highlight>
                  <a:srgbClr val="FFFFFF"/>
                </a:highlight>
                <a:latin typeface="Consolas" panose="020B0609020204030204" pitchFamily="49" charset="0"/>
              </a:rPr>
              <a:t> Cn = </a:t>
            </a:r>
            <a:r>
              <a:rPr lang="en-GB" sz="1600" dirty="0">
                <a:solidFill>
                  <a:srgbClr val="0000FF"/>
                </a:solidFill>
                <a:highlight>
                  <a:srgbClr val="FFFFFF"/>
                </a:highlight>
                <a:latin typeface="Consolas" panose="020B0609020204030204" pitchFamily="49" charset="0"/>
              </a:rPr>
              <a:t>new</a:t>
            </a:r>
            <a:r>
              <a:rPr lang="en-GB" sz="1600" dirty="0">
                <a:solidFill>
                  <a:srgbClr val="000000"/>
                </a:solidFill>
                <a:highlight>
                  <a:srgbClr val="FFFFFF"/>
                </a:highlight>
                <a:latin typeface="Consolas" panose="020B0609020204030204" pitchFamily="49" charset="0"/>
              </a:rPr>
              <a:t> </a:t>
            </a:r>
            <a:r>
              <a:rPr lang="en-GB" sz="1600" dirty="0" err="1">
                <a:solidFill>
                  <a:srgbClr val="2B91AF"/>
                </a:solidFill>
                <a:highlight>
                  <a:srgbClr val="FFFFFF"/>
                </a:highlight>
                <a:latin typeface="Consolas" panose="020B0609020204030204" pitchFamily="49" charset="0"/>
              </a:rPr>
              <a:t>SqlConnection</a:t>
            </a:r>
            <a:r>
              <a:rPr lang="en-GB" sz="1600" dirty="0">
                <a:solidFill>
                  <a:srgbClr val="000000"/>
                </a:solidFill>
                <a:highlight>
                  <a:srgbClr val="FFFFFF"/>
                </a:highlight>
                <a:latin typeface="Consolas" panose="020B0609020204030204" pitchFamily="49" charset="0"/>
              </a:rPr>
              <a:t>(</a:t>
            </a:r>
          </a:p>
          <a:p>
            <a:pPr marL="0" indent="0">
              <a:buNone/>
            </a:pPr>
            <a:r>
              <a:rPr lang="en-GB" sz="1600" dirty="0">
                <a:solidFill>
                  <a:srgbClr val="800000"/>
                </a:solidFill>
                <a:highlight>
                  <a:srgbClr val="FFFFFF"/>
                </a:highlight>
                <a:latin typeface="Times New Roman" panose="02020603050405020304" pitchFamily="18" charset="0"/>
                <a:cs typeface="Times New Roman" panose="02020603050405020304" pitchFamily="18" charset="0"/>
              </a:rPr>
              <a:t>	  @"Data Source=.\</a:t>
            </a:r>
            <a:r>
              <a:rPr lang="en-GB" sz="1600" dirty="0" err="1">
                <a:solidFill>
                  <a:srgbClr val="800000"/>
                </a:solidFill>
                <a:highlight>
                  <a:srgbClr val="FFFFFF"/>
                </a:highlight>
                <a:latin typeface="Times New Roman" panose="02020603050405020304" pitchFamily="18" charset="0"/>
                <a:cs typeface="Times New Roman" panose="02020603050405020304" pitchFamily="18" charset="0"/>
              </a:rPr>
              <a:t>sqlexpress;Initial</a:t>
            </a:r>
            <a:r>
              <a:rPr lang="en-GB" sz="1600" dirty="0">
                <a:solidFill>
                  <a:srgbClr val="800000"/>
                </a:solidFill>
                <a:highlight>
                  <a:srgbClr val="FFFFFF"/>
                </a:highlight>
                <a:latin typeface="Times New Roman" panose="02020603050405020304" pitchFamily="18" charset="0"/>
                <a:cs typeface="Times New Roman" panose="02020603050405020304" pitchFamily="18" charset="0"/>
              </a:rPr>
              <a:t> </a:t>
            </a:r>
            <a:r>
              <a:rPr lang="en-GB" sz="1600" dirty="0" err="1">
                <a:solidFill>
                  <a:srgbClr val="800000"/>
                </a:solidFill>
                <a:highlight>
                  <a:srgbClr val="FFFFFF"/>
                </a:highlight>
                <a:latin typeface="Times New Roman" panose="02020603050405020304" pitchFamily="18" charset="0"/>
                <a:cs typeface="Times New Roman" panose="02020603050405020304" pitchFamily="18" charset="0"/>
              </a:rPr>
              <a:t>Catalog</a:t>
            </a:r>
            <a:r>
              <a:rPr lang="en-GB" sz="1600" dirty="0">
                <a:solidFill>
                  <a:srgbClr val="800000"/>
                </a:solidFill>
                <a:highlight>
                  <a:srgbClr val="FFFFFF"/>
                </a:highlight>
                <a:latin typeface="Times New Roman" panose="02020603050405020304" pitchFamily="18" charset="0"/>
                <a:cs typeface="Times New Roman" panose="02020603050405020304" pitchFamily="18" charset="0"/>
              </a:rPr>
              <a:t>=</a:t>
            </a:r>
            <a:r>
              <a:rPr lang="en-GB" sz="1600" dirty="0" err="1">
                <a:solidFill>
                  <a:srgbClr val="800000"/>
                </a:solidFill>
                <a:highlight>
                  <a:srgbClr val="FFFFFF"/>
                </a:highlight>
                <a:latin typeface="Times New Roman" panose="02020603050405020304" pitchFamily="18" charset="0"/>
                <a:cs typeface="Times New Roman" panose="02020603050405020304" pitchFamily="18" charset="0"/>
              </a:rPr>
              <a:t>Northwind;Integrated</a:t>
            </a:r>
            <a:r>
              <a:rPr lang="en-GB" sz="1600" dirty="0">
                <a:solidFill>
                  <a:srgbClr val="800000"/>
                </a:solidFill>
                <a:highlight>
                  <a:srgbClr val="FFFFFF"/>
                </a:highlight>
                <a:latin typeface="Times New Roman" panose="02020603050405020304" pitchFamily="18" charset="0"/>
                <a:cs typeface="Times New Roman" panose="02020603050405020304" pitchFamily="18" charset="0"/>
              </a:rPr>
              <a:t> Security=True" </a:t>
            </a:r>
            <a:r>
              <a:rPr lang="en-GB" sz="1600" dirty="0">
                <a:solidFill>
                  <a:srgbClr val="000000"/>
                </a:solidFill>
                <a:highlight>
                  <a:srgbClr val="FFFFFF"/>
                </a:highlight>
                <a:latin typeface="Consolas" panose="020B0609020204030204" pitchFamily="49" charset="0"/>
              </a:rPr>
              <a:t>))    </a:t>
            </a:r>
          </a:p>
          <a:p>
            <a:pPr marL="0" indent="0">
              <a:buNone/>
            </a:pPr>
            <a:r>
              <a:rPr lang="en-GB" sz="1600" dirty="0">
                <a:solidFill>
                  <a:srgbClr val="000000"/>
                </a:solidFill>
                <a:highlight>
                  <a:srgbClr val="FFFFFF"/>
                </a:highlight>
                <a:latin typeface="Consolas" panose="020B0609020204030204" pitchFamily="49" charset="0"/>
              </a:rPr>
              <a:t>   {</a:t>
            </a:r>
          </a:p>
          <a:p>
            <a:pPr marL="0" indent="0">
              <a:buNone/>
            </a:pPr>
            <a:r>
              <a:rPr lang="en-GB" sz="1600" dirty="0">
                <a:solidFill>
                  <a:schemeClr val="accent6">
                    <a:lumMod val="50000"/>
                  </a:schemeClr>
                </a:solidFill>
                <a:highlight>
                  <a:srgbClr val="FFFFFF"/>
                </a:highlight>
                <a:latin typeface="Consolas" panose="020B0609020204030204" pitchFamily="49" charset="0"/>
              </a:rPr>
              <a:t>	// Use the connection</a:t>
            </a:r>
            <a:br>
              <a:rPr lang="en-GB" sz="1600" dirty="0">
                <a:solidFill>
                  <a:schemeClr val="accent6">
                    <a:lumMod val="50000"/>
                  </a:schemeClr>
                </a:solidFill>
                <a:highlight>
                  <a:srgbClr val="FFFFFF"/>
                </a:highlight>
                <a:latin typeface="Consolas" panose="020B0609020204030204" pitchFamily="49" charset="0"/>
              </a:rPr>
            </a:br>
            <a:r>
              <a:rPr lang="en-GB" sz="1600" dirty="0">
                <a:solidFill>
                  <a:schemeClr val="accent6">
                    <a:lumMod val="50000"/>
                  </a:schemeClr>
                </a:solidFill>
                <a:highlight>
                  <a:srgbClr val="FFFFFF"/>
                </a:highlight>
                <a:latin typeface="Consolas" panose="020B0609020204030204" pitchFamily="49" charset="0"/>
              </a:rPr>
              <a:t>	// The system will implicitly Dispose and Close the connection on exit from this block of code.</a:t>
            </a:r>
          </a:p>
          <a:p>
            <a:pPr marL="0" indent="0">
              <a:buNone/>
            </a:pPr>
            <a:r>
              <a:rPr lang="en-GB" sz="1600" dirty="0">
                <a:solidFill>
                  <a:srgbClr val="000000"/>
                </a:solidFill>
                <a:highlight>
                  <a:srgbClr val="FFFFFF"/>
                </a:highlight>
                <a:latin typeface="Consolas" panose="020B0609020204030204" pitchFamily="49" charset="0"/>
              </a:rPr>
              <a:t>   }</a:t>
            </a:r>
            <a:endParaRPr lang="en-GB" sz="1662" kern="0" dirty="0"/>
          </a:p>
        </p:txBody>
      </p:sp>
      <p:sp>
        <p:nvSpPr>
          <p:cNvPr id="5" name="Rectangle 4"/>
          <p:cNvSpPr/>
          <p:nvPr/>
        </p:nvSpPr>
        <p:spPr>
          <a:xfrm>
            <a:off x="252113" y="5798551"/>
            <a:ext cx="11723548" cy="338554"/>
          </a:xfrm>
          <a:prstGeom prst="rect">
            <a:avLst/>
          </a:prstGeom>
          <a:solidFill>
            <a:schemeClr val="accent5">
              <a:lumMod val="20000"/>
              <a:lumOff val="80000"/>
            </a:schemeClr>
          </a:solidFill>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t>Data Source</a:t>
            </a:r>
            <a:r>
              <a:rPr lang="en-GB" sz="1600" dirty="0"/>
              <a:t>=</a:t>
            </a:r>
            <a:r>
              <a:rPr lang="en-GB" sz="1600" i="1" dirty="0" err="1"/>
              <a:t>ServerName</a:t>
            </a:r>
            <a:r>
              <a:rPr lang="en-GB" sz="1600" dirty="0"/>
              <a:t>; </a:t>
            </a:r>
            <a:r>
              <a:rPr lang="en-GB" sz="1600" b="1" dirty="0"/>
              <a:t>Initial  </a:t>
            </a:r>
            <a:r>
              <a:rPr lang="en-GB" sz="1600" b="1" dirty="0" err="1"/>
              <a:t>catalog</a:t>
            </a:r>
            <a:r>
              <a:rPr lang="en-GB" sz="1600" dirty="0"/>
              <a:t>=</a:t>
            </a:r>
            <a:r>
              <a:rPr lang="en-GB" sz="1600" i="1" dirty="0" err="1"/>
              <a:t>DatabaseName</a:t>
            </a:r>
            <a:r>
              <a:rPr lang="en-GB" sz="1600" dirty="0" err="1"/>
              <a:t>;</a:t>
            </a:r>
            <a:r>
              <a:rPr lang="en-GB" sz="1600" b="1" dirty="0" err="1"/>
              <a:t>User</a:t>
            </a:r>
            <a:r>
              <a:rPr lang="en-GB" sz="1600" b="1" dirty="0"/>
              <a:t> ID</a:t>
            </a:r>
            <a:r>
              <a:rPr lang="en-GB" sz="1600" dirty="0"/>
              <a:t>=</a:t>
            </a:r>
            <a:r>
              <a:rPr lang="en-GB" sz="1600" i="1" dirty="0" err="1"/>
              <a:t>UserName</a:t>
            </a:r>
            <a:r>
              <a:rPr lang="en-GB" sz="1600" dirty="0"/>
              <a:t>; </a:t>
            </a:r>
            <a:r>
              <a:rPr lang="en-GB" sz="1600" b="1" dirty="0"/>
              <a:t>Password</a:t>
            </a:r>
            <a:r>
              <a:rPr lang="en-GB" sz="1600" dirty="0"/>
              <a:t>= </a:t>
            </a:r>
            <a:r>
              <a:rPr lang="en-GB" sz="1600" i="1" dirty="0"/>
              <a:t>Password</a:t>
            </a:r>
          </a:p>
        </p:txBody>
      </p:sp>
    </p:spTree>
    <p:extLst>
      <p:ext uri="{BB962C8B-B14F-4D97-AF65-F5344CB8AC3E}">
        <p14:creationId xmlns:p14="http://schemas.microsoft.com/office/powerpoint/2010/main" val="2181268855"/>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p:txBody>
          <a:bodyPr/>
          <a:lstStyle/>
          <a:p>
            <a:pPr marL="316531" lvl="1" indent="-316531">
              <a:spcBef>
                <a:spcPts val="0"/>
              </a:spcBef>
              <a:spcAft>
                <a:spcPts val="1108"/>
              </a:spcAft>
              <a:buFont typeface="Wingdings 3" pitchFamily="18" charset="2"/>
              <a:buChar char="}"/>
            </a:pPr>
            <a:r>
              <a:rPr lang="en-GB" dirty="0"/>
              <a:t>Used to execute any command (Create/Read/Insert/Update/Delete)</a:t>
            </a:r>
          </a:p>
          <a:p>
            <a:pPr marL="685817" lvl="2" indent="-316531">
              <a:spcBef>
                <a:spcPts val="0"/>
              </a:spcBef>
              <a:spcAft>
                <a:spcPts val="1108"/>
              </a:spcAft>
              <a:buFont typeface="Wingdings 3" pitchFamily="18" charset="2"/>
              <a:buChar char="}"/>
            </a:pPr>
            <a:r>
              <a:rPr lang="en-GB" dirty="0"/>
              <a:t>To retrieve data a </a:t>
            </a:r>
            <a:r>
              <a:rPr lang="en-GB" dirty="0" err="1"/>
              <a:t>DataReader</a:t>
            </a:r>
            <a:r>
              <a:rPr lang="en-GB" dirty="0"/>
              <a:t> object is needed (seen later)</a:t>
            </a:r>
            <a:br>
              <a:rPr lang="en-GB" dirty="0"/>
            </a:br>
            <a:endParaRPr lang="en-GB" dirty="0"/>
          </a:p>
          <a:p>
            <a:pPr marL="316531" lvl="1" indent="-316531">
              <a:spcBef>
                <a:spcPts val="0"/>
              </a:spcBef>
              <a:spcAft>
                <a:spcPts val="1108"/>
              </a:spcAft>
              <a:buFont typeface="Wingdings 3" pitchFamily="18" charset="2"/>
              <a:buChar char="}"/>
            </a:pPr>
            <a:r>
              <a:rPr lang="en-GB" dirty="0"/>
              <a:t>ADO.NET distinguishes between different types of execution actions</a:t>
            </a:r>
          </a:p>
          <a:p>
            <a:pPr marL="685817" lvl="2" indent="-316531">
              <a:spcBef>
                <a:spcPts val="0"/>
              </a:spcBef>
              <a:spcAft>
                <a:spcPts val="1108"/>
              </a:spcAft>
              <a:buFont typeface="Wingdings 3" pitchFamily="18" charset="2"/>
              <a:buChar char="}"/>
            </a:pPr>
            <a:r>
              <a:rPr lang="en-GB" b="1" dirty="0" err="1">
                <a:solidFill>
                  <a:srgbClr val="333399"/>
                </a:solidFill>
                <a:latin typeface="Courier New" pitchFamily="49" charset="0"/>
                <a:cs typeface="Courier New" pitchFamily="49" charset="0"/>
              </a:rPr>
              <a:t>ExecuteReader</a:t>
            </a:r>
            <a:r>
              <a:rPr lang="en-GB" b="1" dirty="0">
                <a:solidFill>
                  <a:srgbClr val="333399"/>
                </a:solidFill>
                <a:latin typeface="Courier New" pitchFamily="49" charset="0"/>
                <a:cs typeface="Courier New" pitchFamily="49" charset="0"/>
              </a:rPr>
              <a:t>( )</a:t>
            </a:r>
            <a:r>
              <a:rPr lang="en-GB" dirty="0"/>
              <a:t>		To  read the result of a query </a:t>
            </a:r>
          </a:p>
          <a:p>
            <a:pPr marL="685817" lvl="2" indent="-316531">
              <a:spcBef>
                <a:spcPts val="0"/>
              </a:spcBef>
              <a:spcAft>
                <a:spcPts val="1108"/>
              </a:spcAft>
              <a:buFont typeface="Wingdings 3" pitchFamily="18" charset="2"/>
              <a:buChar char="}"/>
            </a:pPr>
            <a:r>
              <a:rPr lang="en-GB" b="1" dirty="0" err="1">
                <a:solidFill>
                  <a:srgbClr val="333399"/>
                </a:solidFill>
                <a:latin typeface="Courier New" pitchFamily="49" charset="0"/>
                <a:cs typeface="Courier New" pitchFamily="49" charset="0"/>
              </a:rPr>
              <a:t>ExecuteScalar</a:t>
            </a:r>
            <a:r>
              <a:rPr lang="en-GB" b="1" dirty="0">
                <a:solidFill>
                  <a:srgbClr val="333399"/>
                </a:solidFill>
                <a:latin typeface="Courier New" pitchFamily="49" charset="0"/>
                <a:cs typeface="Courier New" pitchFamily="49" charset="0"/>
              </a:rPr>
              <a:t>( )</a:t>
            </a:r>
            <a:r>
              <a:rPr lang="en-GB" dirty="0"/>
              <a:t>		To read a single scalar value back</a:t>
            </a:r>
          </a:p>
          <a:p>
            <a:pPr marL="685817" lvl="2" indent="-316531">
              <a:spcBef>
                <a:spcPts val="0"/>
              </a:spcBef>
              <a:spcAft>
                <a:spcPts val="1108"/>
              </a:spcAft>
              <a:buFont typeface="Wingdings 3" pitchFamily="18" charset="2"/>
              <a:buChar char="}"/>
            </a:pPr>
            <a:r>
              <a:rPr lang="en-GB" b="1" dirty="0" err="1">
                <a:solidFill>
                  <a:srgbClr val="333399"/>
                </a:solidFill>
                <a:latin typeface="Courier New" pitchFamily="49" charset="0"/>
                <a:cs typeface="Courier New" pitchFamily="49" charset="0"/>
              </a:rPr>
              <a:t>ExecuteNonQuery</a:t>
            </a:r>
            <a:r>
              <a:rPr lang="en-GB" b="1" dirty="0">
                <a:solidFill>
                  <a:srgbClr val="333399"/>
                </a:solidFill>
                <a:latin typeface="Courier New" pitchFamily="49" charset="0"/>
                <a:cs typeface="Courier New" pitchFamily="49" charset="0"/>
              </a:rPr>
              <a:t>( )</a:t>
            </a:r>
            <a:r>
              <a:rPr lang="en-GB" dirty="0"/>
              <a:t>		To update a database</a:t>
            </a:r>
          </a:p>
          <a:p>
            <a:pPr marL="685817" lvl="2" indent="-316531">
              <a:spcBef>
                <a:spcPts val="0"/>
              </a:spcBef>
              <a:spcAft>
                <a:spcPts val="1108"/>
              </a:spcAft>
              <a:buFont typeface="Wingdings 3" pitchFamily="18" charset="2"/>
              <a:buChar char="}"/>
            </a:pPr>
            <a:r>
              <a:rPr lang="en-GB" b="1" dirty="0" err="1">
                <a:solidFill>
                  <a:srgbClr val="333399"/>
                </a:solidFill>
                <a:latin typeface="Courier New" pitchFamily="49" charset="0"/>
                <a:cs typeface="Courier New" pitchFamily="49" charset="0"/>
              </a:rPr>
              <a:t>ExecuteXmlReader</a:t>
            </a:r>
            <a:r>
              <a:rPr lang="en-GB" b="1" dirty="0">
                <a:solidFill>
                  <a:srgbClr val="333399"/>
                </a:solidFill>
                <a:latin typeface="Courier New" pitchFamily="49" charset="0"/>
                <a:cs typeface="Courier New" pitchFamily="49" charset="0"/>
              </a:rPr>
              <a:t>( )</a:t>
            </a:r>
            <a:r>
              <a:rPr lang="en-GB" dirty="0"/>
              <a:t>		Read query returns XML</a:t>
            </a:r>
          </a:p>
          <a:p>
            <a:pPr marL="685817" lvl="2" indent="-316531">
              <a:spcBef>
                <a:spcPts val="0"/>
              </a:spcBef>
              <a:spcAft>
                <a:spcPts val="1108"/>
              </a:spcAft>
              <a:buFont typeface="Wingdings 3" pitchFamily="18" charset="2"/>
              <a:buChar char="}"/>
            </a:pPr>
            <a:endParaRPr lang="en-GB" dirty="0"/>
          </a:p>
          <a:p>
            <a:pPr marL="285767" lvl="1" indent="-316531">
              <a:spcBef>
                <a:spcPts val="0"/>
              </a:spcBef>
              <a:spcAft>
                <a:spcPts val="1108"/>
              </a:spcAft>
              <a:buFont typeface="Wingdings 3" pitchFamily="18" charset="2"/>
              <a:buChar char="}"/>
            </a:pPr>
            <a:r>
              <a:rPr lang="en-GB" dirty="0"/>
              <a:t>Let's explore these using code examples…</a:t>
            </a:r>
          </a:p>
          <a:p>
            <a:endParaRPr lang="en-GB" dirty="0"/>
          </a:p>
        </p:txBody>
      </p:sp>
      <p:sp>
        <p:nvSpPr>
          <p:cNvPr id="8" name="Title 7"/>
          <p:cNvSpPr>
            <a:spLocks noGrp="1"/>
          </p:cNvSpPr>
          <p:nvPr>
            <p:ph type="title"/>
          </p:nvPr>
        </p:nvSpPr>
        <p:spPr>
          <a:xfrm>
            <a:off x="190463" y="241429"/>
            <a:ext cx="11906291" cy="945854"/>
          </a:xfrm>
        </p:spPr>
        <p:txBody>
          <a:bodyPr>
            <a:normAutofit/>
          </a:bodyPr>
          <a:lstStyle/>
          <a:p>
            <a:pPr lvl="0"/>
            <a:r>
              <a:rPr lang="en-US" sz="3600" dirty="0">
                <a:solidFill>
                  <a:schemeClr val="tx1"/>
                </a:solidFill>
                <a:latin typeface="Krana Fat B" panose="00000B00000000000000" pitchFamily="50" charset="0"/>
              </a:rPr>
              <a:t>The Command object</a:t>
            </a:r>
            <a:endParaRPr lang="en-GB" sz="3600" dirty="0">
              <a:solidFill>
                <a:schemeClr val="tx1"/>
              </a:solidFill>
              <a:latin typeface="Krana Fat B" panose="00000B00000000000000" pitchFamily="50" charset="0"/>
            </a:endParaRPr>
          </a:p>
        </p:txBody>
      </p:sp>
    </p:spTree>
    <p:extLst>
      <p:ext uri="{BB962C8B-B14F-4D97-AF65-F5344CB8AC3E}">
        <p14:creationId xmlns:p14="http://schemas.microsoft.com/office/powerpoint/2010/main" val="3639811045"/>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5"/>
          </p:nvPr>
        </p:nvSpPr>
        <p:spPr>
          <a:xfrm>
            <a:off x="190463" y="928670"/>
            <a:ext cx="11715792" cy="5214974"/>
          </a:xfrm>
        </p:spPr>
        <p:txBody>
          <a:bodyPr/>
          <a:lstStyle/>
          <a:p>
            <a:pPr marL="316531" lvl="1" indent="-316531">
              <a:spcBef>
                <a:spcPts val="0"/>
              </a:spcBef>
              <a:spcAft>
                <a:spcPts val="1108"/>
              </a:spcAft>
              <a:buFont typeface="Wingdings 3" pitchFamily="18" charset="2"/>
              <a:buChar char="}"/>
            </a:pPr>
            <a:r>
              <a:rPr lang="en-GB" dirty="0"/>
              <a:t>Use a Command’s </a:t>
            </a:r>
            <a:r>
              <a:rPr lang="en-GB" b="1" dirty="0" err="1"/>
              <a:t>ExecuteReader</a:t>
            </a:r>
            <a:r>
              <a:rPr lang="en-GB" b="1" dirty="0"/>
              <a:t>( )</a:t>
            </a:r>
            <a:r>
              <a:rPr lang="en-GB" dirty="0"/>
              <a:t> method to read the result</a:t>
            </a:r>
          </a:p>
          <a:p>
            <a:pPr marL="316531" lvl="1" indent="-316531">
              <a:spcBef>
                <a:spcPts val="0"/>
              </a:spcBef>
              <a:spcAft>
                <a:spcPts val="1108"/>
              </a:spcAft>
              <a:buFont typeface="Wingdings 3" pitchFamily="18" charset="2"/>
              <a:buChar char="}"/>
            </a:pPr>
            <a:r>
              <a:rPr lang="en-GB" dirty="0" err="1"/>
              <a:t>DataReader</a:t>
            </a:r>
            <a:r>
              <a:rPr lang="en-GB" dirty="0"/>
              <a:t> gets one row at a time – fast, </a:t>
            </a:r>
            <a:r>
              <a:rPr lang="en-GB" b="1" dirty="0"/>
              <a:t>read-only</a:t>
            </a:r>
            <a:r>
              <a:rPr lang="en-GB" dirty="0"/>
              <a:t>, </a:t>
            </a:r>
            <a:r>
              <a:rPr lang="en-GB" b="1" dirty="0"/>
              <a:t>forward-only </a:t>
            </a:r>
            <a:r>
              <a:rPr lang="en-GB" dirty="0"/>
              <a:t>cursor</a:t>
            </a:r>
          </a:p>
          <a:p>
            <a:pPr marL="0" indent="0">
              <a:buNone/>
            </a:pPr>
            <a:endParaRPr lang="en-GB" dirty="0"/>
          </a:p>
        </p:txBody>
      </p:sp>
      <p:sp>
        <p:nvSpPr>
          <p:cNvPr id="8" name="Title 7"/>
          <p:cNvSpPr>
            <a:spLocks noGrp="1"/>
          </p:cNvSpPr>
          <p:nvPr>
            <p:ph type="title"/>
          </p:nvPr>
        </p:nvSpPr>
        <p:spPr>
          <a:xfrm>
            <a:off x="190463" y="227829"/>
            <a:ext cx="12249191" cy="1357334"/>
          </a:xfrm>
        </p:spPr>
        <p:txBody>
          <a:bodyPr>
            <a:normAutofit/>
          </a:bodyPr>
          <a:lstStyle/>
          <a:p>
            <a:pPr lvl="0"/>
            <a:r>
              <a:rPr lang="en-US" sz="4000" dirty="0">
                <a:solidFill>
                  <a:schemeClr val="tx1"/>
                </a:solidFill>
                <a:latin typeface="Krana Fat B" panose="00000B00000000000000" pitchFamily="50" charset="0"/>
              </a:rPr>
              <a:t>Reading data using a </a:t>
            </a:r>
            <a:r>
              <a:rPr lang="en-US" sz="4000" dirty="0" err="1">
                <a:solidFill>
                  <a:schemeClr val="tx1"/>
                </a:solidFill>
                <a:latin typeface="Krana Fat B" panose="00000B00000000000000" pitchFamily="50" charset="0"/>
              </a:rPr>
              <a:t>DataReader</a:t>
            </a:r>
            <a:endParaRPr lang="en-GB" sz="4000" dirty="0">
              <a:solidFill>
                <a:schemeClr val="tx1"/>
              </a:solidFill>
              <a:latin typeface="Krana Fat B" panose="00000B00000000000000" pitchFamily="50" charset="0"/>
            </a:endParaRPr>
          </a:p>
        </p:txBody>
      </p:sp>
      <p:sp>
        <p:nvSpPr>
          <p:cNvPr id="5" name="Rectangle 4"/>
          <p:cNvSpPr/>
          <p:nvPr/>
        </p:nvSpPr>
        <p:spPr>
          <a:xfrm>
            <a:off x="565572" y="2380166"/>
            <a:ext cx="10875573" cy="3785652"/>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00" b="1" dirty="0">
                <a:solidFill>
                  <a:srgbClr val="0000FF"/>
                </a:solidFill>
                <a:latin typeface="Consolas"/>
              </a:rPr>
              <a:t>static</a:t>
            </a:r>
            <a:r>
              <a:rPr lang="en-GB" sz="1600" b="1" dirty="0">
                <a:solidFill>
                  <a:srgbClr val="000000"/>
                </a:solidFill>
                <a:latin typeface="Consolas"/>
              </a:rPr>
              <a:t> </a:t>
            </a:r>
            <a:r>
              <a:rPr lang="en-GB" sz="1600" b="1" dirty="0">
                <a:solidFill>
                  <a:srgbClr val="0000FF"/>
                </a:solidFill>
                <a:latin typeface="Consolas"/>
              </a:rPr>
              <a:t>void</a:t>
            </a:r>
            <a:r>
              <a:rPr lang="en-GB" sz="1600" b="1" dirty="0">
                <a:solidFill>
                  <a:srgbClr val="000000"/>
                </a:solidFill>
                <a:latin typeface="Consolas"/>
              </a:rPr>
              <a:t> Main(</a:t>
            </a:r>
            <a:r>
              <a:rPr lang="en-GB" sz="1600" b="1" dirty="0">
                <a:solidFill>
                  <a:srgbClr val="0000FF"/>
                </a:solidFill>
                <a:latin typeface="Consolas"/>
              </a:rPr>
              <a:t>string</a:t>
            </a:r>
            <a:r>
              <a:rPr lang="en-GB" sz="1600" b="1" dirty="0">
                <a:solidFill>
                  <a:srgbClr val="000000"/>
                </a:solidFill>
                <a:latin typeface="Consolas"/>
              </a:rPr>
              <a:t>[] </a:t>
            </a:r>
            <a:r>
              <a:rPr lang="en-GB" sz="1600" b="1" dirty="0" err="1">
                <a:solidFill>
                  <a:srgbClr val="000000"/>
                </a:solidFill>
                <a:latin typeface="Consolas"/>
              </a:rPr>
              <a:t>args</a:t>
            </a:r>
            <a:r>
              <a:rPr lang="en-GB" sz="1600" b="1" dirty="0">
                <a:solidFill>
                  <a:srgbClr val="000000"/>
                </a:solidFill>
                <a:latin typeface="Consolas"/>
              </a:rPr>
              <a:t>)</a:t>
            </a:r>
          </a:p>
          <a:p>
            <a:r>
              <a:rPr lang="en-GB" sz="1600" b="1" dirty="0">
                <a:solidFill>
                  <a:srgbClr val="000000"/>
                </a:solidFill>
                <a:latin typeface="Consolas"/>
              </a:rPr>
              <a:t>{</a:t>
            </a:r>
          </a:p>
          <a:p>
            <a:r>
              <a:rPr lang="en-GB" sz="1600" b="1" dirty="0">
                <a:solidFill>
                  <a:srgbClr val="000000"/>
                </a:solidFill>
                <a:latin typeface="Consolas"/>
              </a:rPr>
              <a:t>    </a:t>
            </a:r>
            <a:r>
              <a:rPr lang="en-GB" sz="1600" b="1" dirty="0" err="1">
                <a:solidFill>
                  <a:srgbClr val="000000"/>
                </a:solidFill>
                <a:latin typeface="Consolas"/>
              </a:rPr>
              <a:t>SqlConnection</a:t>
            </a:r>
            <a:r>
              <a:rPr lang="en-GB" sz="1600" b="1" dirty="0">
                <a:solidFill>
                  <a:srgbClr val="000000"/>
                </a:solidFill>
                <a:latin typeface="Consolas"/>
              </a:rPr>
              <a:t> </a:t>
            </a:r>
            <a:r>
              <a:rPr lang="en-GB" sz="1600" b="1" dirty="0" err="1">
                <a:solidFill>
                  <a:srgbClr val="000000"/>
                </a:solidFill>
                <a:latin typeface="Consolas"/>
              </a:rPr>
              <a:t>Cn</a:t>
            </a:r>
            <a:r>
              <a:rPr lang="en-GB" sz="1600" b="1" dirty="0">
                <a:solidFill>
                  <a:srgbClr val="000000"/>
                </a:solidFill>
                <a:latin typeface="Consolas"/>
              </a:rPr>
              <a:t> = </a:t>
            </a:r>
            <a:r>
              <a:rPr lang="en-GB" sz="1600" b="1" dirty="0">
                <a:solidFill>
                  <a:srgbClr val="0000FF"/>
                </a:solidFill>
                <a:latin typeface="Consolas"/>
              </a:rPr>
              <a:t>new</a:t>
            </a:r>
            <a:r>
              <a:rPr lang="en-GB" sz="1600" b="1" dirty="0">
                <a:solidFill>
                  <a:srgbClr val="000000"/>
                </a:solidFill>
                <a:latin typeface="Consolas"/>
              </a:rPr>
              <a:t> </a:t>
            </a:r>
            <a:r>
              <a:rPr lang="en-GB" sz="1600" b="1" dirty="0" err="1">
                <a:solidFill>
                  <a:srgbClr val="000000"/>
                </a:solidFill>
                <a:latin typeface="Consolas"/>
              </a:rPr>
              <a:t>SqlConnection</a:t>
            </a:r>
            <a:r>
              <a:rPr lang="en-GB" sz="1600" b="1" dirty="0">
                <a:solidFill>
                  <a:srgbClr val="000000"/>
                </a:solidFill>
                <a:latin typeface="Consolas"/>
              </a:rPr>
              <a:t>(</a:t>
            </a:r>
          </a:p>
          <a:p>
            <a:r>
              <a:rPr lang="en-GB" sz="1600" b="1" dirty="0">
                <a:solidFill>
                  <a:srgbClr val="000000"/>
                </a:solidFill>
                <a:latin typeface="Consolas"/>
              </a:rPr>
              <a:t>        </a:t>
            </a:r>
            <a:r>
              <a:rPr lang="en-GB" sz="1600" b="1" dirty="0">
                <a:solidFill>
                  <a:srgbClr val="800000"/>
                </a:solidFill>
                <a:latin typeface="Consolas"/>
              </a:rPr>
              <a:t>@"Data Source=.\</a:t>
            </a:r>
            <a:r>
              <a:rPr lang="en-GB" sz="1600" b="1" dirty="0" err="1">
                <a:solidFill>
                  <a:srgbClr val="800000"/>
                </a:solidFill>
                <a:latin typeface="Consolas"/>
              </a:rPr>
              <a:t>sqlexpress;Initial</a:t>
            </a:r>
            <a:r>
              <a:rPr lang="en-GB" sz="1600" b="1" dirty="0">
                <a:solidFill>
                  <a:srgbClr val="800000"/>
                </a:solidFill>
                <a:latin typeface="Consolas"/>
              </a:rPr>
              <a:t> </a:t>
            </a:r>
            <a:r>
              <a:rPr lang="en-GB" sz="1600" b="1" dirty="0" err="1">
                <a:solidFill>
                  <a:srgbClr val="800000"/>
                </a:solidFill>
                <a:latin typeface="Consolas"/>
              </a:rPr>
              <a:t>Catalog</a:t>
            </a:r>
            <a:r>
              <a:rPr lang="en-GB" sz="1600" b="1" dirty="0">
                <a:solidFill>
                  <a:srgbClr val="800000"/>
                </a:solidFill>
                <a:latin typeface="Consolas"/>
              </a:rPr>
              <a:t>=</a:t>
            </a:r>
            <a:r>
              <a:rPr lang="en-GB" sz="1600" b="1" dirty="0" err="1">
                <a:solidFill>
                  <a:srgbClr val="800000"/>
                </a:solidFill>
                <a:latin typeface="Consolas"/>
              </a:rPr>
              <a:t>Northwind;Integrated</a:t>
            </a:r>
            <a:r>
              <a:rPr lang="en-GB" sz="1600" b="1" dirty="0">
                <a:solidFill>
                  <a:srgbClr val="800000"/>
                </a:solidFill>
                <a:latin typeface="Consolas"/>
              </a:rPr>
              <a:t> Security=True"</a:t>
            </a:r>
            <a:r>
              <a:rPr lang="en-GB" sz="1600" b="1" dirty="0">
                <a:solidFill>
                  <a:srgbClr val="000000"/>
                </a:solidFill>
                <a:latin typeface="Consolas"/>
              </a:rPr>
              <a:t>);</a:t>
            </a:r>
          </a:p>
          <a:p>
            <a:endParaRPr lang="en-GB" sz="1600" b="1" dirty="0">
              <a:solidFill>
                <a:srgbClr val="000000"/>
              </a:solidFill>
              <a:latin typeface="Consolas"/>
            </a:endParaRPr>
          </a:p>
          <a:p>
            <a:r>
              <a:rPr lang="en-GB" sz="1600" b="1" dirty="0">
                <a:solidFill>
                  <a:srgbClr val="000000"/>
                </a:solidFill>
                <a:latin typeface="Consolas"/>
              </a:rPr>
              <a:t>    </a:t>
            </a:r>
            <a:r>
              <a:rPr lang="en-GB" sz="1600" b="1" dirty="0" err="1">
                <a:solidFill>
                  <a:srgbClr val="000000"/>
                </a:solidFill>
                <a:latin typeface="Consolas"/>
              </a:rPr>
              <a:t>SqlCommand</a:t>
            </a:r>
            <a:r>
              <a:rPr lang="en-GB" sz="1600" b="1" dirty="0">
                <a:solidFill>
                  <a:srgbClr val="000000"/>
                </a:solidFill>
                <a:latin typeface="Consolas"/>
              </a:rPr>
              <a:t> Com = </a:t>
            </a:r>
            <a:r>
              <a:rPr lang="en-GB" sz="1600" b="1" dirty="0">
                <a:solidFill>
                  <a:srgbClr val="0000FF"/>
                </a:solidFill>
                <a:latin typeface="Consolas"/>
              </a:rPr>
              <a:t>new</a:t>
            </a:r>
            <a:r>
              <a:rPr lang="en-GB" sz="1600" b="1" dirty="0">
                <a:solidFill>
                  <a:srgbClr val="000000"/>
                </a:solidFill>
                <a:latin typeface="Consolas"/>
              </a:rPr>
              <a:t> </a:t>
            </a:r>
            <a:r>
              <a:rPr lang="en-GB" sz="1600" b="1" dirty="0" err="1">
                <a:solidFill>
                  <a:srgbClr val="000000"/>
                </a:solidFill>
                <a:latin typeface="Consolas"/>
              </a:rPr>
              <a:t>SqlCommand</a:t>
            </a:r>
            <a:r>
              <a:rPr lang="en-GB" sz="1600" b="1" dirty="0">
                <a:solidFill>
                  <a:srgbClr val="000000"/>
                </a:solidFill>
                <a:latin typeface="Consolas"/>
              </a:rPr>
              <a:t>(</a:t>
            </a:r>
            <a:r>
              <a:rPr lang="en-GB" sz="1600" b="1" dirty="0">
                <a:solidFill>
                  <a:srgbClr val="A31515"/>
                </a:solidFill>
                <a:latin typeface="Consolas"/>
              </a:rPr>
              <a:t>"SELECT * FROM customers"</a:t>
            </a:r>
            <a:r>
              <a:rPr lang="en-GB" sz="1600" b="1" dirty="0">
                <a:solidFill>
                  <a:srgbClr val="000000"/>
                </a:solidFill>
                <a:latin typeface="Consolas"/>
              </a:rPr>
              <a:t>, </a:t>
            </a:r>
            <a:r>
              <a:rPr lang="en-GB" sz="1600" b="1" dirty="0" err="1">
                <a:solidFill>
                  <a:srgbClr val="000000"/>
                </a:solidFill>
                <a:latin typeface="Consolas"/>
              </a:rPr>
              <a:t>Cn</a:t>
            </a:r>
            <a:r>
              <a:rPr lang="en-GB" sz="1600" b="1" dirty="0">
                <a:solidFill>
                  <a:srgbClr val="000000"/>
                </a:solidFill>
                <a:latin typeface="Consolas"/>
              </a:rPr>
              <a:t>);</a:t>
            </a:r>
          </a:p>
          <a:p>
            <a:r>
              <a:rPr lang="en-GB" sz="1600" b="1" dirty="0">
                <a:solidFill>
                  <a:srgbClr val="000000"/>
                </a:solidFill>
                <a:latin typeface="Consolas"/>
              </a:rPr>
              <a:t>    </a:t>
            </a:r>
            <a:r>
              <a:rPr lang="en-GB" sz="1600" b="1" dirty="0" err="1">
                <a:solidFill>
                  <a:srgbClr val="000000"/>
                </a:solidFill>
                <a:latin typeface="Consolas"/>
              </a:rPr>
              <a:t>Cn.Open</a:t>
            </a:r>
            <a:r>
              <a:rPr lang="en-GB" sz="1600" b="1" dirty="0">
                <a:solidFill>
                  <a:srgbClr val="000000"/>
                </a:solidFill>
                <a:latin typeface="Consolas"/>
              </a:rPr>
              <a:t>();</a:t>
            </a:r>
          </a:p>
          <a:p>
            <a:endParaRPr lang="en-GB" sz="1600" b="1" dirty="0">
              <a:solidFill>
                <a:srgbClr val="000000"/>
              </a:solidFill>
              <a:latin typeface="Consolas"/>
            </a:endParaRPr>
          </a:p>
          <a:p>
            <a:r>
              <a:rPr lang="en-GB" sz="1600" b="1" dirty="0">
                <a:solidFill>
                  <a:srgbClr val="000000"/>
                </a:solidFill>
                <a:latin typeface="Consolas"/>
              </a:rPr>
              <a:t>    </a:t>
            </a:r>
            <a:r>
              <a:rPr lang="en-GB" sz="1600" b="1" dirty="0" err="1">
                <a:solidFill>
                  <a:srgbClr val="000000"/>
                </a:solidFill>
                <a:latin typeface="Consolas"/>
              </a:rPr>
              <a:t>SqlDataReader</a:t>
            </a:r>
            <a:r>
              <a:rPr lang="en-GB" sz="1600" b="1" dirty="0">
                <a:solidFill>
                  <a:srgbClr val="000000"/>
                </a:solidFill>
                <a:latin typeface="Consolas"/>
              </a:rPr>
              <a:t> Dr = </a:t>
            </a:r>
            <a:r>
              <a:rPr lang="en-GB" sz="1600" b="1" dirty="0" err="1">
                <a:solidFill>
                  <a:srgbClr val="000000"/>
                </a:solidFill>
                <a:latin typeface="Consolas"/>
              </a:rPr>
              <a:t>Com.ExecuteReader</a:t>
            </a:r>
            <a:r>
              <a:rPr lang="en-GB" sz="1600" b="1" dirty="0">
                <a:solidFill>
                  <a:srgbClr val="000000"/>
                </a:solidFill>
                <a:latin typeface="Consolas"/>
              </a:rPr>
              <a:t>();</a:t>
            </a:r>
          </a:p>
          <a:p>
            <a:r>
              <a:rPr lang="en-GB" sz="1600" b="1" dirty="0">
                <a:solidFill>
                  <a:srgbClr val="000000"/>
                </a:solidFill>
                <a:latin typeface="Consolas"/>
              </a:rPr>
              <a:t>    </a:t>
            </a:r>
            <a:r>
              <a:rPr lang="en-GB" sz="1600" b="1" dirty="0">
                <a:solidFill>
                  <a:srgbClr val="0000FF"/>
                </a:solidFill>
                <a:latin typeface="Consolas"/>
              </a:rPr>
              <a:t>while</a:t>
            </a:r>
            <a:r>
              <a:rPr lang="en-GB" sz="1600" b="1" dirty="0">
                <a:solidFill>
                  <a:srgbClr val="000000"/>
                </a:solidFill>
                <a:latin typeface="Consolas"/>
              </a:rPr>
              <a:t> (</a:t>
            </a:r>
            <a:r>
              <a:rPr lang="en-GB" sz="1600" b="1" dirty="0" err="1">
                <a:solidFill>
                  <a:srgbClr val="000000"/>
                </a:solidFill>
                <a:latin typeface="Consolas"/>
              </a:rPr>
              <a:t>Dr.Read</a:t>
            </a:r>
            <a:r>
              <a:rPr lang="en-GB" sz="1600" b="1" dirty="0">
                <a:solidFill>
                  <a:srgbClr val="000000"/>
                </a:solidFill>
                <a:latin typeface="Consolas"/>
              </a:rPr>
              <a:t>())</a:t>
            </a:r>
          </a:p>
          <a:p>
            <a:r>
              <a:rPr lang="en-GB" sz="1600" b="1" dirty="0">
                <a:solidFill>
                  <a:srgbClr val="000000"/>
                </a:solidFill>
                <a:latin typeface="Consolas"/>
              </a:rPr>
              <a:t>    {</a:t>
            </a:r>
          </a:p>
          <a:p>
            <a:r>
              <a:rPr lang="en-GB" sz="1600" b="1" dirty="0">
                <a:solidFill>
                  <a:srgbClr val="000000"/>
                </a:solidFill>
                <a:latin typeface="Consolas"/>
              </a:rPr>
              <a:t>        </a:t>
            </a:r>
            <a:r>
              <a:rPr lang="en-GB" sz="1600" b="1" dirty="0" err="1">
                <a:solidFill>
                  <a:srgbClr val="000000"/>
                </a:solidFill>
                <a:latin typeface="Consolas"/>
              </a:rPr>
              <a:t>Console.WriteLine</a:t>
            </a:r>
            <a:r>
              <a:rPr lang="en-GB" sz="1600" b="1" dirty="0">
                <a:solidFill>
                  <a:srgbClr val="000000"/>
                </a:solidFill>
                <a:latin typeface="Consolas"/>
              </a:rPr>
              <a:t>(Dr[0] + </a:t>
            </a:r>
            <a:r>
              <a:rPr lang="en-GB" sz="1600" b="1" dirty="0">
                <a:solidFill>
                  <a:srgbClr val="A31515"/>
                </a:solidFill>
                <a:latin typeface="Consolas"/>
              </a:rPr>
              <a:t>" - "</a:t>
            </a:r>
            <a:r>
              <a:rPr lang="en-GB" sz="1600" b="1" dirty="0">
                <a:solidFill>
                  <a:srgbClr val="000000"/>
                </a:solidFill>
                <a:latin typeface="Consolas"/>
              </a:rPr>
              <a:t> + Dr[</a:t>
            </a:r>
            <a:r>
              <a:rPr lang="en-GB" sz="1600" b="1" dirty="0">
                <a:solidFill>
                  <a:srgbClr val="A31515"/>
                </a:solidFill>
                <a:latin typeface="Consolas"/>
              </a:rPr>
              <a:t>"</a:t>
            </a:r>
            <a:r>
              <a:rPr lang="en-GB" sz="1600" b="1" dirty="0" err="1">
                <a:solidFill>
                  <a:srgbClr val="A31515"/>
                </a:solidFill>
                <a:latin typeface="Consolas"/>
              </a:rPr>
              <a:t>contactName</a:t>
            </a:r>
            <a:r>
              <a:rPr lang="en-GB" sz="1600" b="1" dirty="0">
                <a:solidFill>
                  <a:srgbClr val="A31515"/>
                </a:solidFill>
                <a:latin typeface="Consolas"/>
              </a:rPr>
              <a:t>"</a:t>
            </a:r>
            <a:r>
              <a:rPr lang="en-GB" sz="1600" b="1" dirty="0">
                <a:solidFill>
                  <a:srgbClr val="000000"/>
                </a:solidFill>
                <a:latin typeface="Consolas"/>
              </a:rPr>
              <a:t>]);</a:t>
            </a:r>
          </a:p>
          <a:p>
            <a:r>
              <a:rPr lang="en-GB" sz="1600" b="1" dirty="0">
                <a:solidFill>
                  <a:srgbClr val="000000"/>
                </a:solidFill>
                <a:latin typeface="Consolas"/>
              </a:rPr>
              <a:t>    }</a:t>
            </a:r>
          </a:p>
          <a:p>
            <a:r>
              <a:rPr lang="en-GB" sz="1600" b="1" dirty="0">
                <a:solidFill>
                  <a:srgbClr val="000000"/>
                </a:solidFill>
                <a:latin typeface="Consolas"/>
              </a:rPr>
              <a:t>    </a:t>
            </a:r>
            <a:r>
              <a:rPr lang="en-GB" sz="1600" b="1" dirty="0" err="1">
                <a:solidFill>
                  <a:srgbClr val="000000"/>
                </a:solidFill>
                <a:latin typeface="Consolas"/>
              </a:rPr>
              <a:t>Cn.Close</a:t>
            </a:r>
            <a:r>
              <a:rPr lang="en-GB" sz="1600" b="1" dirty="0">
                <a:solidFill>
                  <a:srgbClr val="000000"/>
                </a:solidFill>
                <a:latin typeface="Consolas"/>
              </a:rPr>
              <a:t>();</a:t>
            </a:r>
          </a:p>
          <a:p>
            <a:r>
              <a:rPr lang="en-GB" sz="1600" b="1" dirty="0">
                <a:solidFill>
                  <a:srgbClr val="000000"/>
                </a:solidFill>
                <a:latin typeface="Consolas"/>
              </a:rPr>
              <a:t>}</a:t>
            </a:r>
          </a:p>
        </p:txBody>
      </p:sp>
      <p:sp>
        <p:nvSpPr>
          <p:cNvPr id="6" name="Rounded Rectangular Callout 5"/>
          <p:cNvSpPr/>
          <p:nvPr/>
        </p:nvSpPr>
        <p:spPr bwMode="auto">
          <a:xfrm>
            <a:off x="2496488" y="5613695"/>
            <a:ext cx="2619707" cy="458484"/>
          </a:xfrm>
          <a:prstGeom prst="wedgeRoundRectCallout">
            <a:avLst>
              <a:gd name="adj1" fmla="val 10127"/>
              <a:gd name="adj2" fmla="val -82852"/>
              <a:gd name="adj3" fmla="val 16667"/>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84406" tIns="42203" rIns="84406" bIns="42203" numCol="1" rtlCol="0" anchor="t" anchorCtr="0" compatLnSpc="1">
            <a:prstTxWarp prst="textNoShape">
              <a:avLst/>
            </a:prstTxWarp>
          </a:bodyPr>
          <a:lstStyle/>
          <a:p>
            <a:pPr defTabSz="844083" eaLnBrk="0" hangingPunct="0"/>
            <a:r>
              <a:rPr lang="en-GB" sz="1477" dirty="0">
                <a:solidFill>
                  <a:schemeClr val="tx1"/>
                </a:solidFill>
                <a:latin typeface="Arial" charset="0"/>
                <a:ea typeface="ヒラギノ角ゴ Pro W3" pitchFamily="-112" charset="-128"/>
              </a:rPr>
              <a:t>Access by index (column no)</a:t>
            </a:r>
            <a:endParaRPr lang="en-GB" sz="1662" dirty="0">
              <a:solidFill>
                <a:schemeClr val="tx1"/>
              </a:solidFill>
              <a:latin typeface="Arial" charset="0"/>
              <a:ea typeface="ヒラギノ角ゴ Pro W3" pitchFamily="-112" charset="-128"/>
            </a:endParaRPr>
          </a:p>
        </p:txBody>
      </p:sp>
      <p:sp>
        <p:nvSpPr>
          <p:cNvPr id="7" name="Rounded Rectangular Callout 6"/>
          <p:cNvSpPr/>
          <p:nvPr/>
        </p:nvSpPr>
        <p:spPr bwMode="auto">
          <a:xfrm>
            <a:off x="5764502" y="5613695"/>
            <a:ext cx="2858985" cy="450733"/>
          </a:xfrm>
          <a:prstGeom prst="wedgeRoundRectCallout">
            <a:avLst>
              <a:gd name="adj1" fmla="val -33409"/>
              <a:gd name="adj2" fmla="val -84267"/>
              <a:gd name="adj3" fmla="val 16667"/>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84406" tIns="42203" rIns="84406" bIns="42203" numCol="1" rtlCol="0" anchor="t" anchorCtr="0" compatLnSpc="1">
            <a:prstTxWarp prst="textNoShape">
              <a:avLst/>
            </a:prstTxWarp>
          </a:bodyPr>
          <a:lstStyle/>
          <a:p>
            <a:pPr defTabSz="844083" eaLnBrk="0" hangingPunct="0"/>
            <a:r>
              <a:rPr lang="en-GB" sz="1477" dirty="0">
                <a:solidFill>
                  <a:schemeClr val="tx1"/>
                </a:solidFill>
                <a:latin typeface="Arial" charset="0"/>
                <a:ea typeface="ヒラギノ角ゴ Pro W3" pitchFamily="-112" charset="-128"/>
              </a:rPr>
              <a:t>Or use the column name</a:t>
            </a:r>
            <a:endParaRPr lang="en-GB" sz="1662" dirty="0">
              <a:solidFill>
                <a:schemeClr val="tx1"/>
              </a:solidFill>
              <a:latin typeface="Arial" charset="0"/>
              <a:ea typeface="ヒラギノ角ゴ Pro W3" pitchFamily="-112" charset="-128"/>
            </a:endParaRPr>
          </a:p>
        </p:txBody>
      </p:sp>
    </p:spTree>
    <p:extLst>
      <p:ext uri="{BB962C8B-B14F-4D97-AF65-F5344CB8AC3E}">
        <p14:creationId xmlns:p14="http://schemas.microsoft.com/office/powerpoint/2010/main" val="4156553478"/>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5"/>
          </p:nvPr>
        </p:nvSpPr>
        <p:spPr>
          <a:xfrm>
            <a:off x="190463" y="928670"/>
            <a:ext cx="11715792" cy="5214974"/>
          </a:xfrm>
        </p:spPr>
        <p:txBody>
          <a:bodyPr/>
          <a:lstStyle/>
          <a:p>
            <a:pPr marL="342900" lvl="1" indent="-342900"/>
            <a:r>
              <a:rPr lang="en-GB" dirty="0"/>
              <a:t>Use a Command object to update a database</a:t>
            </a:r>
          </a:p>
        </p:txBody>
      </p:sp>
      <p:sp>
        <p:nvSpPr>
          <p:cNvPr id="8" name="Title 7"/>
          <p:cNvSpPr>
            <a:spLocks noGrp="1"/>
          </p:cNvSpPr>
          <p:nvPr>
            <p:ph type="title"/>
          </p:nvPr>
        </p:nvSpPr>
        <p:spPr>
          <a:xfrm>
            <a:off x="190463" y="268566"/>
            <a:ext cx="11715832" cy="660104"/>
          </a:xfrm>
        </p:spPr>
        <p:txBody>
          <a:bodyPr>
            <a:normAutofit/>
          </a:bodyPr>
          <a:lstStyle/>
          <a:p>
            <a:pPr lvl="0"/>
            <a:r>
              <a:rPr lang="en-US" sz="3600" dirty="0">
                <a:solidFill>
                  <a:schemeClr val="tx1"/>
                </a:solidFill>
                <a:latin typeface="Krana Fat B" panose="00000B00000000000000" pitchFamily="50" charset="0"/>
              </a:rPr>
              <a:t>How to update databases?</a:t>
            </a:r>
            <a:endParaRPr lang="en-GB" sz="3600" dirty="0">
              <a:solidFill>
                <a:schemeClr val="tx1"/>
              </a:solidFill>
              <a:latin typeface="Krana Fat B" panose="00000B00000000000000" pitchFamily="50" charset="0"/>
            </a:endParaRPr>
          </a:p>
        </p:txBody>
      </p:sp>
      <p:sp>
        <p:nvSpPr>
          <p:cNvPr id="5" name="Rectangle 4"/>
          <p:cNvSpPr/>
          <p:nvPr/>
        </p:nvSpPr>
        <p:spPr>
          <a:xfrm>
            <a:off x="329797" y="1691828"/>
            <a:ext cx="11485936" cy="3161635"/>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62" b="1" dirty="0" err="1">
                <a:solidFill>
                  <a:srgbClr val="333399"/>
                </a:solidFill>
                <a:latin typeface="Consolas"/>
              </a:rPr>
              <a:t>SqlConnection</a:t>
            </a:r>
            <a:r>
              <a:rPr lang="en-GB" sz="1662" b="1" dirty="0">
                <a:solidFill>
                  <a:srgbClr val="333399"/>
                </a:solidFill>
                <a:latin typeface="Consolas"/>
              </a:rPr>
              <a:t> </a:t>
            </a:r>
            <a:r>
              <a:rPr lang="en-GB" sz="1662" b="1" dirty="0" err="1">
                <a:solidFill>
                  <a:schemeClr val="tx1"/>
                </a:solidFill>
                <a:latin typeface="Consolas"/>
              </a:rPr>
              <a:t>Cn</a:t>
            </a:r>
            <a:r>
              <a:rPr lang="en-GB" sz="1662" b="1" dirty="0">
                <a:solidFill>
                  <a:schemeClr val="tx1"/>
                </a:solidFill>
                <a:latin typeface="Consolas"/>
              </a:rPr>
              <a:t>;</a:t>
            </a:r>
            <a:r>
              <a:rPr lang="en-GB" sz="1662" b="1" dirty="0">
                <a:solidFill>
                  <a:srgbClr val="333399"/>
                </a:solidFill>
                <a:latin typeface="Consolas"/>
              </a:rPr>
              <a:t>    </a:t>
            </a:r>
            <a:r>
              <a:rPr lang="en-GB" sz="1662" b="1" dirty="0">
                <a:solidFill>
                  <a:srgbClr val="00B050"/>
                </a:solidFill>
                <a:latin typeface="Consolas"/>
              </a:rPr>
              <a:t>// then instantiate the connection object</a:t>
            </a:r>
            <a:endParaRPr lang="en-GB" sz="1662" b="1" dirty="0">
              <a:solidFill>
                <a:srgbClr val="333399"/>
              </a:solidFill>
              <a:latin typeface="Consolas"/>
            </a:endParaRPr>
          </a:p>
          <a:p>
            <a:endParaRPr lang="en-GB" sz="1662" b="1" dirty="0">
              <a:solidFill>
                <a:srgbClr val="00B050"/>
              </a:solidFill>
              <a:latin typeface="Consolas"/>
            </a:endParaRPr>
          </a:p>
          <a:p>
            <a:r>
              <a:rPr lang="en-GB" sz="1662" b="1" dirty="0" err="1">
                <a:solidFill>
                  <a:srgbClr val="333399"/>
                </a:solidFill>
                <a:latin typeface="Consolas"/>
              </a:rPr>
              <a:t>SqlCommand</a:t>
            </a:r>
            <a:r>
              <a:rPr lang="en-GB" sz="1662" b="1" dirty="0">
                <a:solidFill>
                  <a:srgbClr val="333399"/>
                </a:solidFill>
                <a:latin typeface="Consolas"/>
              </a:rPr>
              <a:t> </a:t>
            </a:r>
            <a:r>
              <a:rPr lang="en-GB" sz="1662" b="1" dirty="0">
                <a:solidFill>
                  <a:schemeClr val="tx1"/>
                </a:solidFill>
                <a:latin typeface="Consolas"/>
              </a:rPr>
              <a:t>Com</a:t>
            </a:r>
            <a:r>
              <a:rPr lang="en-GB" sz="1662" b="1" dirty="0">
                <a:solidFill>
                  <a:srgbClr val="2B91AF"/>
                </a:solidFill>
                <a:latin typeface="Consolas"/>
              </a:rPr>
              <a:t> = </a:t>
            </a:r>
            <a:r>
              <a:rPr lang="en-GB" sz="1662" b="1" dirty="0">
                <a:solidFill>
                  <a:srgbClr val="0000FF"/>
                </a:solidFill>
                <a:latin typeface="Consolas"/>
              </a:rPr>
              <a:t>new </a:t>
            </a:r>
            <a:r>
              <a:rPr lang="en-GB" sz="1662" b="1" dirty="0" err="1">
                <a:solidFill>
                  <a:srgbClr val="333399"/>
                </a:solidFill>
                <a:latin typeface="Consolas"/>
              </a:rPr>
              <a:t>SqlCommand</a:t>
            </a:r>
            <a:r>
              <a:rPr lang="en-GB" sz="1662" b="1" dirty="0">
                <a:solidFill>
                  <a:srgbClr val="333399"/>
                </a:solidFill>
                <a:latin typeface="Consolas"/>
              </a:rPr>
              <a:t> (</a:t>
            </a:r>
            <a:br>
              <a:rPr lang="en-GB" sz="1662" b="1" dirty="0">
                <a:solidFill>
                  <a:srgbClr val="333399"/>
                </a:solidFill>
                <a:latin typeface="Consolas"/>
              </a:rPr>
            </a:br>
            <a:r>
              <a:rPr lang="en-GB" sz="1662" b="1" dirty="0">
                <a:solidFill>
                  <a:srgbClr val="333399"/>
                </a:solidFill>
                <a:latin typeface="Consolas"/>
              </a:rPr>
              <a:t>      	@"</a:t>
            </a:r>
            <a:r>
              <a:rPr lang="en-GB" sz="1662" b="1" dirty="0">
                <a:solidFill>
                  <a:srgbClr val="A31515"/>
                </a:solidFill>
                <a:latin typeface="Consolas"/>
              </a:rPr>
              <a:t>UPDATE customers SET Region='DC' WHERE </a:t>
            </a:r>
            <a:r>
              <a:rPr lang="en-GB" sz="1662" b="1" dirty="0" err="1">
                <a:solidFill>
                  <a:srgbClr val="A31515"/>
                </a:solidFill>
                <a:latin typeface="Consolas"/>
              </a:rPr>
              <a:t>CustomerID</a:t>
            </a:r>
            <a:r>
              <a:rPr lang="en-GB" sz="1662" b="1" dirty="0">
                <a:solidFill>
                  <a:srgbClr val="A31515"/>
                </a:solidFill>
                <a:latin typeface="Consolas"/>
              </a:rPr>
              <a:t>=</a:t>
            </a:r>
            <a:r>
              <a:rPr lang="en-GB" sz="1662" b="1" dirty="0">
                <a:solidFill>
                  <a:srgbClr val="333399"/>
                </a:solidFill>
                <a:latin typeface="Consolas"/>
              </a:rPr>
              <a:t>'</a:t>
            </a:r>
            <a:r>
              <a:rPr lang="en-GB" sz="1662" b="1" dirty="0">
                <a:solidFill>
                  <a:srgbClr val="A31515"/>
                </a:solidFill>
                <a:latin typeface="Consolas"/>
              </a:rPr>
              <a:t>ALFKI</a:t>
            </a:r>
            <a:r>
              <a:rPr lang="en-GB" sz="1662" b="1" dirty="0">
                <a:solidFill>
                  <a:srgbClr val="333399"/>
                </a:solidFill>
                <a:latin typeface="Consolas"/>
              </a:rPr>
              <a:t>'", </a:t>
            </a:r>
            <a:r>
              <a:rPr lang="en-GB" sz="1662" b="1" dirty="0" err="1">
                <a:solidFill>
                  <a:schemeClr val="tx1"/>
                </a:solidFill>
                <a:latin typeface="Consolas"/>
              </a:rPr>
              <a:t>Cn</a:t>
            </a:r>
            <a:r>
              <a:rPr lang="en-GB" sz="1662" b="1" dirty="0">
                <a:solidFill>
                  <a:srgbClr val="333399"/>
                </a:solidFill>
                <a:latin typeface="Consolas"/>
              </a:rPr>
              <a:t>);</a:t>
            </a:r>
          </a:p>
          <a:p>
            <a:endParaRPr lang="en-GB" sz="1662" b="1" dirty="0">
              <a:solidFill>
                <a:srgbClr val="A31515"/>
              </a:solidFill>
              <a:latin typeface="Consolas"/>
            </a:endParaRPr>
          </a:p>
          <a:p>
            <a:r>
              <a:rPr lang="en-GB" sz="1662" b="1" dirty="0" err="1">
                <a:solidFill>
                  <a:schemeClr val="tx1"/>
                </a:solidFill>
                <a:latin typeface="Consolas"/>
              </a:rPr>
              <a:t>Cn.Open</a:t>
            </a:r>
            <a:r>
              <a:rPr lang="en-GB" sz="1662" b="1" dirty="0">
                <a:solidFill>
                  <a:schemeClr val="tx1"/>
                </a:solidFill>
                <a:latin typeface="Consolas"/>
              </a:rPr>
              <a:t>();</a:t>
            </a:r>
          </a:p>
          <a:p>
            <a:endParaRPr lang="en-GB" sz="1662" b="1" dirty="0">
              <a:solidFill>
                <a:schemeClr val="tx1"/>
              </a:solidFill>
              <a:latin typeface="Consolas"/>
            </a:endParaRPr>
          </a:p>
          <a:p>
            <a:r>
              <a:rPr lang="en-GB" sz="1662" b="1" dirty="0" err="1">
                <a:solidFill>
                  <a:srgbClr val="0000FF"/>
                </a:solidFill>
                <a:latin typeface="Consolas"/>
              </a:rPr>
              <a:t>int</a:t>
            </a:r>
            <a:r>
              <a:rPr lang="en-GB" sz="1662" b="1" dirty="0">
                <a:solidFill>
                  <a:srgbClr val="0000FF"/>
                </a:solidFill>
                <a:latin typeface="Consolas"/>
              </a:rPr>
              <a:t> </a:t>
            </a:r>
            <a:r>
              <a:rPr lang="en-GB" sz="1662" b="1" dirty="0">
                <a:solidFill>
                  <a:schemeClr val="tx1"/>
                </a:solidFill>
                <a:latin typeface="Consolas"/>
              </a:rPr>
              <a:t>Res</a:t>
            </a:r>
            <a:r>
              <a:rPr lang="en-GB" sz="1662" b="1" dirty="0">
                <a:solidFill>
                  <a:srgbClr val="0000FF"/>
                </a:solidFill>
                <a:latin typeface="Consolas"/>
              </a:rPr>
              <a:t> = </a:t>
            </a:r>
            <a:r>
              <a:rPr lang="en-GB" sz="1662" b="1" dirty="0" err="1">
                <a:solidFill>
                  <a:srgbClr val="0000FF"/>
                </a:solidFill>
                <a:latin typeface="Consolas"/>
              </a:rPr>
              <a:t>Com.</a:t>
            </a:r>
            <a:r>
              <a:rPr lang="en-GB" sz="1662" b="1" dirty="0" err="1">
                <a:solidFill>
                  <a:schemeClr val="tx1"/>
                </a:solidFill>
                <a:latin typeface="Consolas"/>
              </a:rPr>
              <a:t>ExecuteNonQuery</a:t>
            </a:r>
            <a:r>
              <a:rPr lang="en-GB" sz="1662" b="1" dirty="0">
                <a:solidFill>
                  <a:srgbClr val="0000FF"/>
                </a:solidFill>
                <a:latin typeface="Consolas"/>
              </a:rPr>
              <a:t>();</a:t>
            </a:r>
          </a:p>
          <a:p>
            <a:endParaRPr lang="en-GB" sz="1662" b="1" dirty="0">
              <a:solidFill>
                <a:schemeClr val="tx1"/>
              </a:solidFill>
              <a:latin typeface="Consolas"/>
            </a:endParaRPr>
          </a:p>
          <a:p>
            <a:r>
              <a:rPr lang="en-GB" sz="1662" b="1" dirty="0" err="1">
                <a:solidFill>
                  <a:schemeClr val="tx1"/>
                </a:solidFill>
                <a:latin typeface="Consolas"/>
              </a:rPr>
              <a:t>Cn.Close</a:t>
            </a:r>
            <a:r>
              <a:rPr lang="en-GB" sz="1662" b="1" dirty="0">
                <a:solidFill>
                  <a:schemeClr val="tx1"/>
                </a:solidFill>
                <a:latin typeface="Consolas"/>
              </a:rPr>
              <a:t>();</a:t>
            </a:r>
          </a:p>
          <a:p>
            <a:endParaRPr lang="en-GB" sz="1662" b="1" dirty="0">
              <a:solidFill>
                <a:srgbClr val="2B91AF"/>
              </a:solidFill>
              <a:latin typeface="Consolas"/>
            </a:endParaRPr>
          </a:p>
          <a:p>
            <a:r>
              <a:rPr lang="en-GB" sz="1662" b="1" dirty="0" err="1">
                <a:solidFill>
                  <a:srgbClr val="333399"/>
                </a:solidFill>
                <a:latin typeface="Consolas"/>
              </a:rPr>
              <a:t>Console.WriteLine</a:t>
            </a:r>
            <a:r>
              <a:rPr lang="en-GB" sz="1662" b="1" dirty="0">
                <a:solidFill>
                  <a:srgbClr val="333399"/>
                </a:solidFill>
                <a:latin typeface="Consolas"/>
              </a:rPr>
              <a:t>(</a:t>
            </a:r>
            <a:r>
              <a:rPr lang="en-GB" sz="1662" b="1" dirty="0">
                <a:solidFill>
                  <a:schemeClr val="tx1"/>
                </a:solidFill>
                <a:latin typeface="Consolas"/>
              </a:rPr>
              <a:t>Res</a:t>
            </a:r>
            <a:r>
              <a:rPr lang="en-GB" sz="1662" b="1" dirty="0">
                <a:solidFill>
                  <a:srgbClr val="2B91AF"/>
                </a:solidFill>
                <a:latin typeface="Consolas"/>
              </a:rPr>
              <a:t> + </a:t>
            </a:r>
            <a:r>
              <a:rPr lang="en-GB" sz="1662" b="1" dirty="0">
                <a:solidFill>
                  <a:srgbClr val="A31515"/>
                </a:solidFill>
                <a:latin typeface="Consolas"/>
              </a:rPr>
              <a:t>" rows updated"</a:t>
            </a:r>
            <a:r>
              <a:rPr lang="en-GB" sz="1662" b="1" dirty="0">
                <a:solidFill>
                  <a:srgbClr val="333399"/>
                </a:solidFill>
                <a:latin typeface="Consolas"/>
              </a:rPr>
              <a:t>);</a:t>
            </a:r>
          </a:p>
        </p:txBody>
      </p:sp>
    </p:spTree>
    <p:extLst>
      <p:ext uri="{BB962C8B-B14F-4D97-AF65-F5344CB8AC3E}">
        <p14:creationId xmlns:p14="http://schemas.microsoft.com/office/powerpoint/2010/main" val="2857868857"/>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lvl="0"/>
            <a:r>
              <a:rPr lang="en-US" dirty="0"/>
              <a:t>Insert a new row </a:t>
            </a:r>
            <a:endParaRPr lang="en-GB" dirty="0"/>
          </a:p>
        </p:txBody>
      </p:sp>
      <p:sp>
        <p:nvSpPr>
          <p:cNvPr id="7" name="Rectangle 6"/>
          <p:cNvSpPr/>
          <p:nvPr/>
        </p:nvSpPr>
        <p:spPr>
          <a:xfrm>
            <a:off x="508719" y="1257554"/>
            <a:ext cx="11079312" cy="3673185"/>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62" b="1" dirty="0">
                <a:solidFill>
                  <a:srgbClr val="333399"/>
                </a:solidFill>
                <a:latin typeface="Consolas"/>
              </a:rPr>
              <a:t>string </a:t>
            </a:r>
            <a:r>
              <a:rPr lang="en-GB" sz="1662" b="1" dirty="0">
                <a:solidFill>
                  <a:schemeClr val="tx1"/>
                </a:solidFill>
                <a:latin typeface="Consolas"/>
              </a:rPr>
              <a:t>query</a:t>
            </a:r>
            <a:r>
              <a:rPr lang="en-GB" sz="1662" b="1" dirty="0">
                <a:solidFill>
                  <a:srgbClr val="0000FF"/>
                </a:solidFill>
                <a:latin typeface="Consolas"/>
              </a:rPr>
              <a:t> = </a:t>
            </a:r>
            <a:r>
              <a:rPr lang="en-GB" sz="1662" b="1" dirty="0">
                <a:solidFill>
                  <a:srgbClr val="333399"/>
                </a:solidFill>
                <a:latin typeface="Consolas"/>
              </a:rPr>
              <a:t>@"</a:t>
            </a:r>
            <a:r>
              <a:rPr lang="en-GB" sz="1662" b="1" dirty="0">
                <a:solidFill>
                  <a:srgbClr val="A31515"/>
                </a:solidFill>
                <a:latin typeface="Consolas"/>
              </a:rPr>
              <a:t>INSERT INTO Customers (ID, company, name, city) </a:t>
            </a:r>
            <a:br>
              <a:rPr lang="en-GB" sz="1662" b="1" dirty="0">
                <a:solidFill>
                  <a:srgbClr val="A31515"/>
                </a:solidFill>
                <a:latin typeface="Consolas"/>
              </a:rPr>
            </a:br>
            <a:r>
              <a:rPr lang="en-GB" sz="1662" b="1" dirty="0">
                <a:solidFill>
                  <a:srgbClr val="A31515"/>
                </a:solidFill>
                <a:latin typeface="Consolas"/>
              </a:rPr>
              <a:t>		VALUES ('ID888', 'QA', 'Mike B', 'London'</a:t>
            </a:r>
            <a:r>
              <a:rPr lang="pt-BR" sz="1662" b="1" dirty="0">
                <a:solidFill>
                  <a:srgbClr val="A31515"/>
                </a:solidFill>
                <a:latin typeface="Consolas"/>
              </a:rPr>
              <a:t>)</a:t>
            </a:r>
            <a:r>
              <a:rPr lang="pt-BR" sz="1662" b="1" dirty="0">
                <a:solidFill>
                  <a:srgbClr val="333399"/>
                </a:solidFill>
                <a:latin typeface="Consolas"/>
              </a:rPr>
              <a:t>";</a:t>
            </a:r>
          </a:p>
          <a:p>
            <a:r>
              <a:rPr lang="en-GB" sz="1662" b="1" dirty="0">
                <a:solidFill>
                  <a:srgbClr val="A31515"/>
                </a:solidFill>
                <a:latin typeface="Consolas"/>
              </a:rPr>
              <a:t>            </a:t>
            </a:r>
          </a:p>
          <a:p>
            <a:r>
              <a:rPr lang="en-GB" sz="1662" b="1" dirty="0" err="1">
                <a:solidFill>
                  <a:srgbClr val="333399"/>
                </a:solidFill>
                <a:latin typeface="Consolas"/>
              </a:rPr>
              <a:t>SqlConnection</a:t>
            </a:r>
            <a:r>
              <a:rPr lang="en-GB" sz="1662" b="1" dirty="0">
                <a:solidFill>
                  <a:srgbClr val="333399"/>
                </a:solidFill>
                <a:latin typeface="Consolas"/>
              </a:rPr>
              <a:t> </a:t>
            </a:r>
            <a:r>
              <a:rPr lang="en-GB" sz="1662" b="1" dirty="0">
                <a:solidFill>
                  <a:schemeClr val="tx1"/>
                </a:solidFill>
                <a:latin typeface="Consolas"/>
              </a:rPr>
              <a:t>Cn; </a:t>
            </a:r>
            <a:r>
              <a:rPr lang="en-GB" sz="1662" b="1" dirty="0">
                <a:solidFill>
                  <a:srgbClr val="00B050"/>
                </a:solidFill>
                <a:latin typeface="Consolas"/>
              </a:rPr>
              <a:t>// then instantiate the connection object</a:t>
            </a:r>
            <a:br>
              <a:rPr lang="en-GB" sz="1662" b="1" dirty="0">
                <a:solidFill>
                  <a:srgbClr val="00B050"/>
                </a:solidFill>
                <a:latin typeface="Consolas"/>
              </a:rPr>
            </a:br>
            <a:br>
              <a:rPr lang="en-GB" sz="1662" b="1" dirty="0">
                <a:solidFill>
                  <a:srgbClr val="333399"/>
                </a:solidFill>
                <a:latin typeface="Consolas"/>
              </a:rPr>
            </a:br>
            <a:r>
              <a:rPr lang="en-GB" sz="1662" b="1" dirty="0" err="1">
                <a:solidFill>
                  <a:srgbClr val="333399"/>
                </a:solidFill>
                <a:latin typeface="Consolas"/>
              </a:rPr>
              <a:t>SqlCommand</a:t>
            </a:r>
            <a:r>
              <a:rPr lang="en-GB" sz="1662" b="1" dirty="0">
                <a:solidFill>
                  <a:srgbClr val="2B91AF"/>
                </a:solidFill>
                <a:latin typeface="Consolas"/>
              </a:rPr>
              <a:t> </a:t>
            </a:r>
            <a:r>
              <a:rPr lang="en-GB" sz="1662" b="1" dirty="0">
                <a:solidFill>
                  <a:schemeClr val="tx1"/>
                </a:solidFill>
                <a:latin typeface="Consolas"/>
              </a:rPr>
              <a:t>Com</a:t>
            </a:r>
            <a:r>
              <a:rPr lang="en-GB" sz="1662" b="1" dirty="0">
                <a:solidFill>
                  <a:srgbClr val="2B91AF"/>
                </a:solidFill>
                <a:latin typeface="Consolas"/>
              </a:rPr>
              <a:t> = </a:t>
            </a:r>
            <a:r>
              <a:rPr lang="en-GB" sz="1662" b="1" dirty="0">
                <a:solidFill>
                  <a:srgbClr val="333399"/>
                </a:solidFill>
                <a:latin typeface="Consolas"/>
              </a:rPr>
              <a:t>new</a:t>
            </a:r>
            <a:r>
              <a:rPr lang="en-GB" sz="1662" b="1" dirty="0">
                <a:solidFill>
                  <a:srgbClr val="0000FF"/>
                </a:solidFill>
                <a:latin typeface="Consolas"/>
              </a:rPr>
              <a:t> </a:t>
            </a:r>
            <a:r>
              <a:rPr lang="en-GB" sz="1662" b="1" dirty="0" err="1">
                <a:solidFill>
                  <a:srgbClr val="333399"/>
                </a:solidFill>
                <a:latin typeface="Consolas"/>
              </a:rPr>
              <a:t>SqlCommand</a:t>
            </a:r>
            <a:r>
              <a:rPr lang="en-GB" sz="1662" b="1" dirty="0">
                <a:solidFill>
                  <a:schemeClr val="tx1"/>
                </a:solidFill>
                <a:latin typeface="Consolas"/>
              </a:rPr>
              <a:t>(query, Cn);</a:t>
            </a:r>
          </a:p>
          <a:p>
            <a:endParaRPr lang="en-GB" sz="1662" b="1" dirty="0">
              <a:solidFill>
                <a:schemeClr val="tx1"/>
              </a:solidFill>
              <a:latin typeface="Consolas"/>
            </a:endParaRPr>
          </a:p>
          <a:p>
            <a:r>
              <a:rPr lang="en-GB" sz="1662" b="1" dirty="0" err="1">
                <a:solidFill>
                  <a:schemeClr val="tx1"/>
                </a:solidFill>
                <a:latin typeface="Consolas"/>
              </a:rPr>
              <a:t>Cn.Open</a:t>
            </a:r>
            <a:r>
              <a:rPr lang="en-GB" sz="1662" b="1" dirty="0">
                <a:solidFill>
                  <a:schemeClr val="tx1"/>
                </a:solidFill>
                <a:latin typeface="Consolas"/>
              </a:rPr>
              <a:t>();</a:t>
            </a:r>
          </a:p>
          <a:p>
            <a:endParaRPr lang="en-GB" sz="1662" b="1" dirty="0">
              <a:solidFill>
                <a:srgbClr val="333399"/>
              </a:solidFill>
              <a:latin typeface="Consolas"/>
            </a:endParaRPr>
          </a:p>
          <a:p>
            <a:r>
              <a:rPr lang="en-GB" sz="1662" b="1" dirty="0" err="1">
                <a:solidFill>
                  <a:srgbClr val="333399"/>
                </a:solidFill>
                <a:latin typeface="Consolas"/>
              </a:rPr>
              <a:t>int</a:t>
            </a:r>
            <a:r>
              <a:rPr lang="en-GB" sz="1662" b="1" dirty="0">
                <a:solidFill>
                  <a:srgbClr val="0000FF"/>
                </a:solidFill>
                <a:latin typeface="Consolas"/>
              </a:rPr>
              <a:t> </a:t>
            </a:r>
            <a:r>
              <a:rPr lang="en-GB" sz="1662" b="1" dirty="0">
                <a:solidFill>
                  <a:schemeClr val="tx1"/>
                </a:solidFill>
                <a:latin typeface="Consolas"/>
              </a:rPr>
              <a:t>Res</a:t>
            </a:r>
            <a:r>
              <a:rPr lang="en-GB" sz="1662" b="1" dirty="0">
                <a:solidFill>
                  <a:srgbClr val="0000FF"/>
                </a:solidFill>
                <a:latin typeface="Consolas"/>
              </a:rPr>
              <a:t> = </a:t>
            </a:r>
            <a:r>
              <a:rPr lang="en-GB" sz="1662" b="1" dirty="0" err="1">
                <a:solidFill>
                  <a:schemeClr val="tx1"/>
                </a:solidFill>
                <a:latin typeface="Consolas"/>
              </a:rPr>
              <a:t>Com</a:t>
            </a:r>
            <a:r>
              <a:rPr lang="en-GB" sz="1662" b="1" dirty="0" err="1">
                <a:solidFill>
                  <a:srgbClr val="0000FF"/>
                </a:solidFill>
                <a:latin typeface="Consolas"/>
              </a:rPr>
              <a:t>.</a:t>
            </a:r>
            <a:r>
              <a:rPr lang="en-GB" sz="1662" b="1" dirty="0" err="1">
                <a:solidFill>
                  <a:srgbClr val="333399"/>
                </a:solidFill>
                <a:latin typeface="Consolas"/>
              </a:rPr>
              <a:t>ExecuteNonQuery</a:t>
            </a:r>
            <a:r>
              <a:rPr lang="en-GB" sz="1662" b="1" dirty="0">
                <a:solidFill>
                  <a:srgbClr val="333399"/>
                </a:solidFill>
                <a:latin typeface="Consolas"/>
              </a:rPr>
              <a:t>();</a:t>
            </a:r>
          </a:p>
          <a:p>
            <a:endParaRPr lang="en-GB" sz="1662" b="1" dirty="0">
              <a:solidFill>
                <a:schemeClr val="tx1"/>
              </a:solidFill>
              <a:latin typeface="Consolas"/>
            </a:endParaRPr>
          </a:p>
          <a:p>
            <a:r>
              <a:rPr lang="en-GB" sz="1662" b="1" dirty="0" err="1">
                <a:solidFill>
                  <a:schemeClr val="tx1"/>
                </a:solidFill>
                <a:latin typeface="Consolas"/>
              </a:rPr>
              <a:t>Cn.Close</a:t>
            </a:r>
            <a:r>
              <a:rPr lang="en-GB" sz="1662" b="1" dirty="0">
                <a:solidFill>
                  <a:schemeClr val="tx1"/>
                </a:solidFill>
                <a:latin typeface="Consolas"/>
              </a:rPr>
              <a:t>();</a:t>
            </a:r>
          </a:p>
          <a:p>
            <a:endParaRPr lang="en-GB" sz="1662" b="1" dirty="0">
              <a:solidFill>
                <a:srgbClr val="0000FF"/>
              </a:solidFill>
              <a:latin typeface="Consolas"/>
            </a:endParaRPr>
          </a:p>
          <a:p>
            <a:r>
              <a:rPr lang="en-GB" sz="1662" b="1" dirty="0" err="1">
                <a:solidFill>
                  <a:srgbClr val="333399"/>
                </a:solidFill>
                <a:latin typeface="Consolas"/>
              </a:rPr>
              <a:t>Console.WriteLine</a:t>
            </a:r>
            <a:r>
              <a:rPr lang="en-GB" sz="1662" b="1" dirty="0">
                <a:solidFill>
                  <a:srgbClr val="333399"/>
                </a:solidFill>
                <a:latin typeface="Consolas"/>
              </a:rPr>
              <a:t>(</a:t>
            </a:r>
            <a:r>
              <a:rPr lang="en-GB" sz="1662" b="1" dirty="0">
                <a:solidFill>
                  <a:schemeClr val="tx1"/>
                </a:solidFill>
                <a:latin typeface="Consolas"/>
              </a:rPr>
              <a:t>Res</a:t>
            </a:r>
            <a:r>
              <a:rPr lang="en-GB" sz="1662" b="1" dirty="0">
                <a:solidFill>
                  <a:srgbClr val="2B91AF"/>
                </a:solidFill>
                <a:latin typeface="Consolas"/>
              </a:rPr>
              <a:t> </a:t>
            </a:r>
            <a:r>
              <a:rPr lang="en-GB" sz="1662" b="1" dirty="0">
                <a:solidFill>
                  <a:srgbClr val="333399"/>
                </a:solidFill>
                <a:latin typeface="Consolas"/>
              </a:rPr>
              <a:t>+</a:t>
            </a:r>
            <a:r>
              <a:rPr lang="en-GB" sz="1662" b="1" dirty="0">
                <a:solidFill>
                  <a:srgbClr val="2B91AF"/>
                </a:solidFill>
                <a:latin typeface="Consolas"/>
              </a:rPr>
              <a:t> </a:t>
            </a:r>
            <a:r>
              <a:rPr lang="en-GB" sz="1662" b="1" dirty="0">
                <a:solidFill>
                  <a:srgbClr val="A31515"/>
                </a:solidFill>
                <a:latin typeface="Consolas"/>
              </a:rPr>
              <a:t>" rows inserted"</a:t>
            </a:r>
            <a:r>
              <a:rPr lang="en-GB" sz="1662" b="1" dirty="0">
                <a:solidFill>
                  <a:srgbClr val="333399"/>
                </a:solidFill>
                <a:latin typeface="Consolas"/>
              </a:rPr>
              <a:t>);</a:t>
            </a:r>
          </a:p>
        </p:txBody>
      </p:sp>
    </p:spTree>
    <p:extLst>
      <p:ext uri="{BB962C8B-B14F-4D97-AF65-F5344CB8AC3E}">
        <p14:creationId xmlns:p14="http://schemas.microsoft.com/office/powerpoint/2010/main" val="4215403811"/>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lvl="0"/>
            <a:r>
              <a:rPr lang="en-US" dirty="0"/>
              <a:t>How to delete rows?</a:t>
            </a:r>
            <a:endParaRPr lang="en-GB" dirty="0"/>
          </a:p>
        </p:txBody>
      </p:sp>
      <p:sp>
        <p:nvSpPr>
          <p:cNvPr id="5" name="Rectangle 4"/>
          <p:cNvSpPr/>
          <p:nvPr/>
        </p:nvSpPr>
        <p:spPr>
          <a:xfrm>
            <a:off x="282692" y="1457254"/>
            <a:ext cx="11485936" cy="3161635"/>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62" b="1" dirty="0" err="1">
                <a:solidFill>
                  <a:srgbClr val="333399"/>
                </a:solidFill>
                <a:latin typeface="Consolas"/>
              </a:rPr>
              <a:t>SqlConnection</a:t>
            </a:r>
            <a:r>
              <a:rPr lang="en-GB" sz="1662" b="1" dirty="0">
                <a:solidFill>
                  <a:srgbClr val="333399"/>
                </a:solidFill>
                <a:latin typeface="Consolas"/>
              </a:rPr>
              <a:t> </a:t>
            </a:r>
            <a:r>
              <a:rPr lang="en-GB" sz="1662" b="1" dirty="0" err="1">
                <a:solidFill>
                  <a:schemeClr val="tx1"/>
                </a:solidFill>
                <a:latin typeface="Consolas"/>
              </a:rPr>
              <a:t>Cn</a:t>
            </a:r>
            <a:r>
              <a:rPr lang="en-GB" sz="1662" b="1" dirty="0">
                <a:solidFill>
                  <a:schemeClr val="tx1"/>
                </a:solidFill>
                <a:latin typeface="Consolas"/>
              </a:rPr>
              <a:t>; 	</a:t>
            </a:r>
            <a:r>
              <a:rPr lang="en-GB" sz="1662" b="1" dirty="0">
                <a:solidFill>
                  <a:srgbClr val="00B050"/>
                </a:solidFill>
                <a:latin typeface="Consolas"/>
              </a:rPr>
              <a:t>// then instantiate the connection object</a:t>
            </a:r>
            <a:br>
              <a:rPr lang="en-GB" sz="1662" b="1" dirty="0">
                <a:solidFill>
                  <a:srgbClr val="00B050"/>
                </a:solidFill>
                <a:latin typeface="Consolas"/>
              </a:rPr>
            </a:br>
            <a:endParaRPr lang="en-GB" sz="1662" b="1" dirty="0">
              <a:solidFill>
                <a:srgbClr val="333399"/>
              </a:solidFill>
              <a:latin typeface="Consolas"/>
            </a:endParaRPr>
          </a:p>
          <a:p>
            <a:r>
              <a:rPr lang="en-GB" sz="1662" b="1" dirty="0" err="1">
                <a:solidFill>
                  <a:srgbClr val="333399"/>
                </a:solidFill>
                <a:latin typeface="Consolas"/>
              </a:rPr>
              <a:t>SqlCommand</a:t>
            </a:r>
            <a:r>
              <a:rPr lang="en-GB" sz="1662" b="1" dirty="0">
                <a:solidFill>
                  <a:srgbClr val="2B91AF"/>
                </a:solidFill>
                <a:latin typeface="Consolas"/>
              </a:rPr>
              <a:t> </a:t>
            </a:r>
            <a:r>
              <a:rPr lang="en-GB" sz="1662" b="1" dirty="0">
                <a:solidFill>
                  <a:schemeClr val="tx1"/>
                </a:solidFill>
                <a:latin typeface="Consolas"/>
              </a:rPr>
              <a:t>Com</a:t>
            </a:r>
            <a:r>
              <a:rPr lang="en-GB" sz="1662" b="1" dirty="0">
                <a:solidFill>
                  <a:srgbClr val="2B91AF"/>
                </a:solidFill>
                <a:latin typeface="Consolas"/>
              </a:rPr>
              <a:t> = </a:t>
            </a:r>
          </a:p>
          <a:p>
            <a:r>
              <a:rPr lang="en-GB" sz="1662" b="1" dirty="0">
                <a:solidFill>
                  <a:srgbClr val="2B91AF"/>
                </a:solidFill>
                <a:latin typeface="Consolas"/>
              </a:rPr>
              <a:t>	</a:t>
            </a:r>
            <a:r>
              <a:rPr lang="en-GB" sz="1662" b="1" dirty="0">
                <a:solidFill>
                  <a:srgbClr val="0000FF"/>
                </a:solidFill>
                <a:latin typeface="Consolas"/>
              </a:rPr>
              <a:t>new </a:t>
            </a:r>
            <a:r>
              <a:rPr lang="en-GB" sz="1662" b="1" dirty="0" err="1">
                <a:solidFill>
                  <a:srgbClr val="333399"/>
                </a:solidFill>
                <a:latin typeface="Consolas"/>
              </a:rPr>
              <a:t>SqlCommand</a:t>
            </a:r>
            <a:r>
              <a:rPr lang="en-GB" sz="1662" b="1" dirty="0">
                <a:solidFill>
                  <a:srgbClr val="333399"/>
                </a:solidFill>
                <a:latin typeface="Consolas"/>
              </a:rPr>
              <a:t>("</a:t>
            </a:r>
            <a:r>
              <a:rPr lang="en-GB" sz="1662" b="1" dirty="0">
                <a:solidFill>
                  <a:srgbClr val="A31515"/>
                </a:solidFill>
                <a:latin typeface="Consolas"/>
              </a:rPr>
              <a:t>DELETE customers WHERE CustomerID='ID888'</a:t>
            </a:r>
            <a:r>
              <a:rPr lang="en-GB" sz="1662" b="1" dirty="0">
                <a:solidFill>
                  <a:srgbClr val="333399"/>
                </a:solidFill>
                <a:latin typeface="Consolas"/>
              </a:rPr>
              <a:t>",</a:t>
            </a:r>
            <a:r>
              <a:rPr lang="en-GB" sz="1662" b="1" dirty="0">
                <a:solidFill>
                  <a:srgbClr val="A31515"/>
                </a:solidFill>
                <a:latin typeface="Consolas"/>
              </a:rPr>
              <a:t> </a:t>
            </a:r>
            <a:r>
              <a:rPr lang="en-GB" sz="1662" b="1" dirty="0" err="1">
                <a:solidFill>
                  <a:schemeClr val="tx1"/>
                </a:solidFill>
                <a:latin typeface="Consolas"/>
              </a:rPr>
              <a:t>Cn</a:t>
            </a:r>
            <a:r>
              <a:rPr lang="en-GB" sz="1662" b="1" dirty="0">
                <a:solidFill>
                  <a:srgbClr val="333399"/>
                </a:solidFill>
                <a:latin typeface="Consolas"/>
              </a:rPr>
              <a:t>);</a:t>
            </a:r>
          </a:p>
          <a:p>
            <a:endParaRPr lang="en-GB" sz="1662" b="1" dirty="0">
              <a:solidFill>
                <a:srgbClr val="A31515"/>
              </a:solidFill>
              <a:latin typeface="Consolas"/>
            </a:endParaRPr>
          </a:p>
          <a:p>
            <a:r>
              <a:rPr lang="en-GB" sz="1662" b="1" dirty="0" err="1">
                <a:solidFill>
                  <a:schemeClr val="tx1"/>
                </a:solidFill>
                <a:latin typeface="Consolas"/>
              </a:rPr>
              <a:t>Cn.Open</a:t>
            </a:r>
            <a:r>
              <a:rPr lang="en-GB" sz="1662" b="1" dirty="0">
                <a:solidFill>
                  <a:schemeClr val="tx1"/>
                </a:solidFill>
                <a:latin typeface="Consolas"/>
              </a:rPr>
              <a:t>();</a:t>
            </a:r>
          </a:p>
          <a:p>
            <a:endParaRPr lang="en-GB" sz="1662" b="1" dirty="0">
              <a:solidFill>
                <a:schemeClr val="tx1"/>
              </a:solidFill>
              <a:latin typeface="Consolas"/>
            </a:endParaRPr>
          </a:p>
          <a:p>
            <a:r>
              <a:rPr lang="en-GB" sz="1662" b="1" dirty="0" err="1">
                <a:solidFill>
                  <a:srgbClr val="0000FF"/>
                </a:solidFill>
                <a:latin typeface="Consolas"/>
              </a:rPr>
              <a:t>int</a:t>
            </a:r>
            <a:r>
              <a:rPr lang="en-GB" sz="1662" b="1" dirty="0">
                <a:solidFill>
                  <a:srgbClr val="0000FF"/>
                </a:solidFill>
                <a:latin typeface="Consolas"/>
              </a:rPr>
              <a:t> </a:t>
            </a:r>
            <a:r>
              <a:rPr lang="en-GB" sz="1662" b="1" dirty="0">
                <a:solidFill>
                  <a:schemeClr val="tx1"/>
                </a:solidFill>
                <a:latin typeface="Consolas"/>
              </a:rPr>
              <a:t>Res</a:t>
            </a:r>
            <a:r>
              <a:rPr lang="en-GB" sz="1662" b="1" dirty="0">
                <a:solidFill>
                  <a:srgbClr val="0000FF"/>
                </a:solidFill>
                <a:latin typeface="Consolas"/>
              </a:rPr>
              <a:t> = </a:t>
            </a:r>
            <a:r>
              <a:rPr lang="en-GB" sz="1662" b="1" dirty="0" err="1">
                <a:solidFill>
                  <a:srgbClr val="0000FF"/>
                </a:solidFill>
                <a:latin typeface="Consolas"/>
              </a:rPr>
              <a:t>Com.</a:t>
            </a:r>
            <a:r>
              <a:rPr lang="en-GB" sz="1662" b="1" dirty="0" err="1">
                <a:solidFill>
                  <a:schemeClr val="tx1"/>
                </a:solidFill>
                <a:latin typeface="Consolas"/>
              </a:rPr>
              <a:t>ExecuteNonQuery</a:t>
            </a:r>
            <a:r>
              <a:rPr lang="en-GB" sz="1662" b="1" dirty="0">
                <a:solidFill>
                  <a:srgbClr val="0000FF"/>
                </a:solidFill>
                <a:latin typeface="Consolas"/>
              </a:rPr>
              <a:t>();</a:t>
            </a:r>
          </a:p>
          <a:p>
            <a:endParaRPr lang="en-GB" sz="1662" b="1" dirty="0">
              <a:solidFill>
                <a:schemeClr val="tx1"/>
              </a:solidFill>
              <a:latin typeface="Consolas"/>
            </a:endParaRPr>
          </a:p>
          <a:p>
            <a:r>
              <a:rPr lang="en-GB" sz="1662" b="1" dirty="0" err="1">
                <a:solidFill>
                  <a:schemeClr val="tx1"/>
                </a:solidFill>
                <a:latin typeface="Consolas"/>
              </a:rPr>
              <a:t>Cn.Close</a:t>
            </a:r>
            <a:r>
              <a:rPr lang="en-GB" sz="1662" b="1" dirty="0">
                <a:solidFill>
                  <a:schemeClr val="tx1"/>
                </a:solidFill>
                <a:latin typeface="Consolas"/>
              </a:rPr>
              <a:t>();</a:t>
            </a:r>
          </a:p>
          <a:p>
            <a:endParaRPr lang="en-GB" sz="1662" b="1" dirty="0">
              <a:solidFill>
                <a:srgbClr val="2B91AF"/>
              </a:solidFill>
              <a:latin typeface="Consolas"/>
            </a:endParaRPr>
          </a:p>
          <a:p>
            <a:r>
              <a:rPr lang="en-GB" sz="1662" b="1" dirty="0" err="1">
                <a:solidFill>
                  <a:srgbClr val="333399"/>
                </a:solidFill>
                <a:latin typeface="Consolas"/>
              </a:rPr>
              <a:t>Console.WriteLine</a:t>
            </a:r>
            <a:r>
              <a:rPr lang="en-GB" sz="1662" b="1" dirty="0">
                <a:solidFill>
                  <a:srgbClr val="333399"/>
                </a:solidFill>
                <a:latin typeface="Consolas"/>
              </a:rPr>
              <a:t>(</a:t>
            </a:r>
            <a:r>
              <a:rPr lang="en-GB" sz="1662" b="1" dirty="0">
                <a:solidFill>
                  <a:schemeClr val="tx1"/>
                </a:solidFill>
                <a:latin typeface="Consolas"/>
              </a:rPr>
              <a:t>Res</a:t>
            </a:r>
            <a:r>
              <a:rPr lang="en-GB" sz="1662" b="1" dirty="0">
                <a:solidFill>
                  <a:srgbClr val="2B91AF"/>
                </a:solidFill>
                <a:latin typeface="Consolas"/>
              </a:rPr>
              <a:t> + </a:t>
            </a:r>
            <a:r>
              <a:rPr lang="en-GB" sz="1662" b="1" dirty="0">
                <a:solidFill>
                  <a:srgbClr val="A31515"/>
                </a:solidFill>
                <a:latin typeface="Consolas"/>
              </a:rPr>
              <a:t>" rows deleted"</a:t>
            </a:r>
            <a:r>
              <a:rPr lang="en-GB" sz="1662" b="1" dirty="0">
                <a:solidFill>
                  <a:srgbClr val="333399"/>
                </a:solidFill>
                <a:latin typeface="Consolas"/>
              </a:rPr>
              <a:t>);</a:t>
            </a:r>
          </a:p>
        </p:txBody>
      </p:sp>
    </p:spTree>
    <p:extLst>
      <p:ext uri="{BB962C8B-B14F-4D97-AF65-F5344CB8AC3E}">
        <p14:creationId xmlns:p14="http://schemas.microsoft.com/office/powerpoint/2010/main" val="809652365"/>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pPr lvl="0"/>
            <a:r>
              <a:rPr lang="en-US" dirty="0"/>
              <a:t>Scalar queries</a:t>
            </a:r>
            <a:endParaRPr lang="en-GB" dirty="0"/>
          </a:p>
        </p:txBody>
      </p:sp>
      <p:sp>
        <p:nvSpPr>
          <p:cNvPr id="5" name="Rectangle 4"/>
          <p:cNvSpPr/>
          <p:nvPr/>
        </p:nvSpPr>
        <p:spPr>
          <a:xfrm>
            <a:off x="282692" y="1419366"/>
            <a:ext cx="11485936" cy="3161635"/>
          </a:xfrm>
          <a:prstGeom prst="rect">
            <a:avLst/>
          </a:prstGeom>
          <a:solidFill>
            <a:schemeClr val="bg1">
              <a:lumMod val="95000"/>
            </a:schemeClr>
          </a:solidFill>
        </p:spPr>
        <p:style>
          <a:lnRef idx="0">
            <a:schemeClr val="accent3"/>
          </a:lnRef>
          <a:fillRef idx="3">
            <a:schemeClr val="accent3"/>
          </a:fillRef>
          <a:effectRef idx="3">
            <a:schemeClr val="accent3"/>
          </a:effectRef>
          <a:fontRef idx="minor">
            <a:schemeClr val="lt1"/>
          </a:fontRef>
        </p:style>
        <p:txBody>
          <a:bodyPr wrap="square">
            <a:spAutoFit/>
          </a:bodyPr>
          <a:lstStyle/>
          <a:p>
            <a:r>
              <a:rPr lang="en-GB" sz="1662" b="1" dirty="0" err="1">
                <a:solidFill>
                  <a:srgbClr val="333399"/>
                </a:solidFill>
                <a:latin typeface="Consolas"/>
              </a:rPr>
              <a:t>SqlConnection</a:t>
            </a:r>
            <a:r>
              <a:rPr lang="en-GB" sz="1662" b="1" dirty="0">
                <a:solidFill>
                  <a:srgbClr val="333399"/>
                </a:solidFill>
                <a:latin typeface="Consolas"/>
              </a:rPr>
              <a:t> </a:t>
            </a:r>
            <a:r>
              <a:rPr lang="en-GB" sz="1662" b="1" dirty="0" err="1">
                <a:solidFill>
                  <a:schemeClr val="tx1"/>
                </a:solidFill>
                <a:latin typeface="Consolas"/>
              </a:rPr>
              <a:t>Cn</a:t>
            </a:r>
            <a:r>
              <a:rPr lang="en-GB" sz="1662" b="1" dirty="0">
                <a:solidFill>
                  <a:schemeClr val="tx1"/>
                </a:solidFill>
                <a:latin typeface="Consolas"/>
              </a:rPr>
              <a:t>; 	</a:t>
            </a:r>
            <a:r>
              <a:rPr lang="en-GB" sz="1662" b="1" dirty="0">
                <a:solidFill>
                  <a:srgbClr val="00B050"/>
                </a:solidFill>
                <a:latin typeface="Consolas"/>
              </a:rPr>
              <a:t>// then instantiate the connection object</a:t>
            </a:r>
            <a:br>
              <a:rPr lang="en-GB" sz="1662" b="1" dirty="0">
                <a:solidFill>
                  <a:srgbClr val="00B050"/>
                </a:solidFill>
                <a:latin typeface="Consolas"/>
              </a:rPr>
            </a:br>
            <a:endParaRPr lang="en-GB" sz="1662" b="1" dirty="0">
              <a:solidFill>
                <a:srgbClr val="333399"/>
              </a:solidFill>
              <a:latin typeface="Consolas"/>
            </a:endParaRPr>
          </a:p>
          <a:p>
            <a:r>
              <a:rPr lang="en-GB" sz="1662" b="1" dirty="0" err="1">
                <a:solidFill>
                  <a:srgbClr val="333399"/>
                </a:solidFill>
                <a:latin typeface="Consolas"/>
              </a:rPr>
              <a:t>SqlCommand</a:t>
            </a:r>
            <a:r>
              <a:rPr lang="en-GB" sz="1662" b="1" dirty="0">
                <a:solidFill>
                  <a:srgbClr val="2B91AF"/>
                </a:solidFill>
                <a:latin typeface="Consolas"/>
              </a:rPr>
              <a:t> </a:t>
            </a:r>
            <a:r>
              <a:rPr lang="en-GB" sz="1662" b="1" dirty="0">
                <a:solidFill>
                  <a:schemeClr val="tx1"/>
                </a:solidFill>
                <a:latin typeface="Consolas"/>
              </a:rPr>
              <a:t>Com</a:t>
            </a:r>
            <a:r>
              <a:rPr lang="en-GB" sz="1662" b="1" dirty="0">
                <a:solidFill>
                  <a:srgbClr val="2B91AF"/>
                </a:solidFill>
                <a:latin typeface="Consolas"/>
              </a:rPr>
              <a:t> = </a:t>
            </a:r>
          </a:p>
          <a:p>
            <a:r>
              <a:rPr lang="en-GB" sz="1662" b="1" dirty="0">
                <a:solidFill>
                  <a:srgbClr val="2B91AF"/>
                </a:solidFill>
                <a:latin typeface="Consolas"/>
              </a:rPr>
              <a:t>	</a:t>
            </a:r>
            <a:r>
              <a:rPr lang="en-GB" sz="1662" b="1" dirty="0">
                <a:solidFill>
                  <a:srgbClr val="0000FF"/>
                </a:solidFill>
                <a:latin typeface="Consolas"/>
              </a:rPr>
              <a:t>new </a:t>
            </a:r>
            <a:r>
              <a:rPr lang="en-GB" sz="1662" b="1" dirty="0" err="1">
                <a:solidFill>
                  <a:srgbClr val="333399"/>
                </a:solidFill>
                <a:latin typeface="Consolas"/>
              </a:rPr>
              <a:t>SqlCommand</a:t>
            </a:r>
            <a:r>
              <a:rPr lang="en-GB" sz="1662" b="1" dirty="0">
                <a:solidFill>
                  <a:srgbClr val="333399"/>
                </a:solidFill>
                <a:latin typeface="Consolas"/>
              </a:rPr>
              <a:t>("</a:t>
            </a:r>
            <a:r>
              <a:rPr lang="en-GB" sz="1662" b="1" dirty="0">
                <a:solidFill>
                  <a:srgbClr val="A31515"/>
                </a:solidFill>
                <a:latin typeface="Consolas"/>
              </a:rPr>
              <a:t>SELECT Count(*) FROM customers</a:t>
            </a:r>
            <a:r>
              <a:rPr lang="en-GB" sz="1662" b="1" dirty="0">
                <a:solidFill>
                  <a:srgbClr val="333399"/>
                </a:solidFill>
                <a:latin typeface="Consolas"/>
              </a:rPr>
              <a:t>",</a:t>
            </a:r>
            <a:r>
              <a:rPr lang="en-GB" sz="1662" b="1" dirty="0">
                <a:solidFill>
                  <a:srgbClr val="A31515"/>
                </a:solidFill>
                <a:latin typeface="Consolas"/>
              </a:rPr>
              <a:t> </a:t>
            </a:r>
            <a:r>
              <a:rPr lang="en-GB" sz="1662" b="1" dirty="0">
                <a:solidFill>
                  <a:schemeClr val="tx1"/>
                </a:solidFill>
                <a:latin typeface="Consolas"/>
              </a:rPr>
              <a:t>Cn</a:t>
            </a:r>
            <a:r>
              <a:rPr lang="en-GB" sz="1662" b="1" dirty="0">
                <a:solidFill>
                  <a:srgbClr val="333399"/>
                </a:solidFill>
                <a:latin typeface="Consolas"/>
              </a:rPr>
              <a:t>);</a:t>
            </a:r>
          </a:p>
          <a:p>
            <a:endParaRPr lang="en-GB" sz="1662" b="1" dirty="0">
              <a:solidFill>
                <a:srgbClr val="A31515"/>
              </a:solidFill>
              <a:latin typeface="Consolas"/>
            </a:endParaRPr>
          </a:p>
          <a:p>
            <a:r>
              <a:rPr lang="en-GB" sz="1662" b="1" dirty="0" err="1">
                <a:solidFill>
                  <a:schemeClr val="tx1"/>
                </a:solidFill>
                <a:latin typeface="Consolas"/>
              </a:rPr>
              <a:t>Cn.Open</a:t>
            </a:r>
            <a:r>
              <a:rPr lang="en-GB" sz="1662" b="1" dirty="0">
                <a:solidFill>
                  <a:schemeClr val="tx1"/>
                </a:solidFill>
                <a:latin typeface="Consolas"/>
              </a:rPr>
              <a:t>();</a:t>
            </a:r>
          </a:p>
          <a:p>
            <a:endParaRPr lang="en-GB" sz="1662" b="1" dirty="0">
              <a:solidFill>
                <a:schemeClr val="tx1"/>
              </a:solidFill>
              <a:latin typeface="Consolas"/>
            </a:endParaRPr>
          </a:p>
          <a:p>
            <a:r>
              <a:rPr lang="en-GB" sz="1662" b="1" dirty="0" err="1">
                <a:solidFill>
                  <a:srgbClr val="0000FF"/>
                </a:solidFill>
                <a:latin typeface="Consolas"/>
              </a:rPr>
              <a:t>int</a:t>
            </a:r>
            <a:r>
              <a:rPr lang="en-GB" sz="1662" b="1" dirty="0">
                <a:solidFill>
                  <a:srgbClr val="0000FF"/>
                </a:solidFill>
                <a:latin typeface="Consolas"/>
              </a:rPr>
              <a:t> </a:t>
            </a:r>
            <a:r>
              <a:rPr lang="en-GB" sz="1662" b="1" dirty="0">
                <a:solidFill>
                  <a:schemeClr val="tx1"/>
                </a:solidFill>
                <a:latin typeface="Consolas"/>
              </a:rPr>
              <a:t>total</a:t>
            </a:r>
            <a:r>
              <a:rPr lang="en-GB" sz="1662" b="1" dirty="0">
                <a:solidFill>
                  <a:srgbClr val="0000FF"/>
                </a:solidFill>
                <a:latin typeface="Consolas"/>
              </a:rPr>
              <a:t> = (</a:t>
            </a:r>
            <a:r>
              <a:rPr lang="en-GB" sz="1662" b="1" dirty="0" err="1">
                <a:solidFill>
                  <a:srgbClr val="0000FF"/>
                </a:solidFill>
                <a:latin typeface="Consolas"/>
              </a:rPr>
              <a:t>int</a:t>
            </a:r>
            <a:r>
              <a:rPr lang="en-GB" sz="1662" b="1" dirty="0">
                <a:solidFill>
                  <a:srgbClr val="0000FF"/>
                </a:solidFill>
                <a:latin typeface="Consolas"/>
              </a:rPr>
              <a:t>)</a:t>
            </a:r>
            <a:r>
              <a:rPr lang="en-GB" sz="1662" b="1" dirty="0" err="1">
                <a:solidFill>
                  <a:srgbClr val="0000FF"/>
                </a:solidFill>
                <a:latin typeface="Consolas"/>
              </a:rPr>
              <a:t>Com.</a:t>
            </a:r>
            <a:r>
              <a:rPr lang="en-GB" sz="1662" b="1" dirty="0" err="1">
                <a:solidFill>
                  <a:schemeClr val="tx1"/>
                </a:solidFill>
                <a:latin typeface="Consolas"/>
              </a:rPr>
              <a:t>ExecuteScalar</a:t>
            </a:r>
            <a:r>
              <a:rPr lang="en-GB" sz="1662" b="1" dirty="0">
                <a:solidFill>
                  <a:srgbClr val="0000FF"/>
                </a:solidFill>
                <a:latin typeface="Consolas"/>
              </a:rPr>
              <a:t>();</a:t>
            </a:r>
          </a:p>
          <a:p>
            <a:endParaRPr lang="en-GB" sz="1662" b="1" dirty="0">
              <a:solidFill>
                <a:schemeClr val="tx1"/>
              </a:solidFill>
              <a:latin typeface="Consolas"/>
            </a:endParaRPr>
          </a:p>
          <a:p>
            <a:r>
              <a:rPr lang="en-GB" sz="1662" b="1" dirty="0" err="1">
                <a:solidFill>
                  <a:schemeClr val="tx1"/>
                </a:solidFill>
                <a:latin typeface="Consolas"/>
              </a:rPr>
              <a:t>Cn.Close</a:t>
            </a:r>
            <a:r>
              <a:rPr lang="en-GB" sz="1662" b="1" dirty="0">
                <a:solidFill>
                  <a:schemeClr val="tx1"/>
                </a:solidFill>
                <a:latin typeface="Consolas"/>
              </a:rPr>
              <a:t>();</a:t>
            </a:r>
          </a:p>
          <a:p>
            <a:endParaRPr lang="en-GB" sz="1662" b="1" dirty="0">
              <a:solidFill>
                <a:srgbClr val="2B91AF"/>
              </a:solidFill>
              <a:latin typeface="Consolas"/>
            </a:endParaRPr>
          </a:p>
          <a:p>
            <a:r>
              <a:rPr lang="en-GB" sz="1662" b="1" dirty="0" err="1">
                <a:solidFill>
                  <a:srgbClr val="333399"/>
                </a:solidFill>
                <a:latin typeface="Consolas"/>
              </a:rPr>
              <a:t>Console.WriteLine</a:t>
            </a:r>
            <a:r>
              <a:rPr lang="en-GB" sz="1662" b="1" dirty="0">
                <a:solidFill>
                  <a:srgbClr val="333399"/>
                </a:solidFill>
                <a:latin typeface="Consolas"/>
              </a:rPr>
              <a:t>(</a:t>
            </a:r>
            <a:r>
              <a:rPr lang="en-GB" sz="1662" b="1" dirty="0">
                <a:solidFill>
                  <a:schemeClr val="tx1"/>
                </a:solidFill>
                <a:latin typeface="Consolas"/>
              </a:rPr>
              <a:t>total</a:t>
            </a:r>
            <a:r>
              <a:rPr lang="en-GB" sz="1662" b="1" dirty="0">
                <a:solidFill>
                  <a:srgbClr val="2B91AF"/>
                </a:solidFill>
                <a:latin typeface="Consolas"/>
              </a:rPr>
              <a:t> + </a:t>
            </a:r>
            <a:r>
              <a:rPr lang="en-GB" sz="1662" b="1" dirty="0">
                <a:solidFill>
                  <a:srgbClr val="A31515"/>
                </a:solidFill>
                <a:latin typeface="Consolas"/>
              </a:rPr>
              <a:t>" rows detected"</a:t>
            </a:r>
            <a:r>
              <a:rPr lang="en-GB" sz="1662" b="1" dirty="0">
                <a:solidFill>
                  <a:srgbClr val="333399"/>
                </a:solidFill>
                <a:latin typeface="Consolas"/>
              </a:rPr>
              <a:t>);</a:t>
            </a:r>
          </a:p>
        </p:txBody>
      </p:sp>
      <p:sp>
        <p:nvSpPr>
          <p:cNvPr id="6" name="TextBox 5"/>
          <p:cNvSpPr txBox="1"/>
          <p:nvPr/>
        </p:nvSpPr>
        <p:spPr>
          <a:xfrm>
            <a:off x="556273" y="4830970"/>
            <a:ext cx="10984203" cy="376385"/>
          </a:xfrm>
          <a:prstGeom prst="rect">
            <a:avLst/>
          </a:prstGeom>
          <a:ln/>
        </p:spPr>
        <p:style>
          <a:lnRef idx="2">
            <a:schemeClr val="accent1"/>
          </a:lnRef>
          <a:fillRef idx="1">
            <a:schemeClr val="lt1"/>
          </a:fillRef>
          <a:effectRef idx="0">
            <a:schemeClr val="accent1"/>
          </a:effectRef>
          <a:fontRef idx="minor">
            <a:schemeClr val="dk1"/>
          </a:fontRef>
        </p:style>
        <p:txBody>
          <a:bodyPr wrap="square" rtlCol="0">
            <a:spAutoFit/>
          </a:bodyPr>
          <a:lstStyle>
            <a:defPPr>
              <a:defRPr lang="en-GB"/>
            </a:defPPr>
            <a:lvl1pPr>
              <a:defRPr sz="1846">
                <a:solidFill>
                  <a:schemeClr val="dk1"/>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r>
              <a:rPr lang="en-GB" b="1" dirty="0"/>
              <a:t>Note: 	</a:t>
            </a:r>
            <a:r>
              <a:rPr lang="en-GB" b="1" dirty="0" err="1"/>
              <a:t>ExecuteScalar</a:t>
            </a:r>
            <a:r>
              <a:rPr lang="en-GB" b="1" dirty="0"/>
              <a:t>() </a:t>
            </a:r>
            <a:r>
              <a:rPr lang="en-GB" dirty="0"/>
              <a:t>Returns and Object. Casting is required.</a:t>
            </a:r>
          </a:p>
        </p:txBody>
      </p:sp>
    </p:spTree>
    <p:extLst>
      <p:ext uri="{BB962C8B-B14F-4D97-AF65-F5344CB8AC3E}">
        <p14:creationId xmlns:p14="http://schemas.microsoft.com/office/powerpoint/2010/main" val="2188928912"/>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Grp="1" noChangeArrowheads="1"/>
          </p:cNvSpPr>
          <p:nvPr>
            <p:ph type="title"/>
          </p:nvPr>
        </p:nvSpPr>
        <p:spPr/>
        <p:txBody>
          <a:bodyPr/>
          <a:lstStyle/>
          <a:p>
            <a:r>
              <a:rPr lang="en-GB" dirty="0"/>
              <a:t>Module objectives</a:t>
            </a:r>
            <a:endParaRPr lang="en-US" dirty="0"/>
          </a:p>
        </p:txBody>
      </p:sp>
      <p:sp>
        <p:nvSpPr>
          <p:cNvPr id="3076" name="Rectangle 3"/>
          <p:cNvSpPr>
            <a:spLocks noGrp="1" noChangeArrowheads="1"/>
          </p:cNvSpPr>
          <p:nvPr>
            <p:ph idx="1"/>
          </p:nvPr>
        </p:nvSpPr>
        <p:spPr/>
        <p:txBody>
          <a:bodyPr/>
          <a:lstStyle/>
          <a:p>
            <a:pPr>
              <a:buNone/>
            </a:pPr>
            <a:r>
              <a:rPr lang="en-GB" b="1" dirty="0"/>
              <a:t>After completing this module you will be able to:</a:t>
            </a:r>
          </a:p>
          <a:p>
            <a:r>
              <a:rPr lang="en-GB" dirty="0"/>
              <a:t>Describe how to use the ADO.NET’s Disconnected model</a:t>
            </a:r>
          </a:p>
          <a:p>
            <a:r>
              <a:rPr lang="en-GB" dirty="0"/>
              <a:t>Demonstrate how to:</a:t>
            </a:r>
          </a:p>
          <a:p>
            <a:pPr lvl="1"/>
            <a:r>
              <a:rPr lang="en-GB" dirty="0"/>
              <a:t>Connect  and read data into a client side cursor in memory </a:t>
            </a:r>
          </a:p>
          <a:p>
            <a:pPr lvl="1"/>
            <a:r>
              <a:rPr lang="en-GB" dirty="0"/>
              <a:t>How to manipulate the disconnected data</a:t>
            </a:r>
          </a:p>
          <a:p>
            <a:pPr lvl="2"/>
            <a:r>
              <a:rPr lang="en-GB" dirty="0"/>
              <a:t>Read and navigate through rows</a:t>
            </a:r>
          </a:p>
          <a:p>
            <a:pPr lvl="2"/>
            <a:r>
              <a:rPr lang="en-GB" dirty="0"/>
              <a:t>Execute additional queries on the client side</a:t>
            </a:r>
          </a:p>
          <a:p>
            <a:pPr lvl="2"/>
            <a:r>
              <a:rPr lang="en-GB" dirty="0"/>
              <a:t>Update databases with changes</a:t>
            </a:r>
          </a:p>
        </p:txBody>
      </p:sp>
    </p:spTree>
    <p:extLst>
      <p:ext uri="{BB962C8B-B14F-4D97-AF65-F5344CB8AC3E}">
        <p14:creationId xmlns:p14="http://schemas.microsoft.com/office/powerpoint/2010/main" val="803901636"/>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EF892D59-8F09-EF4B-AD6D-DA609442F868}" type="slidenum">
              <a:rPr lang="en-GB" smtClean="0"/>
              <a:pPr/>
              <a:t>14</a:t>
            </a:fld>
            <a:endParaRPr lang="en-GB" dirty="0"/>
          </a:p>
        </p:txBody>
      </p:sp>
      <p:sp>
        <p:nvSpPr>
          <p:cNvPr id="5" name="Text Placeholder 4"/>
          <p:cNvSpPr>
            <a:spLocks noGrp="1"/>
          </p:cNvSpPr>
          <p:nvPr>
            <p:ph type="body" sz="quarter" idx="10"/>
          </p:nvPr>
        </p:nvSpPr>
        <p:spPr/>
        <p:txBody>
          <a:bodyPr/>
          <a:lstStyle/>
          <a:p>
            <a:r>
              <a:rPr lang="en-GB" dirty="0">
                <a:latin typeface="Lucida Console" pitchFamily="49" charset="0"/>
              </a:rPr>
              <a:t>Exercise</a:t>
            </a:r>
          </a:p>
        </p:txBody>
      </p:sp>
      <p:graphicFrame>
        <p:nvGraphicFramePr>
          <p:cNvPr id="7" name="Text Placeholder 5">
            <a:extLst>
              <a:ext uri="{FF2B5EF4-FFF2-40B4-BE49-F238E27FC236}">
                <a16:creationId xmlns:a16="http://schemas.microsoft.com/office/drawing/2014/main" id="{87C78E87-3289-C138-58A7-89D5FF32CA41}"/>
              </a:ext>
            </a:extLst>
          </p:cNvPr>
          <p:cNvGraphicFramePr/>
          <p:nvPr>
            <p:extLst>
              <p:ext uri="{D42A27DB-BD31-4B8C-83A1-F6EECF244321}">
                <p14:modId xmlns:p14="http://schemas.microsoft.com/office/powerpoint/2010/main" val="3205266292"/>
              </p:ext>
            </p:extLst>
          </p:nvPr>
        </p:nvGraphicFramePr>
        <p:xfrm>
          <a:off x="5225143" y="1324716"/>
          <a:ext cx="5878286" cy="27519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166061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equenceNumber xmlns="2884942A-A8DA-48EB-B9BF-C678FA91402D">12</SequenceNumber>
    <IsBuildFile xmlns="2884942A-A8DA-48EB-B9BF-C678FA91402D" xsi:nil="true"/>
    <BookTypeField0 xmlns="2884942A-A8DA-48EB-B9BF-C678FA91402D">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documentManagement>
</p:properties>
</file>

<file path=customXml/item3.xml><?xml version="1.0" encoding="utf-8"?>
<ct:contentTypeSchema xmlns:ct="http://schemas.microsoft.com/office/2006/metadata/contentType" xmlns:ma="http://schemas.microsoft.com/office/2006/metadata/properties/metaAttributes" ct:_="" ma:_="" ma:contentTypeName="Courseware" ma:contentTypeID="0x010100F0967B7CEE8D417F966757887D9466FB00E4A5C4D776B8DF4A95CEF5B5508203AD" ma:contentTypeVersion="0" ma:contentTypeDescription="Base content type which represents courseware documents" ma:contentTypeScope="" ma:versionID="66b44653433bbae61a25ce2c540db361">
  <xsd:schema xmlns:xsd="http://www.w3.org/2001/XMLSchema" xmlns:xs="http://www.w3.org/2001/XMLSchema" xmlns:p="http://schemas.microsoft.com/office/2006/metadata/properties" xmlns:ns2="2884942A-A8DA-48EB-B9BF-C678FA91402D" targetNamespace="http://schemas.microsoft.com/office/2006/metadata/properties" ma:root="true" ma:fieldsID="886d2ed21f0c44fc9d4ba9d91a5ccdf3" ns2:_="">
    <xsd:import namespace="2884942A-A8DA-48EB-B9BF-C678FA91402D"/>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84942A-A8DA-48EB-B9BF-C678FA91402D"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84A4CF0-96E4-48BA-A684-79930F565D8E}">
  <ds:schemaRefs>
    <ds:schemaRef ds:uri="http://schemas.microsoft.com/sharepoint/v3/contenttype/forms"/>
  </ds:schemaRefs>
</ds:datastoreItem>
</file>

<file path=customXml/itemProps2.xml><?xml version="1.0" encoding="utf-8"?>
<ds:datastoreItem xmlns:ds="http://schemas.openxmlformats.org/officeDocument/2006/customXml" ds:itemID="{5D30649F-1D28-4DBD-BCE8-9F22BAEC2CBB}">
  <ds:schemaRefs>
    <ds:schemaRef ds:uri="http://www.w3.org/XML/1998/namespace"/>
    <ds:schemaRef ds:uri="2884942A-A8DA-48EB-B9BF-C678FA91402D"/>
    <ds:schemaRef ds:uri="http://schemas.microsoft.com/office/infopath/2007/PartnerControls"/>
    <ds:schemaRef ds:uri="http://purl.org/dc/terms/"/>
    <ds:schemaRef ds:uri="http://purl.org/dc/elements/1.1/"/>
    <ds:schemaRef ds:uri="http://schemas.microsoft.com/office/2006/metadata/properties"/>
    <ds:schemaRef ds:uri="http://purl.org/dc/dcmitype/"/>
    <ds:schemaRef ds:uri="http://schemas.microsoft.com/office/2006/documentManagement/types"/>
    <ds:schemaRef ds:uri="http://schemas.openxmlformats.org/package/2006/metadata/core-properties"/>
  </ds:schemaRefs>
</ds:datastoreItem>
</file>

<file path=customXml/itemProps3.xml><?xml version="1.0" encoding="utf-8"?>
<ds:datastoreItem xmlns:ds="http://schemas.openxmlformats.org/officeDocument/2006/customXml" ds:itemID="{48E80423-8E58-4E70-BEBF-B1EE158E4A4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84942A-A8DA-48EB-B9BF-C678FA9140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2032</TotalTime>
  <Words>2332</Words>
  <Application>Microsoft Office PowerPoint</Application>
  <PresentationFormat>Widescreen</PresentationFormat>
  <Paragraphs>203</Paragraphs>
  <Slides>14</Slides>
  <Notes>14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Arial</vt:lpstr>
      <vt:lpstr>Calibri</vt:lpstr>
      <vt:lpstr>Consolas</vt:lpstr>
      <vt:lpstr>Courier New</vt:lpstr>
      <vt:lpstr>Krana Fat B</vt:lpstr>
      <vt:lpstr>Lucida Console</vt:lpstr>
      <vt:lpstr>Montserrat</vt:lpstr>
      <vt:lpstr>Times New Roman</vt:lpstr>
      <vt:lpstr>Wingdings</vt:lpstr>
      <vt:lpstr>Wingdings 3</vt:lpstr>
      <vt:lpstr>Master</vt:lpstr>
      <vt:lpstr>Accessing databases using code</vt:lpstr>
      <vt:lpstr>PowerPoint Presentation</vt:lpstr>
      <vt:lpstr>.NET CONNECTED MODEL USING C#</vt:lpstr>
      <vt:lpstr>Module objectives</vt:lpstr>
      <vt:lpstr>The Connection object</vt:lpstr>
      <vt:lpstr>An example of creating connections</vt:lpstr>
      <vt:lpstr>The Command object</vt:lpstr>
      <vt:lpstr>Reading data using a DataReader</vt:lpstr>
      <vt:lpstr>How to update databases?</vt:lpstr>
      <vt:lpstr>Insert a new row </vt:lpstr>
      <vt:lpstr>How to delete rows?</vt:lpstr>
      <vt:lpstr>Scalar queries</vt:lpstr>
      <vt:lpstr>Module objectives</vt:lpstr>
      <vt:lpstr>PowerPoint Presentation</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189</cp:revision>
  <cp:lastPrinted>2019-07-03T09:46:41Z</cp:lastPrinted>
  <dcterms:created xsi:type="dcterms:W3CDTF">2019-09-05T08:17:12Z</dcterms:created>
  <dcterms:modified xsi:type="dcterms:W3CDTF">2022-10-10T17:28:34Z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hapter">
    <vt:lpwstr>1</vt:lpwstr>
  </property>
  <property fmtid="{D5CDD505-2E9C-101B-9397-08002B2CF9AE}" pid="3" name="ContentTypeId">
    <vt:lpwstr>0x010100F0967B7CEE8D417F966757887D9466FB00E4A5C4D776B8DF4A95CEF5B5508203AD</vt:lpwstr>
  </property>
  <property fmtid="{D5CDD505-2E9C-101B-9397-08002B2CF9AE}" pid="4" name="BookType">
    <vt:lpwstr>4</vt:lpwstr>
  </property>
</Properties>
</file>