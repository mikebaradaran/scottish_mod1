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5"/>
    <p:sldMasterId id="2147483672" r:id="rId6"/>
  </p:sldMasterIdLst>
  <p:notesMasterIdLst>
    <p:notesMasterId r:id="rId29"/>
  </p:notesMasterIdLst>
  <p:handoutMasterIdLst>
    <p:handoutMasterId r:id="rId30"/>
  </p:handoutMasterIdLst>
  <p:sldIdLst>
    <p:sldId id="259" r:id="rId7"/>
    <p:sldId id="260" r:id="rId8"/>
    <p:sldId id="336" r:id="rId9"/>
    <p:sldId id="337" r:id="rId10"/>
    <p:sldId id="338" r:id="rId11"/>
    <p:sldId id="339" r:id="rId12"/>
    <p:sldId id="340" r:id="rId13"/>
    <p:sldId id="368" r:id="rId14"/>
    <p:sldId id="343" r:id="rId15"/>
    <p:sldId id="342" r:id="rId16"/>
    <p:sldId id="357" r:id="rId17"/>
    <p:sldId id="358" r:id="rId18"/>
    <p:sldId id="359" r:id="rId19"/>
    <p:sldId id="360" r:id="rId20"/>
    <p:sldId id="361" r:id="rId21"/>
    <p:sldId id="362" r:id="rId22"/>
    <p:sldId id="363" r:id="rId23"/>
    <p:sldId id="364" r:id="rId24"/>
    <p:sldId id="365" r:id="rId25"/>
    <p:sldId id="370" r:id="rId26"/>
    <p:sldId id="366" r:id="rId27"/>
    <p:sldId id="367" r:id="rId28"/>
  </p:sldIdLst>
  <p:sldSz cx="9144000" cy="6858000" type="screen4x3"/>
  <p:notesSz cx="6794500" cy="9921875"/>
  <p:defaultTextStyle>
    <a:defPPr>
      <a:defRPr lang="en-GB"/>
    </a:defPPr>
    <a:lvl1pPr algn="l" rtl="0" eaLnBrk="0" fontAlgn="base" hangingPunct="0">
      <a:spcBef>
        <a:spcPct val="50000"/>
      </a:spcBef>
      <a:spcAft>
        <a:spcPct val="0"/>
      </a:spcAft>
      <a:defRPr sz="1000" kern="1200">
        <a:solidFill>
          <a:schemeClr val="tx1"/>
        </a:solidFill>
        <a:latin typeface="Arial" charset="0"/>
        <a:ea typeface="+mn-ea"/>
        <a:cs typeface="+mn-cs"/>
      </a:defRPr>
    </a:lvl1pPr>
    <a:lvl2pPr marL="457200" algn="l" rtl="0" eaLnBrk="0" fontAlgn="base" hangingPunct="0">
      <a:spcBef>
        <a:spcPct val="50000"/>
      </a:spcBef>
      <a:spcAft>
        <a:spcPct val="0"/>
      </a:spcAft>
      <a:defRPr sz="1000" kern="1200">
        <a:solidFill>
          <a:schemeClr val="tx1"/>
        </a:solidFill>
        <a:latin typeface="Arial" charset="0"/>
        <a:ea typeface="+mn-ea"/>
        <a:cs typeface="+mn-cs"/>
      </a:defRPr>
    </a:lvl2pPr>
    <a:lvl3pPr marL="914400" algn="l" rtl="0" eaLnBrk="0" fontAlgn="base" hangingPunct="0">
      <a:spcBef>
        <a:spcPct val="50000"/>
      </a:spcBef>
      <a:spcAft>
        <a:spcPct val="0"/>
      </a:spcAft>
      <a:defRPr sz="1000" kern="1200">
        <a:solidFill>
          <a:schemeClr val="tx1"/>
        </a:solidFill>
        <a:latin typeface="Arial" charset="0"/>
        <a:ea typeface="+mn-ea"/>
        <a:cs typeface="+mn-cs"/>
      </a:defRPr>
    </a:lvl3pPr>
    <a:lvl4pPr marL="1371600" algn="l" rtl="0" eaLnBrk="0" fontAlgn="base" hangingPunct="0">
      <a:spcBef>
        <a:spcPct val="50000"/>
      </a:spcBef>
      <a:spcAft>
        <a:spcPct val="0"/>
      </a:spcAft>
      <a:defRPr sz="1000" kern="1200">
        <a:solidFill>
          <a:schemeClr val="tx1"/>
        </a:solidFill>
        <a:latin typeface="Arial" charset="0"/>
        <a:ea typeface="+mn-ea"/>
        <a:cs typeface="+mn-cs"/>
      </a:defRPr>
    </a:lvl4pPr>
    <a:lvl5pPr marL="1828800" algn="l" rtl="0" eaLnBrk="0" fontAlgn="base" hangingPunct="0">
      <a:spcBef>
        <a:spcPct val="5000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5">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80000"/>
    <a:srgbClr val="DFFFCD"/>
    <a:srgbClr val="0000C8"/>
    <a:srgbClr val="134183"/>
    <a:srgbClr val="005AA9"/>
    <a:srgbClr val="EAEAE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67656" autoAdjust="0"/>
  </p:normalViewPr>
  <p:slideViewPr>
    <p:cSldViewPr snapToGrid="0">
      <p:cViewPr varScale="1">
        <p:scale>
          <a:sx n="78" d="100"/>
          <a:sy n="78" d="100"/>
        </p:scale>
        <p:origin x="2586" y="84"/>
      </p:cViewPr>
      <p:guideLst>
        <p:guide orient="horz" pos="2160"/>
        <p:guide pos="2880"/>
      </p:guideLst>
    </p:cSldViewPr>
  </p:slideViewPr>
  <p:notesTextViewPr>
    <p:cViewPr>
      <p:scale>
        <a:sx n="100" d="100"/>
        <a:sy n="100" d="100"/>
      </p:scale>
      <p:origin x="0" y="0"/>
    </p:cViewPr>
  </p:notesTextViewPr>
  <p:sorterViewPr>
    <p:cViewPr>
      <p:scale>
        <a:sx n="130" d="100"/>
        <a:sy n="130" d="100"/>
      </p:scale>
      <p:origin x="0" y="0"/>
    </p:cViewPr>
  </p:sorterViewPr>
  <p:notesViewPr>
    <p:cSldViewPr snapToGrid="0">
      <p:cViewPr>
        <p:scale>
          <a:sx n="75" d="100"/>
          <a:sy n="75" d="100"/>
        </p:scale>
        <p:origin x="4104" y="258"/>
      </p:cViewPr>
      <p:guideLst>
        <p:guide orient="horz" pos="3125"/>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30" name="Chapter Title"/>
          <p:cNvSpPr>
            <a:spLocks noGrp="1" noChangeArrowheads="1"/>
          </p:cNvSpPr>
          <p:nvPr>
            <p:ph type="hdr" sz="quarter"/>
          </p:nvPr>
        </p:nvSpPr>
        <p:spPr bwMode="auto">
          <a:xfrm>
            <a:off x="492125" y="260350"/>
            <a:ext cx="5789613" cy="287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200" smtClean="0"/>
            </a:lvl1pPr>
          </a:lstStyle>
          <a:p>
            <a:pPr>
              <a:defRPr/>
            </a:pPr>
            <a:endParaRPr lang="en-US" dirty="0"/>
          </a:p>
        </p:txBody>
      </p:sp>
      <p:sp>
        <p:nvSpPr>
          <p:cNvPr id="13331" name="Top Line"/>
          <p:cNvSpPr>
            <a:spLocks noChangeShapeType="1"/>
          </p:cNvSpPr>
          <p:nvPr/>
        </p:nvSpPr>
        <p:spPr bwMode="auto">
          <a:xfrm>
            <a:off x="515938" y="661988"/>
            <a:ext cx="5740400" cy="0"/>
          </a:xfrm>
          <a:prstGeom prst="line">
            <a:avLst/>
          </a:prstGeom>
          <a:noFill/>
          <a:ln w="9525">
            <a:solidFill>
              <a:schemeClr val="tx1"/>
            </a:solidFill>
            <a:round/>
            <a:headEnd/>
            <a:tailEnd/>
          </a:ln>
          <a:effectLst/>
        </p:spPr>
        <p:txBody>
          <a:bodyPr wrap="none" anchor="ctr"/>
          <a:lstStyle/>
          <a:p>
            <a:pPr>
              <a:defRPr/>
            </a:pPr>
            <a:endParaRPr lang="en-GB"/>
          </a:p>
        </p:txBody>
      </p:sp>
      <p:sp>
        <p:nvSpPr>
          <p:cNvPr id="13334" name="Bottom Line"/>
          <p:cNvSpPr>
            <a:spLocks noChangeShapeType="1"/>
          </p:cNvSpPr>
          <p:nvPr/>
        </p:nvSpPr>
        <p:spPr bwMode="auto">
          <a:xfrm>
            <a:off x="515938" y="9429750"/>
            <a:ext cx="5740400" cy="0"/>
          </a:xfrm>
          <a:prstGeom prst="line">
            <a:avLst/>
          </a:prstGeom>
          <a:noFill/>
          <a:ln w="9525">
            <a:solidFill>
              <a:schemeClr val="tx1"/>
            </a:solidFill>
            <a:round/>
            <a:headEnd/>
            <a:tailEnd/>
          </a:ln>
          <a:effectLst/>
        </p:spPr>
        <p:txBody>
          <a:bodyPr wrap="none" anchor="ctr"/>
          <a:lstStyle/>
          <a:p>
            <a:pPr>
              <a:defRPr/>
            </a:pPr>
            <a:endParaRPr lang="en-GB"/>
          </a:p>
        </p:txBody>
      </p:sp>
      <p:sp>
        <p:nvSpPr>
          <p:cNvPr id="13348" name="Rectangle 36"/>
          <p:cNvSpPr>
            <a:spLocks noGrp="1" noChangeArrowheads="1"/>
          </p:cNvSpPr>
          <p:nvPr>
            <p:ph type="sldNum" sz="quarter" idx="3"/>
          </p:nvPr>
        </p:nvSpPr>
        <p:spPr bwMode="auto">
          <a:xfrm>
            <a:off x="5207000" y="9545638"/>
            <a:ext cx="1079500" cy="2873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smtClean="0"/>
            </a:lvl1pPr>
          </a:lstStyle>
          <a:p>
            <a:pPr>
              <a:defRPr/>
            </a:pPr>
            <a:r>
              <a:rPr lang="en-GB"/>
              <a:t>Page </a:t>
            </a:r>
            <a:fld id="{5F4CC1AF-B28E-43C1-AFC5-83D6B765E54D}" type="slidenum">
              <a:rPr lang="en-GB"/>
              <a:pPr>
                <a:defRPr/>
              </a:pPr>
              <a:t>‹#›</a:t>
            </a:fld>
            <a:endParaRPr lang="en-GB"/>
          </a:p>
        </p:txBody>
      </p:sp>
      <p:sp>
        <p:nvSpPr>
          <p:cNvPr id="13349" name="Text Box 37"/>
          <p:cNvSpPr txBox="1">
            <a:spLocks noChangeArrowheads="1"/>
          </p:cNvSpPr>
          <p:nvPr/>
        </p:nvSpPr>
        <p:spPr bwMode="auto">
          <a:xfrm>
            <a:off x="2708275" y="9548813"/>
            <a:ext cx="1331913" cy="287337"/>
          </a:xfrm>
          <a:prstGeom prst="rect">
            <a:avLst/>
          </a:prstGeom>
          <a:noFill/>
          <a:ln w="9525">
            <a:noFill/>
            <a:miter lim="800000"/>
            <a:headEnd/>
            <a:tailEnd/>
          </a:ln>
          <a:effectLst/>
        </p:spPr>
        <p:txBody>
          <a:bodyPr tIns="72000" bIns="36000"/>
          <a:lstStyle/>
          <a:p>
            <a:pPr algn="ctr">
              <a:defRPr/>
            </a:pPr>
            <a:r>
              <a:rPr lang="en-GB" sz="1200"/>
              <a:t>© QA Ltd</a:t>
            </a:r>
          </a:p>
        </p:txBody>
      </p:sp>
      <p:sp>
        <p:nvSpPr>
          <p:cNvPr id="13351" name="Rectangle 39"/>
          <p:cNvSpPr>
            <a:spLocks noGrp="1" noChangeArrowheads="1"/>
          </p:cNvSpPr>
          <p:nvPr>
            <p:ph type="ftr" sz="quarter" idx="2"/>
          </p:nvPr>
        </p:nvSpPr>
        <p:spPr bwMode="auto">
          <a:xfrm>
            <a:off x="463550" y="9545638"/>
            <a:ext cx="2246313" cy="287337"/>
          </a:xfrm>
          <a:prstGeom prst="rect">
            <a:avLst/>
          </a:prstGeom>
          <a:noFill/>
          <a:ln w="9525">
            <a:noFill/>
            <a:miter lim="800000"/>
            <a:headEnd/>
            <a:tailEnd/>
          </a:ln>
          <a:effectLst/>
        </p:spPr>
        <p:txBody>
          <a:bodyPr vert="horz" wrap="square" lIns="91440" tIns="36000" rIns="180000" bIns="36000" numCol="1" anchor="b" anchorCtr="0" compatLnSpc="1">
            <a:prstTxWarp prst="textNoShape">
              <a:avLst/>
            </a:prstTxWarp>
          </a:bodyPr>
          <a:lstStyle>
            <a:lvl1pPr>
              <a:spcBef>
                <a:spcPct val="0"/>
              </a:spcBef>
              <a:defRPr sz="1200" smtClean="0"/>
            </a:lvl1pPr>
          </a:lstStyle>
          <a:p>
            <a:pPr>
              <a:defRPr/>
            </a:pPr>
            <a:r>
              <a:rPr lang="en-GB"/>
              <a:t>Course Code_vx.y</a:t>
            </a:r>
            <a:endParaRPr lang="en-GB">
              <a:latin typeface="Times New Roman" pitchFamily="18" charset="0"/>
            </a:endParaRPr>
          </a:p>
        </p:txBody>
      </p:sp>
    </p:spTree>
    <p:extLst>
      <p:ext uri="{BB962C8B-B14F-4D97-AF65-F5344CB8AC3E}">
        <p14:creationId xmlns:p14="http://schemas.microsoft.com/office/powerpoint/2010/main" val="38564699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Slide"/>
          <p:cNvSpPr>
            <a:spLocks noGrp="1" noRot="1" noChangeAspect="1" noChangeArrowheads="1" noTextEdit="1"/>
          </p:cNvSpPr>
          <p:nvPr>
            <p:ph type="sldImg" idx="2"/>
          </p:nvPr>
        </p:nvSpPr>
        <p:spPr bwMode="auto">
          <a:xfrm>
            <a:off x="779463" y="717550"/>
            <a:ext cx="5270500" cy="3952875"/>
          </a:xfrm>
          <a:prstGeom prst="rect">
            <a:avLst/>
          </a:prstGeom>
          <a:noFill/>
          <a:ln w="12700">
            <a:solidFill>
              <a:srgbClr val="000000"/>
            </a:solidFill>
            <a:miter lim="800000"/>
            <a:headEnd/>
            <a:tailEnd/>
          </a:ln>
        </p:spPr>
      </p:sp>
      <p:sp>
        <p:nvSpPr>
          <p:cNvPr id="3077" name="Notes"/>
          <p:cNvSpPr>
            <a:spLocks noGrp="1" noChangeArrowheads="1"/>
          </p:cNvSpPr>
          <p:nvPr>
            <p:ph type="body" sz="quarter" idx="3"/>
          </p:nvPr>
        </p:nvSpPr>
        <p:spPr bwMode="auto">
          <a:xfrm>
            <a:off x="600075" y="4783138"/>
            <a:ext cx="5627688" cy="4684712"/>
          </a:xfrm>
          <a:prstGeom prst="rect">
            <a:avLst/>
          </a:prstGeom>
          <a:noFill/>
          <a:ln w="9525">
            <a:noFill/>
            <a:miter lim="800000"/>
            <a:headEnd/>
            <a:tailEnd/>
          </a:ln>
          <a:effectLst/>
        </p:spPr>
        <p:txBody>
          <a:bodyPr vert="horz" wrap="square" lIns="91440" tIns="46800" rIns="91440" bIns="46800" numCol="1" anchor="t" anchorCtr="0" compatLnSpc="1">
            <a:prstTxWarp prst="textNoShape">
              <a:avLst/>
            </a:prstTxWarp>
          </a:bodyPr>
          <a:lstStyle/>
          <a:p>
            <a:pPr lvl="0"/>
            <a:r>
              <a:rPr lang="en-GB" noProof="0"/>
              <a:t>First level</a:t>
            </a:r>
          </a:p>
          <a:p>
            <a:pPr lvl="1"/>
            <a:r>
              <a:rPr lang="en-GB" noProof="0"/>
              <a:t>Second level</a:t>
            </a:r>
          </a:p>
          <a:p>
            <a:pPr lvl="2"/>
            <a:r>
              <a:rPr lang="en-GB" noProof="0"/>
              <a:t>Third level</a:t>
            </a:r>
          </a:p>
          <a:p>
            <a:pPr lvl="3"/>
            <a:r>
              <a:rPr lang="en-GB" noProof="0"/>
              <a:t>Fourth level</a:t>
            </a:r>
          </a:p>
          <a:p>
            <a:pPr lvl="4"/>
            <a:r>
              <a:rPr lang="en-GB" noProof="0"/>
              <a:t>Fifth level</a:t>
            </a:r>
          </a:p>
        </p:txBody>
      </p:sp>
    </p:spTree>
    <p:extLst>
      <p:ext uri="{BB962C8B-B14F-4D97-AF65-F5344CB8AC3E}">
        <p14:creationId xmlns:p14="http://schemas.microsoft.com/office/powerpoint/2010/main" val="568845369"/>
      </p:ext>
    </p:extLst>
  </p:cSld>
  <p:clrMap bg1="lt1" tx1="dk1" bg2="lt2" tx2="dk2" accent1="accent1" accent2="accent2" accent3="accent3" accent4="accent4" accent5="accent5" accent6="accent6" hlink="hlink" folHlink="folHlink"/>
  <p:notesStyle>
    <a:lvl1pPr algn="l" rtl="0" eaLnBrk="0" fontAlgn="base" hangingPunct="0">
      <a:spcBef>
        <a:spcPct val="33000"/>
      </a:spcBef>
      <a:spcAft>
        <a:spcPct val="0"/>
      </a:spcAft>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Book Antiqua" pitchFamily="18" charset="0"/>
        <a:ea typeface="+mn-ea"/>
        <a:cs typeface="+mn-cs"/>
      </a:defRPr>
    </a:lvl1pPr>
    <a:lvl2pPr marL="447675" indent="9525" algn="l" rtl="0" eaLnBrk="0" fontAlgn="base" hangingPunct="0">
      <a:spcBef>
        <a:spcPct val="33000"/>
      </a:spcBef>
      <a:spcAft>
        <a:spcPct val="0"/>
      </a:spcAft>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Book Antiqua" pitchFamily="18" charset="0"/>
        <a:ea typeface="+mn-ea"/>
        <a:cs typeface="+mn-cs"/>
      </a:defRPr>
    </a:lvl2pPr>
    <a:lvl3pPr marL="914400" algn="l" rtl="0" eaLnBrk="0" fontAlgn="base" hangingPunct="0">
      <a:spcBef>
        <a:spcPct val="33000"/>
      </a:spcBef>
      <a:spcAft>
        <a:spcPct val="0"/>
      </a:spcAft>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Book Antiqua" pitchFamily="18" charset="0"/>
        <a:ea typeface="+mn-ea"/>
        <a:cs typeface="+mn-cs"/>
      </a:defRPr>
    </a:lvl3pPr>
    <a:lvl4pPr marL="1343025" indent="28575" algn="l" rtl="0" eaLnBrk="0" fontAlgn="base" hangingPunct="0">
      <a:spcBef>
        <a:spcPct val="33000"/>
      </a:spcBef>
      <a:spcAft>
        <a:spcPct val="0"/>
      </a:spcAft>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Book Antiqua" pitchFamily="18" charset="0"/>
        <a:ea typeface="+mn-ea"/>
        <a:cs typeface="+mn-cs"/>
      </a:defRPr>
    </a:lvl4pPr>
    <a:lvl5pPr marL="1828800" algn="l" rtl="0" eaLnBrk="0" fontAlgn="base" hangingPunct="0">
      <a:spcBef>
        <a:spcPct val="33000"/>
      </a:spcBef>
      <a:spcAft>
        <a:spcPct val="0"/>
      </a:spcAft>
      <a:tabLst>
        <a:tab pos="273050" algn="l"/>
        <a:tab pos="544513" algn="l"/>
        <a:tab pos="796925" algn="l"/>
        <a:tab pos="1069975" algn="l"/>
        <a:tab pos="1343025" algn="l"/>
        <a:tab pos="1614488" algn="l"/>
        <a:tab pos="1887538" algn="l"/>
        <a:tab pos="2159000" algn="l"/>
        <a:tab pos="2413000" algn="l"/>
        <a:tab pos="2684463" algn="l"/>
      </a:tabLs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801044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r>
              <a:rPr lang="en-US" dirty="0"/>
              <a:t>The industry has reached a stable point in the evolution of object-oriented (OO) technologies. We  take for granted classes, objects, and methods. The next big challenge is to reduce the complexity of accessing and integrating information that is not natively defined using OO technology. The two most common sources being relational databases and XML.</a:t>
            </a:r>
          </a:p>
          <a:p>
            <a:r>
              <a:rPr lang="en-US" dirty="0"/>
              <a:t>The LINQ project, rather than adding relational or XML-specific features to the C# language and CLR, has taken a more general approach and has added general-purpose query facilities to the Framework that apply to all sources of information. It is called .NET Language-Integrated Query (LINQ).</a:t>
            </a:r>
          </a:p>
          <a:p>
            <a:r>
              <a:rPr lang="en-US" dirty="0"/>
              <a:t>The term language-integrated query indicates that query is an integrated feature of the C# programming language. Language-integrated query allows query expressions to benefit from the rich metadata, compile-time syntax checking, static typing and IntelliSense that was previously available only to more imperative code. Language-integrated query also allows a single general purpose declarative query facility to be applied to all in-memory information, not just information from external sources.</a:t>
            </a:r>
          </a:p>
          <a:p>
            <a:r>
              <a:rPr lang="en-US" dirty="0"/>
              <a:t>.NET Language-Integrated Query defines a set of general purpose standard query operators that allow traversal, filter, and projection operations to be expressed in a direct yet declarative way in any .NET-based programming language. </a:t>
            </a:r>
          </a:p>
        </p:txBody>
      </p:sp>
    </p:spTree>
    <p:extLst>
      <p:ext uri="{BB962C8B-B14F-4D97-AF65-F5344CB8AC3E}">
        <p14:creationId xmlns:p14="http://schemas.microsoft.com/office/powerpoint/2010/main" val="1911533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93321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05612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94231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8842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occasions when you</a:t>
            </a:r>
            <a:r>
              <a:rPr lang="en-GB" baseline="0" dirty="0"/>
              <a:t> wish to return more than one property of an object but not the entire object. </a:t>
            </a:r>
          </a:p>
          <a:p>
            <a:r>
              <a:rPr lang="en-GB" baseline="0" dirty="0"/>
              <a:t>The slide example shows a typical usage of an anonymous object in a LINQ expression. Usually when you create an object using the "new" keyword, you would mention the name of a class. Please note the absence of a type name after the "new" keyword which is why the object returned is an anonymous type known only to the compiler…but when you iterate over ‘query’ in the </a:t>
            </a:r>
            <a:r>
              <a:rPr lang="en-GB" baseline="0" dirty="0" err="1"/>
              <a:t>foreach</a:t>
            </a:r>
            <a:r>
              <a:rPr lang="en-GB" baseline="0" dirty="0"/>
              <a:t> loop each instance of ‘</a:t>
            </a:r>
            <a:r>
              <a:rPr lang="en-GB" baseline="0" dirty="0" err="1"/>
              <a:t>stu</a:t>
            </a:r>
            <a:r>
              <a:rPr lang="en-GB" baseline="0" dirty="0"/>
              <a:t>’ is referencing an instance of that anonymous type whose compiler generated properties are ‘Name’ and ‘Subject’. Clearly ‘</a:t>
            </a:r>
            <a:r>
              <a:rPr lang="en-GB" baseline="0" dirty="0" err="1"/>
              <a:t>var</a:t>
            </a:r>
            <a:r>
              <a:rPr lang="en-GB" baseline="0" dirty="0"/>
              <a:t>’ has to be used as the datatype of ‘</a:t>
            </a:r>
            <a:r>
              <a:rPr lang="en-GB" baseline="0" dirty="0" err="1"/>
              <a:t>stu</a:t>
            </a:r>
            <a:r>
              <a:rPr lang="en-GB" baseline="0" dirty="0"/>
              <a:t>’ as the developer does not know that actual type of the anonymous object(s).</a:t>
            </a:r>
            <a:endParaRPr lang="en-GB" dirty="0"/>
          </a:p>
        </p:txBody>
      </p:sp>
    </p:spTree>
    <p:extLst>
      <p:ext uri="{BB962C8B-B14F-4D97-AF65-F5344CB8AC3E}">
        <p14:creationId xmlns:p14="http://schemas.microsoft.com/office/powerpoint/2010/main" val="702829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04497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“from name</a:t>
            </a:r>
            <a:r>
              <a:rPr lang="en-GB" baseline="0" dirty="0"/>
              <a:t> </a:t>
            </a:r>
            <a:r>
              <a:rPr lang="en-GB" dirty="0"/>
              <a:t>in names where </a:t>
            </a:r>
            <a:r>
              <a:rPr lang="en-GB" dirty="0" err="1"/>
              <a:t>name.Length</a:t>
            </a:r>
            <a:r>
              <a:rPr lang="en-GB" baseline="0" dirty="0"/>
              <a:t> &gt; 4 </a:t>
            </a:r>
            <a:r>
              <a:rPr lang="en-GB" dirty="0"/>
              <a:t>select name” syntax</a:t>
            </a:r>
            <a:r>
              <a:rPr lang="en-GB" baseline="0" dirty="0"/>
              <a:t> is LINQ - language integrated query, but it is just syntax, ‘syntactic sugar’.</a:t>
            </a:r>
          </a:p>
          <a:p>
            <a:r>
              <a:rPr lang="en-GB" baseline="0" dirty="0"/>
              <a:t>When LINQ was introduced into C# 3 (2007 </a:t>
            </a:r>
            <a:r>
              <a:rPr lang="en-GB" baseline="0" dirty="0" err="1"/>
              <a:t>approx</a:t>
            </a:r>
            <a:r>
              <a:rPr lang="en-GB" baseline="0" dirty="0"/>
              <a:t>) the language spec changed, the compiler needed changing, there were more ‘libraries’ of classes &amp; methods supplied in .NET 3.5 released simultaneously with C#3.</a:t>
            </a:r>
            <a:br>
              <a:rPr lang="en-GB" baseline="0" dirty="0"/>
            </a:br>
            <a:r>
              <a:rPr lang="en-GB" baseline="0" dirty="0"/>
              <a:t>But there was no new version of the CLR – it stayed on CLR 2.0, so basically the .NET runtime knows nothing of LINQ, it is a language feature that is compiled into method calls.</a:t>
            </a:r>
          </a:p>
          <a:p>
            <a:r>
              <a:rPr lang="en-GB" baseline="0" dirty="0"/>
              <a:t>So “</a:t>
            </a:r>
            <a:r>
              <a:rPr lang="en-GB" baseline="0" dirty="0" err="1"/>
              <a:t>var</a:t>
            </a:r>
            <a:r>
              <a:rPr lang="en-GB" baseline="0" dirty="0"/>
              <a:t> query = from n in names where </a:t>
            </a:r>
            <a:r>
              <a:rPr lang="en-GB" baseline="0" dirty="0" err="1"/>
              <a:t>n.Length</a:t>
            </a:r>
            <a:r>
              <a:rPr lang="en-GB" baseline="0" dirty="0"/>
              <a:t> &gt; 4 select </a:t>
            </a:r>
            <a:r>
              <a:rPr lang="en-GB" baseline="0" dirty="0" err="1"/>
              <a:t>n.ToUpper</a:t>
            </a:r>
            <a:r>
              <a:rPr lang="en-GB" baseline="0" dirty="0"/>
              <a:t>()” compiles into something along the lines of</a:t>
            </a:r>
          </a:p>
          <a:p>
            <a:r>
              <a:rPr lang="en-GB" baseline="0" dirty="0" err="1"/>
              <a:t>var</a:t>
            </a:r>
            <a:r>
              <a:rPr lang="en-GB" baseline="0" dirty="0"/>
              <a:t> query = </a:t>
            </a:r>
            <a:r>
              <a:rPr lang="en-GB" baseline="0" dirty="0" err="1"/>
              <a:t>names.Where</a:t>
            </a:r>
            <a:r>
              <a:rPr lang="en-GB" baseline="0" dirty="0"/>
              <a:t>(….).Select(…)</a:t>
            </a:r>
          </a:p>
          <a:p>
            <a:r>
              <a:rPr lang="en-GB" baseline="0" dirty="0"/>
              <a:t>But what do these Where/Select methods take as parameters – answer delegate references. These delegate references are all some variation of the generic </a:t>
            </a:r>
            <a:r>
              <a:rPr lang="en-GB" baseline="0" dirty="0" err="1"/>
              <a:t>Func</a:t>
            </a:r>
            <a:r>
              <a:rPr lang="en-GB" baseline="0" dirty="0"/>
              <a:t>&lt;..,..&gt; delegate type.</a:t>
            </a:r>
            <a:br>
              <a:rPr lang="en-GB" baseline="0" dirty="0"/>
            </a:br>
            <a:r>
              <a:rPr lang="en-GB" baseline="0" dirty="0"/>
              <a:t>ANYWHERE you need to supply a delegate reference you can ALWAYS supply a suitable (correct signature) method.</a:t>
            </a:r>
          </a:p>
          <a:p>
            <a:r>
              <a:rPr lang="en-GB" baseline="0" dirty="0"/>
              <a:t>You are going to see in the following section where and how these methods can be written.</a:t>
            </a:r>
          </a:p>
          <a:p>
            <a:r>
              <a:rPr lang="en-GB" baseline="0" dirty="0"/>
              <a:t>In a ‘normal’ location with a full name and signature or ‘anonymously’ ‘on the fly and in situ’</a:t>
            </a:r>
          </a:p>
          <a:p>
            <a:r>
              <a:rPr lang="en-GB" baseline="0" dirty="0"/>
              <a:t>Read on</a:t>
            </a:r>
            <a:endParaRPr lang="en-GB" dirty="0"/>
          </a:p>
        </p:txBody>
      </p:sp>
    </p:spTree>
    <p:extLst>
      <p:ext uri="{BB962C8B-B14F-4D97-AF65-F5344CB8AC3E}">
        <p14:creationId xmlns:p14="http://schemas.microsoft.com/office/powerpoint/2010/main" val="1396654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IsOdd</a:t>
            </a:r>
            <a:r>
              <a:rPr lang="en-GB" dirty="0"/>
              <a:t>(..) has the correct signature to produce a </a:t>
            </a:r>
            <a:r>
              <a:rPr lang="en-GB" dirty="0" err="1"/>
              <a:t>Func</a:t>
            </a:r>
            <a:r>
              <a:rPr lang="en-GB" dirty="0"/>
              <a:t>&lt;</a:t>
            </a:r>
            <a:r>
              <a:rPr lang="en-GB" dirty="0" err="1"/>
              <a:t>int,bool</a:t>
            </a:r>
            <a:r>
              <a:rPr lang="en-GB" dirty="0"/>
              <a:t>&gt; delegate which is what must be</a:t>
            </a:r>
            <a:r>
              <a:rPr lang="en-GB" baseline="0" dirty="0"/>
              <a:t> passed to the Where method when it is used on an </a:t>
            </a:r>
            <a:r>
              <a:rPr lang="en-GB" baseline="0" dirty="0" err="1"/>
              <a:t>IEnumerable</a:t>
            </a:r>
            <a:r>
              <a:rPr lang="en-GB" baseline="0" dirty="0"/>
              <a:t>&lt;</a:t>
            </a:r>
            <a:r>
              <a:rPr lang="en-GB" baseline="0" dirty="0" err="1"/>
              <a:t>int</a:t>
            </a:r>
            <a:r>
              <a:rPr lang="en-GB" baseline="0" dirty="0"/>
              <a:t>&gt; collection (which is what ‘numbers’ is).</a:t>
            </a:r>
            <a:endParaRPr lang="en-GB" dirty="0"/>
          </a:p>
        </p:txBody>
      </p:sp>
    </p:spTree>
    <p:extLst>
      <p:ext uri="{BB962C8B-B14F-4D97-AF65-F5344CB8AC3E}">
        <p14:creationId xmlns:p14="http://schemas.microsoft.com/office/powerpoint/2010/main" val="307497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the method is written on the fly ‘in situ’, its parameter is ‘n’ and it is implicitly an </a:t>
            </a:r>
            <a:r>
              <a:rPr lang="en-GB" dirty="0" err="1"/>
              <a:t>int</a:t>
            </a:r>
            <a:r>
              <a:rPr lang="en-GB" dirty="0"/>
              <a:t> the bool it returns is the result of ‘n % 2 == 1’.</a:t>
            </a:r>
          </a:p>
          <a:p>
            <a:r>
              <a:rPr lang="en-GB" dirty="0"/>
              <a:t>You have still produced a </a:t>
            </a:r>
            <a:r>
              <a:rPr lang="en-GB" dirty="0" err="1"/>
              <a:t>Func</a:t>
            </a:r>
            <a:r>
              <a:rPr lang="en-GB" dirty="0"/>
              <a:t>&lt;</a:t>
            </a:r>
            <a:r>
              <a:rPr lang="en-GB" dirty="0" err="1"/>
              <a:t>int,bool</a:t>
            </a:r>
            <a:r>
              <a:rPr lang="en-GB" dirty="0"/>
              <a:t>&gt; delegate but via an anonymous (name known only to the compiler that generates it under the covers) method</a:t>
            </a:r>
            <a:r>
              <a:rPr lang="en-GB" baseline="0" dirty="0"/>
              <a:t> authored via a lambda expression.</a:t>
            </a:r>
            <a:endParaRPr lang="en-GB" dirty="0"/>
          </a:p>
        </p:txBody>
      </p:sp>
    </p:spTree>
    <p:extLst>
      <p:ext uri="{BB962C8B-B14F-4D97-AF65-F5344CB8AC3E}">
        <p14:creationId xmlns:p14="http://schemas.microsoft.com/office/powerpoint/2010/main" val="324227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15940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OrderBy</a:t>
            </a:r>
            <a:r>
              <a:rPr lang="en-GB" baseline="0" dirty="0"/>
              <a:t> method takes a </a:t>
            </a:r>
            <a:r>
              <a:rPr lang="en-GB" baseline="0" dirty="0" err="1"/>
              <a:t>Func</a:t>
            </a:r>
            <a:r>
              <a:rPr lang="en-GB" baseline="0" dirty="0"/>
              <a:t>&lt;</a:t>
            </a:r>
            <a:r>
              <a:rPr lang="en-GB" baseline="0" dirty="0" err="1"/>
              <a:t>TSource</a:t>
            </a:r>
            <a:r>
              <a:rPr lang="en-GB" baseline="0" dirty="0"/>
              <a:t>, </a:t>
            </a:r>
            <a:r>
              <a:rPr lang="en-GB" baseline="0" dirty="0" err="1"/>
              <a:t>TKey</a:t>
            </a:r>
            <a:r>
              <a:rPr lang="en-GB" baseline="0" dirty="0"/>
              <a:t>&gt;.</a:t>
            </a:r>
          </a:p>
          <a:p>
            <a:r>
              <a:rPr lang="en-GB" baseline="0" dirty="0" err="1"/>
              <a:t>TSource</a:t>
            </a:r>
            <a:r>
              <a:rPr lang="en-GB" baseline="0" dirty="0"/>
              <a:t> is the type of the source collection – so Student in this case</a:t>
            </a:r>
          </a:p>
          <a:p>
            <a:r>
              <a:rPr lang="en-GB" baseline="0" dirty="0" err="1"/>
              <a:t>TKey</a:t>
            </a:r>
            <a:r>
              <a:rPr lang="en-GB" baseline="0" dirty="0"/>
              <a:t> is what part of that source is being used as a sort key for each (Student) – the Name in this case </a:t>
            </a:r>
          </a:p>
          <a:p>
            <a:r>
              <a:rPr lang="en-GB" baseline="0" dirty="0"/>
              <a:t>So the 2</a:t>
            </a:r>
            <a:r>
              <a:rPr lang="en-GB" baseline="30000" dirty="0"/>
              <a:t>nd</a:t>
            </a:r>
            <a:r>
              <a:rPr lang="en-GB" baseline="0" dirty="0"/>
              <a:t> lambda produces a </a:t>
            </a:r>
            <a:r>
              <a:rPr lang="en-GB" baseline="0" dirty="0" err="1"/>
              <a:t>Func</a:t>
            </a:r>
            <a:r>
              <a:rPr lang="en-GB" baseline="0" dirty="0"/>
              <a:t>&lt;</a:t>
            </a:r>
            <a:r>
              <a:rPr lang="en-GB" baseline="0" dirty="0" err="1"/>
              <a:t>Student,string</a:t>
            </a:r>
            <a:r>
              <a:rPr lang="en-GB" baseline="0" dirty="0"/>
              <a:t>&gt; delegate</a:t>
            </a:r>
          </a:p>
          <a:p>
            <a:r>
              <a:rPr lang="en-GB" baseline="0" dirty="0"/>
              <a:t>Basically from each Student (the datatype of ‘</a:t>
            </a:r>
            <a:r>
              <a:rPr lang="en-GB" baseline="0" dirty="0" err="1"/>
              <a:t>stu</a:t>
            </a:r>
            <a:r>
              <a:rPr lang="en-GB" baseline="0" dirty="0"/>
              <a:t>’) extract the Name to be used for an ascending sort.</a:t>
            </a:r>
            <a:endParaRPr lang="en-GB" dirty="0"/>
          </a:p>
        </p:txBody>
      </p:sp>
    </p:spTree>
    <p:extLst>
      <p:ext uri="{BB962C8B-B14F-4D97-AF65-F5344CB8AC3E}">
        <p14:creationId xmlns:p14="http://schemas.microsoft.com/office/powerpoint/2010/main" val="420371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p:spPr>
        <p:txBody>
          <a:bodyPr/>
          <a:lstStyle/>
          <a:p>
            <a:r>
              <a:rPr lang="en-GB" dirty="0"/>
              <a:t>These sorts of methods are exactly that, methods, and are only available as method calls using dot notation.</a:t>
            </a:r>
          </a:p>
          <a:p>
            <a:r>
              <a:rPr lang="en-GB" dirty="0"/>
              <a:t>They are immediately executed.</a:t>
            </a:r>
          </a:p>
          <a:p>
            <a:r>
              <a:rPr lang="en-GB" dirty="0"/>
              <a:t>There are for example 20 overloads of Sum.</a:t>
            </a:r>
          </a:p>
          <a:p>
            <a:r>
              <a:rPr lang="en-GB" dirty="0"/>
              <a:t>One for each of </a:t>
            </a:r>
            <a:r>
              <a:rPr lang="en-GB" dirty="0" err="1"/>
              <a:t>int</a:t>
            </a:r>
            <a:r>
              <a:rPr lang="en-GB" dirty="0"/>
              <a:t>, long, decimal, double, float</a:t>
            </a:r>
          </a:p>
          <a:p>
            <a:r>
              <a:rPr lang="en-GB" dirty="0"/>
              <a:t>Plus one for each of their </a:t>
            </a:r>
            <a:r>
              <a:rPr lang="en-GB" dirty="0" err="1"/>
              <a:t>nullable</a:t>
            </a:r>
            <a:r>
              <a:rPr lang="en-GB" dirty="0"/>
              <a:t> versions. </a:t>
            </a:r>
            <a:r>
              <a:rPr lang="en-GB" dirty="0" err="1"/>
              <a:t>i.e</a:t>
            </a:r>
            <a:r>
              <a:rPr lang="en-GB" dirty="0"/>
              <a:t> Sum(</a:t>
            </a:r>
            <a:r>
              <a:rPr lang="en-GB" dirty="0" err="1"/>
              <a:t>IEnumerable</a:t>
            </a:r>
            <a:r>
              <a:rPr lang="en-GB" dirty="0"/>
              <a:t>&lt;</a:t>
            </a:r>
            <a:r>
              <a:rPr lang="en-GB" dirty="0" err="1"/>
              <a:t>int</a:t>
            </a:r>
            <a:r>
              <a:rPr lang="en-GB" dirty="0"/>
              <a:t>?&gt; source)</a:t>
            </a:r>
          </a:p>
          <a:p>
            <a:r>
              <a:rPr lang="en-GB" dirty="0"/>
              <a:t>For these 10 different datatypes there is one version that does not require a </a:t>
            </a:r>
            <a:r>
              <a:rPr lang="en-GB" dirty="0" err="1"/>
              <a:t>Func</a:t>
            </a:r>
            <a:r>
              <a:rPr lang="en-GB" dirty="0"/>
              <a:t>&lt;,&gt; and one that does.</a:t>
            </a:r>
          </a:p>
          <a:p>
            <a:r>
              <a:rPr lang="en-GB" dirty="0"/>
              <a:t>In the 1st example above we are invoking .Sum() which simply sums all the elements of the underlying </a:t>
            </a:r>
            <a:r>
              <a:rPr lang="en-GB" dirty="0" err="1"/>
              <a:t>int</a:t>
            </a:r>
            <a:r>
              <a:rPr lang="en-GB" dirty="0"/>
              <a:t>[] source</a:t>
            </a:r>
          </a:p>
          <a:p>
            <a:r>
              <a:rPr lang="en-GB" dirty="0"/>
              <a:t>In the 2nd example we are supplying a </a:t>
            </a:r>
            <a:r>
              <a:rPr lang="en-GB" dirty="0" err="1"/>
              <a:t>Func</a:t>
            </a:r>
            <a:r>
              <a:rPr lang="en-GB" dirty="0"/>
              <a:t> delegate via a lambda expression to project the string into a (numeric) </a:t>
            </a:r>
            <a:r>
              <a:rPr lang="en-GB" dirty="0" err="1"/>
              <a:t>int</a:t>
            </a:r>
            <a:r>
              <a:rPr lang="en-GB" dirty="0"/>
              <a:t> so that it can be </a:t>
            </a:r>
            <a:r>
              <a:rPr lang="en-GB" dirty="0" err="1"/>
              <a:t>Sum’med</a:t>
            </a:r>
            <a:r>
              <a:rPr lang="en-GB" dirty="0"/>
              <a:t>.</a:t>
            </a:r>
          </a:p>
          <a:p>
            <a:endParaRPr lang="en-GB" dirty="0"/>
          </a:p>
          <a:p>
            <a:endParaRPr lang="en-GB" dirty="0"/>
          </a:p>
        </p:txBody>
      </p:sp>
    </p:spTree>
    <p:extLst>
      <p:ext uri="{BB962C8B-B14F-4D97-AF65-F5344CB8AC3E}">
        <p14:creationId xmlns:p14="http://schemas.microsoft.com/office/powerpoint/2010/main" val="4100644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occasions when you</a:t>
            </a:r>
            <a:r>
              <a:rPr lang="en-GB" baseline="0" dirty="0"/>
              <a:t> wish to return more than one property of an object instead of returning the entire object. </a:t>
            </a:r>
          </a:p>
          <a:p>
            <a:r>
              <a:rPr lang="en-GB" baseline="0" dirty="0"/>
              <a:t>The slide example shows a typical usage of an anonymous object in a Lambda expression. </a:t>
            </a:r>
            <a:br>
              <a:rPr lang="en-GB" baseline="0" dirty="0"/>
            </a:br>
            <a:r>
              <a:rPr lang="en-GB" baseline="0" dirty="0"/>
              <a:t>Usually when you create an object using the "new" keyword, you would mention the name of a class. Please note the absence of a type name after the "new" keyword which is why the object returned is of a type known only to the compiler and hence ‘</a:t>
            </a:r>
            <a:r>
              <a:rPr lang="en-GB" baseline="0" dirty="0" err="1"/>
              <a:t>var</a:t>
            </a:r>
            <a:r>
              <a:rPr lang="en-GB" baseline="0" dirty="0"/>
              <a:t>’ has to be used to refer to an instance of it in the </a:t>
            </a:r>
            <a:r>
              <a:rPr lang="en-GB" baseline="0" dirty="0" err="1"/>
              <a:t>foreach</a:t>
            </a:r>
            <a:r>
              <a:rPr lang="en-GB" baseline="0" dirty="0"/>
              <a:t> that follows.</a:t>
            </a:r>
            <a:endParaRPr lang="en-GB" dirty="0"/>
          </a:p>
        </p:txBody>
      </p:sp>
    </p:spTree>
    <p:extLst>
      <p:ext uri="{BB962C8B-B14F-4D97-AF65-F5344CB8AC3E}">
        <p14:creationId xmlns:p14="http://schemas.microsoft.com/office/powerpoint/2010/main" val="2685153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9138" y="450850"/>
            <a:ext cx="5394325" cy="4044950"/>
          </a:xfrm>
        </p:spPr>
      </p:sp>
      <p:sp>
        <p:nvSpPr>
          <p:cNvPr id="4" name="Notes Placeholder 3"/>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7237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3" name="Picture 3166" descr="Courseware Header"/>
          <p:cNvPicPr>
            <a:picLocks noChangeAspect="1" noChangeArrowheads="1"/>
          </p:cNvPicPr>
          <p:nvPr/>
        </p:nvPicPr>
        <p:blipFill>
          <a:blip r:embed="rId2" cstate="print"/>
          <a:srcRect/>
          <a:stretch>
            <a:fillRect/>
          </a:stretch>
        </p:blipFill>
        <p:spPr bwMode="auto">
          <a:xfrm>
            <a:off x="0" y="0"/>
            <a:ext cx="9144000" cy="3025775"/>
          </a:xfrm>
          <a:prstGeom prst="rect">
            <a:avLst/>
          </a:prstGeom>
          <a:noFill/>
          <a:ln w="9525">
            <a:noFill/>
            <a:miter lim="800000"/>
            <a:headEnd/>
            <a:tailEnd/>
          </a:ln>
        </p:spPr>
      </p:pic>
      <p:sp>
        <p:nvSpPr>
          <p:cNvPr id="4" name="Copyright"/>
          <p:cNvSpPr>
            <a:spLocks noChangeArrowheads="1"/>
          </p:cNvSpPr>
          <p:nvPr/>
        </p:nvSpPr>
        <p:spPr bwMode="auto">
          <a:xfrm>
            <a:off x="5849938" y="6580188"/>
            <a:ext cx="3200400" cy="152400"/>
          </a:xfrm>
          <a:prstGeom prst="rect">
            <a:avLst/>
          </a:prstGeom>
          <a:noFill/>
          <a:ln w="9525">
            <a:noFill/>
            <a:miter lim="800000"/>
            <a:headEnd/>
            <a:tailEnd/>
          </a:ln>
          <a:effectLst/>
        </p:spPr>
        <p:txBody>
          <a:bodyPr lIns="0" rIns="0"/>
          <a:lstStyle/>
          <a:p>
            <a:pPr algn="r">
              <a:spcBef>
                <a:spcPct val="0"/>
              </a:spcBef>
              <a:defRPr/>
            </a:pPr>
            <a:fld id="{F6DFDBF8-48D0-4B06-AA74-01BF22664047}" type="slidenum">
              <a:rPr lang="en-GB"/>
              <a:pPr algn="r">
                <a:spcBef>
                  <a:spcPct val="0"/>
                </a:spcBef>
                <a:defRPr/>
              </a:pPr>
              <a:t>‹#›</a:t>
            </a:fld>
            <a:endParaRPr lang="en-GB"/>
          </a:p>
        </p:txBody>
      </p:sp>
      <p:sp>
        <p:nvSpPr>
          <p:cNvPr id="32848" name="Title Slide Title"/>
          <p:cNvSpPr>
            <a:spLocks noGrp="1" noChangeArrowheads="1"/>
          </p:cNvSpPr>
          <p:nvPr>
            <p:ph type="ctrTitle"/>
          </p:nvPr>
        </p:nvSpPr>
        <p:spPr>
          <a:xfrm>
            <a:off x="0" y="2925763"/>
            <a:ext cx="9144000" cy="2506662"/>
          </a:xfrm>
        </p:spPr>
        <p:txBody>
          <a:bodyPr tIns="144000" rIns="2340000" bIns="108000" anchor="t"/>
          <a:lstStyle>
            <a:lvl1pPr marL="176213">
              <a:defRPr sz="3200"/>
            </a:lvl1pPr>
          </a:lstStyle>
          <a:p>
            <a:r>
              <a:rPr lang="en-GB"/>
              <a:t>Slide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49238" y="1071563"/>
            <a:ext cx="4278312" cy="5568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9950" y="1071563"/>
            <a:ext cx="4278313" cy="5568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64051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0" y="0"/>
            <a:ext cx="6705600" cy="66405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p:nvPicPr>
        <p:blipFill>
          <a:blip r:embed="rId2" cstate="print"/>
          <a:srcRect b="6922"/>
          <a:stretch>
            <a:fillRect/>
          </a:stretch>
        </p:blipFill>
        <p:spPr>
          <a:xfrm>
            <a:off x="0" y="4980439"/>
            <a:ext cx="9144000" cy="1775961"/>
          </a:xfrm>
          <a:prstGeom prst="rect">
            <a:avLst/>
          </a:prstGeom>
        </p:spPr>
      </p:pic>
      <p:sp>
        <p:nvSpPr>
          <p:cNvPr id="2" name="Title 1"/>
          <p:cNvSpPr>
            <a:spLocks noGrp="1"/>
          </p:cNvSpPr>
          <p:nvPr>
            <p:ph type="ctrTitle"/>
          </p:nvPr>
        </p:nvSpPr>
        <p:spPr>
          <a:xfrm>
            <a:off x="428599" y="2130431"/>
            <a:ext cx="8286808"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rcRect l="47414"/>
          <a:stretch>
            <a:fillRect/>
          </a:stretch>
        </p:blipFill>
        <p:spPr>
          <a:xfrm>
            <a:off x="670560" y="785794"/>
            <a:ext cx="743712" cy="70713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42847" y="928670"/>
            <a:ext cx="8786844"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42844" y="357166"/>
            <a:ext cx="8786874"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p:nvSpPr>
        <p:spPr>
          <a:xfrm>
            <a:off x="6796118" y="6492905"/>
            <a:ext cx="21336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A Template_Picture Page">
    <p:spTree>
      <p:nvGrpSpPr>
        <p:cNvPr id="1" name=""/>
        <p:cNvGrpSpPr/>
        <p:nvPr/>
      </p:nvGrpSpPr>
      <p:grpSpPr>
        <a:xfrm>
          <a:off x="0" y="0"/>
          <a:ext cx="0" cy="0"/>
          <a:chOff x="0" y="0"/>
          <a:chExt cx="0" cy="0"/>
        </a:xfrm>
      </p:grpSpPr>
      <p:sp>
        <p:nvSpPr>
          <p:cNvPr id="13" name="Content Placeholder 12"/>
          <p:cNvSpPr>
            <a:spLocks noGrp="1"/>
          </p:cNvSpPr>
          <p:nvPr>
            <p:ph sz="quarter" idx="15"/>
          </p:nvPr>
        </p:nvSpPr>
        <p:spPr>
          <a:xfrm>
            <a:off x="142847" y="928694"/>
            <a:ext cx="8786844" cy="5286375"/>
          </a:xfrm>
        </p:spPr>
        <p:txBody>
          <a:bodyPr/>
          <a:lstStyle>
            <a:lvl1pPr>
              <a:buNone/>
              <a:defRPr/>
            </a:lvl1pPr>
          </a:lstStyle>
          <a:p>
            <a:pPr lvl="0"/>
            <a:r>
              <a:rPr lang="en-US"/>
              <a:t>Click to edit Master text styles</a:t>
            </a:r>
          </a:p>
        </p:txBody>
      </p:sp>
      <p:sp>
        <p:nvSpPr>
          <p:cNvPr id="5" name="Title 4"/>
          <p:cNvSpPr>
            <a:spLocks noGrp="1"/>
          </p:cNvSpPr>
          <p:nvPr>
            <p:ph type="title"/>
          </p:nvPr>
        </p:nvSpPr>
        <p:spPr>
          <a:xfrm>
            <a:off x="142844" y="357166"/>
            <a:ext cx="8786874"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p:nvSpPr>
        <p:spPr>
          <a:xfrm>
            <a:off x="6796118" y="6492905"/>
            <a:ext cx="21336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32848" name="Title Slide Title"/>
          <p:cNvSpPr>
            <a:spLocks noGrp="1" noChangeArrowheads="1"/>
          </p:cNvSpPr>
          <p:nvPr>
            <p:ph type="ctrTitle"/>
          </p:nvPr>
        </p:nvSpPr>
        <p:spPr>
          <a:xfrm>
            <a:off x="0" y="2925763"/>
            <a:ext cx="9144000" cy="2506662"/>
          </a:xfrm>
        </p:spPr>
        <p:txBody>
          <a:bodyPr tIns="144000" rIns="2340000" bIns="108000" anchor="t"/>
          <a:lstStyle>
            <a:lvl1pPr marL="176213">
              <a:defRPr sz="3200"/>
            </a:lvl1pPr>
          </a:lstStyle>
          <a:p>
            <a:r>
              <a:rPr lang="en-GB"/>
              <a:t>Slide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Copyright"/>
          <p:cNvSpPr>
            <a:spLocks noChangeArrowheads="1"/>
          </p:cNvSpPr>
          <p:nvPr/>
        </p:nvSpPr>
        <p:spPr bwMode="auto">
          <a:xfrm>
            <a:off x="5849938" y="6580188"/>
            <a:ext cx="3200400" cy="152400"/>
          </a:xfrm>
          <a:prstGeom prst="rect">
            <a:avLst/>
          </a:prstGeom>
          <a:noFill/>
          <a:ln w="9525">
            <a:noFill/>
            <a:miter lim="800000"/>
            <a:headEnd/>
            <a:tailEnd/>
          </a:ln>
          <a:effectLst/>
        </p:spPr>
        <p:txBody>
          <a:bodyPr lIns="0" rIns="0"/>
          <a:lstStyle/>
          <a:p>
            <a:pPr algn="r">
              <a:spcBef>
                <a:spcPct val="0"/>
              </a:spcBef>
              <a:defRPr/>
            </a:pPr>
            <a:fld id="{C4117F73-A18D-4A6B-9D28-DD1B1683D3E7}" type="slidenum">
              <a:rPr lang="en-GB"/>
              <a:pPr algn="r">
                <a:spcBef>
                  <a:spcPct val="0"/>
                </a:spcBef>
                <a:defRPr/>
              </a:pPr>
              <a:t>‹#›</a:t>
            </a:fld>
            <a:endParaRPr lang="en-GB"/>
          </a:p>
        </p:txBody>
      </p:sp>
      <p:sp>
        <p:nvSpPr>
          <p:cNvPr id="1027" name="Slide Title"/>
          <p:cNvSpPr>
            <a:spLocks noGrp="1" noChangeArrowheads="1"/>
          </p:cNvSpPr>
          <p:nvPr>
            <p:ph type="title"/>
          </p:nvPr>
        </p:nvSpPr>
        <p:spPr bwMode="black">
          <a:xfrm>
            <a:off x="0" y="0"/>
            <a:ext cx="9144000" cy="989013"/>
          </a:xfrm>
          <a:prstGeom prst="rect">
            <a:avLst/>
          </a:prstGeom>
          <a:noFill/>
          <a:ln w="9525" algn="ctr">
            <a:noFill/>
            <a:miter lim="800000"/>
            <a:headEnd/>
            <a:tailEnd/>
          </a:ln>
        </p:spPr>
        <p:txBody>
          <a:bodyPr vert="horz" wrap="square" lIns="180000" tIns="180000" rIns="1800000" bIns="126000" numCol="1" anchor="ctr" anchorCtr="0" compatLnSpc="1">
            <a:prstTxWarp prst="textNoShape">
              <a:avLst/>
            </a:prstTxWarp>
          </a:bodyPr>
          <a:lstStyle/>
          <a:p>
            <a:pPr lvl="0"/>
            <a:r>
              <a:rPr lang="en-GB"/>
              <a:t>Slide title</a:t>
            </a:r>
          </a:p>
        </p:txBody>
      </p:sp>
      <p:sp>
        <p:nvSpPr>
          <p:cNvPr id="1028" name="Slide Body"/>
          <p:cNvSpPr>
            <a:spLocks noGrp="1" noChangeArrowheads="1"/>
          </p:cNvSpPr>
          <p:nvPr>
            <p:ph type="body" idx="1"/>
          </p:nvPr>
        </p:nvSpPr>
        <p:spPr bwMode="auto">
          <a:xfrm>
            <a:off x="249238" y="1071563"/>
            <a:ext cx="8709025" cy="5568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First level</a:t>
            </a:r>
          </a:p>
          <a:p>
            <a:pPr lvl="1"/>
            <a:r>
              <a:rPr lang="en-GB"/>
              <a:t>Second level</a:t>
            </a:r>
          </a:p>
          <a:p>
            <a:pPr lvl="2"/>
            <a:r>
              <a:rPr lang="en-GB"/>
              <a:t>Third level</a:t>
            </a:r>
          </a:p>
        </p:txBody>
      </p:sp>
      <p:pic>
        <p:nvPicPr>
          <p:cNvPr id="1029" name="Picture 76" descr="line"/>
          <p:cNvPicPr>
            <a:picLocks noChangeAspect="1" noChangeArrowheads="1"/>
          </p:cNvPicPr>
          <p:nvPr/>
        </p:nvPicPr>
        <p:blipFill>
          <a:blip r:embed="rId13" cstate="print"/>
          <a:srcRect/>
          <a:stretch>
            <a:fillRect/>
          </a:stretch>
        </p:blipFill>
        <p:spPr bwMode="auto">
          <a:xfrm>
            <a:off x="-9525" y="950913"/>
            <a:ext cx="7053263" cy="50800"/>
          </a:xfrm>
          <a:prstGeom prst="rect">
            <a:avLst/>
          </a:prstGeom>
          <a:noFill/>
          <a:ln w="9525">
            <a:noFill/>
            <a:miter lim="800000"/>
            <a:headEnd/>
            <a:tailEnd/>
          </a:ln>
        </p:spPr>
      </p:pic>
      <p:pic>
        <p:nvPicPr>
          <p:cNvPr id="1030" name="Picture 80" descr="QA_FLAT_RGB"/>
          <p:cNvPicPr>
            <a:picLocks noChangeAspect="1" noChangeArrowheads="1"/>
          </p:cNvPicPr>
          <p:nvPr/>
        </p:nvPicPr>
        <p:blipFill>
          <a:blip r:embed="rId14" cstate="print"/>
          <a:srcRect/>
          <a:stretch>
            <a:fillRect/>
          </a:stretch>
        </p:blipFill>
        <p:spPr bwMode="auto">
          <a:xfrm>
            <a:off x="8164513" y="131763"/>
            <a:ext cx="703262" cy="703262"/>
          </a:xfrm>
          <a:prstGeom prst="rect">
            <a:avLst/>
          </a:prstGeom>
          <a:noFill/>
          <a:ln w="9525">
            <a:noFill/>
            <a:miter lim="800000"/>
            <a:headEnd/>
            <a:tailEnd/>
          </a:ln>
        </p:spPr>
      </p:pic>
      <p:pic>
        <p:nvPicPr>
          <p:cNvPr id="2" name="Picture 81" descr="tab"/>
          <p:cNvPicPr>
            <a:picLocks noChangeAspect="1" noChangeArrowheads="1"/>
          </p:cNvPicPr>
          <p:nvPr/>
        </p:nvPicPr>
        <p:blipFill>
          <a:blip r:embed="rId15" cstate="print"/>
          <a:srcRect/>
          <a:stretch>
            <a:fillRect/>
          </a:stretch>
        </p:blipFill>
        <p:spPr bwMode="auto">
          <a:xfrm>
            <a:off x="8982075" y="131763"/>
            <a:ext cx="161925" cy="7048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800" b="1">
          <a:solidFill>
            <a:srgbClr val="005AA9"/>
          </a:solidFill>
          <a:latin typeface="+mj-lt"/>
          <a:ea typeface="+mj-ea"/>
          <a:cs typeface="+mj-cs"/>
        </a:defRPr>
      </a:lvl1pPr>
      <a:lvl2pPr algn="l" rtl="0" eaLnBrk="0" fontAlgn="base" hangingPunct="0">
        <a:spcBef>
          <a:spcPct val="0"/>
        </a:spcBef>
        <a:spcAft>
          <a:spcPct val="0"/>
        </a:spcAft>
        <a:defRPr sz="2800" b="1">
          <a:solidFill>
            <a:srgbClr val="005AA9"/>
          </a:solidFill>
          <a:latin typeface="Arial" charset="0"/>
        </a:defRPr>
      </a:lvl2pPr>
      <a:lvl3pPr algn="l" rtl="0" eaLnBrk="0" fontAlgn="base" hangingPunct="0">
        <a:spcBef>
          <a:spcPct val="0"/>
        </a:spcBef>
        <a:spcAft>
          <a:spcPct val="0"/>
        </a:spcAft>
        <a:defRPr sz="2800" b="1">
          <a:solidFill>
            <a:srgbClr val="005AA9"/>
          </a:solidFill>
          <a:latin typeface="Arial" charset="0"/>
        </a:defRPr>
      </a:lvl3pPr>
      <a:lvl4pPr algn="l" rtl="0" eaLnBrk="0" fontAlgn="base" hangingPunct="0">
        <a:spcBef>
          <a:spcPct val="0"/>
        </a:spcBef>
        <a:spcAft>
          <a:spcPct val="0"/>
        </a:spcAft>
        <a:defRPr sz="2800" b="1">
          <a:solidFill>
            <a:srgbClr val="005AA9"/>
          </a:solidFill>
          <a:latin typeface="Arial" charset="0"/>
        </a:defRPr>
      </a:lvl4pPr>
      <a:lvl5pPr algn="l" rtl="0" eaLnBrk="0" fontAlgn="base" hangingPunct="0">
        <a:spcBef>
          <a:spcPct val="0"/>
        </a:spcBef>
        <a:spcAft>
          <a:spcPct val="0"/>
        </a:spcAft>
        <a:defRPr sz="2800" b="1">
          <a:solidFill>
            <a:srgbClr val="005AA9"/>
          </a:solidFill>
          <a:latin typeface="Arial" charset="0"/>
        </a:defRPr>
      </a:lvl5pPr>
      <a:lvl6pPr marL="457200" algn="l" rtl="0" fontAlgn="base">
        <a:spcBef>
          <a:spcPct val="0"/>
        </a:spcBef>
        <a:spcAft>
          <a:spcPct val="0"/>
        </a:spcAft>
        <a:defRPr sz="2800" b="1">
          <a:solidFill>
            <a:srgbClr val="005AA9"/>
          </a:solidFill>
          <a:latin typeface="Arial" charset="0"/>
        </a:defRPr>
      </a:lvl6pPr>
      <a:lvl7pPr marL="914400" algn="l" rtl="0" fontAlgn="base">
        <a:spcBef>
          <a:spcPct val="0"/>
        </a:spcBef>
        <a:spcAft>
          <a:spcPct val="0"/>
        </a:spcAft>
        <a:defRPr sz="2800" b="1">
          <a:solidFill>
            <a:srgbClr val="005AA9"/>
          </a:solidFill>
          <a:latin typeface="Arial" charset="0"/>
        </a:defRPr>
      </a:lvl7pPr>
      <a:lvl8pPr marL="1371600" algn="l" rtl="0" fontAlgn="base">
        <a:spcBef>
          <a:spcPct val="0"/>
        </a:spcBef>
        <a:spcAft>
          <a:spcPct val="0"/>
        </a:spcAft>
        <a:defRPr sz="2800" b="1">
          <a:solidFill>
            <a:srgbClr val="005AA9"/>
          </a:solidFill>
          <a:latin typeface="Arial" charset="0"/>
        </a:defRPr>
      </a:lvl8pPr>
      <a:lvl9pPr marL="1828800" algn="l" rtl="0" fontAlgn="base">
        <a:spcBef>
          <a:spcPct val="0"/>
        </a:spcBef>
        <a:spcAft>
          <a:spcPct val="0"/>
        </a:spcAft>
        <a:defRPr sz="2800" b="1">
          <a:solidFill>
            <a:srgbClr val="005AA9"/>
          </a:solidFill>
          <a:latin typeface="Arial" charset="0"/>
        </a:defRPr>
      </a:lvl9pPr>
    </p:titleStyle>
    <p:bodyStyle>
      <a:lvl1pPr marL="288925" indent="-288925" algn="l" rtl="0" eaLnBrk="0" fontAlgn="base" hangingPunct="0">
        <a:lnSpc>
          <a:spcPct val="120000"/>
        </a:lnSpc>
        <a:spcBef>
          <a:spcPct val="60000"/>
        </a:spcBef>
        <a:spcAft>
          <a:spcPct val="0"/>
        </a:spcAft>
        <a:buClr>
          <a:schemeClr val="bg2"/>
        </a:buClr>
        <a:buChar char="•"/>
        <a:defRPr sz="2400" b="1">
          <a:solidFill>
            <a:srgbClr val="134183"/>
          </a:solidFill>
          <a:latin typeface="+mn-lt"/>
          <a:ea typeface="+mn-ea"/>
          <a:cs typeface="+mn-cs"/>
        </a:defRPr>
      </a:lvl1pPr>
      <a:lvl2pPr marL="739775" indent="-225425" algn="l" rtl="0" eaLnBrk="0" fontAlgn="base" hangingPunct="0">
        <a:lnSpc>
          <a:spcPct val="110000"/>
        </a:lnSpc>
        <a:spcBef>
          <a:spcPct val="15000"/>
        </a:spcBef>
        <a:spcAft>
          <a:spcPct val="10000"/>
        </a:spcAft>
        <a:buClr>
          <a:schemeClr val="bg2"/>
        </a:buClr>
        <a:buChar char="•"/>
        <a:defRPr sz="2000" b="1">
          <a:solidFill>
            <a:srgbClr val="134183"/>
          </a:solidFill>
          <a:latin typeface="+mn-lt"/>
        </a:defRPr>
      </a:lvl2pPr>
      <a:lvl3pPr marL="1139825" indent="-200025" algn="l" rtl="0" eaLnBrk="0" fontAlgn="base" hangingPunct="0">
        <a:lnSpc>
          <a:spcPct val="110000"/>
        </a:lnSpc>
        <a:spcBef>
          <a:spcPct val="10000"/>
        </a:spcBef>
        <a:spcAft>
          <a:spcPct val="15000"/>
        </a:spcAft>
        <a:buClr>
          <a:schemeClr val="bg2"/>
        </a:buClr>
        <a:buChar char="•"/>
        <a:defRPr>
          <a:solidFill>
            <a:srgbClr val="134183"/>
          </a:solidFill>
          <a:latin typeface="+mn-lt"/>
        </a:defRPr>
      </a:lvl3pPr>
      <a:lvl4pPr marL="1600200" indent="-228600" algn="l" rtl="0" eaLnBrk="0" fontAlgn="base" hangingPunct="0">
        <a:spcBef>
          <a:spcPct val="20000"/>
        </a:spcBef>
        <a:spcAft>
          <a:spcPct val="0"/>
        </a:spcAft>
        <a:buChar char=" "/>
        <a:defRPr sz="1200">
          <a:solidFill>
            <a:schemeClr val="tx1"/>
          </a:solidFill>
          <a:latin typeface="+mn-lt"/>
        </a:defRPr>
      </a:lvl4pPr>
      <a:lvl5pPr marL="2057400" indent="-228600" algn="l" rtl="0" eaLnBrk="0" fontAlgn="base" hangingPunct="0">
        <a:spcBef>
          <a:spcPct val="20000"/>
        </a:spcBef>
        <a:spcAft>
          <a:spcPct val="0"/>
        </a:spcAft>
        <a:buChar char=" "/>
        <a:defRPr sz="1000">
          <a:solidFill>
            <a:schemeClr val="tx1"/>
          </a:solidFill>
          <a:latin typeface="+mn-lt"/>
        </a:defRPr>
      </a:lvl5pPr>
      <a:lvl6pPr marL="2514600" indent="-228600" algn="l" rtl="0" eaLnBrk="0" fontAlgn="base" hangingPunct="0">
        <a:spcBef>
          <a:spcPct val="20000"/>
        </a:spcBef>
        <a:spcAft>
          <a:spcPct val="0"/>
        </a:spcAft>
        <a:buChar char=" "/>
        <a:defRPr sz="1000">
          <a:solidFill>
            <a:schemeClr val="tx1"/>
          </a:solidFill>
          <a:latin typeface="+mn-lt"/>
        </a:defRPr>
      </a:lvl6pPr>
      <a:lvl7pPr marL="2971800" indent="-228600" algn="l" rtl="0" eaLnBrk="0" fontAlgn="base" hangingPunct="0">
        <a:spcBef>
          <a:spcPct val="20000"/>
        </a:spcBef>
        <a:spcAft>
          <a:spcPct val="0"/>
        </a:spcAft>
        <a:buChar char=" "/>
        <a:defRPr sz="1000">
          <a:solidFill>
            <a:schemeClr val="tx1"/>
          </a:solidFill>
          <a:latin typeface="+mn-lt"/>
        </a:defRPr>
      </a:lvl7pPr>
      <a:lvl8pPr marL="3429000" indent="-228600" algn="l" rtl="0" eaLnBrk="0" fontAlgn="base" hangingPunct="0">
        <a:spcBef>
          <a:spcPct val="20000"/>
        </a:spcBef>
        <a:spcAft>
          <a:spcPct val="0"/>
        </a:spcAft>
        <a:buChar char=" "/>
        <a:defRPr sz="1000">
          <a:solidFill>
            <a:schemeClr val="tx1"/>
          </a:solidFill>
          <a:latin typeface="+mn-lt"/>
        </a:defRPr>
      </a:lvl8pPr>
      <a:lvl9pPr marL="3886200" indent="-228600" algn="l" rtl="0" eaLnBrk="0" fontAlgn="base" hangingPunct="0">
        <a:spcBef>
          <a:spcPct val="20000"/>
        </a:spcBef>
        <a:spcAft>
          <a:spcPct val="0"/>
        </a:spcAft>
        <a:buChar char=" "/>
        <a:defRPr sz="1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lide Number Placeholder 5"/>
          <p:cNvSpPr txBox="1">
            <a:spLocks/>
          </p:cNvSpPr>
          <p:nvPr/>
        </p:nvSpPr>
        <p:spPr>
          <a:xfrm>
            <a:off x="6796118" y="6492905"/>
            <a:ext cx="21336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chemeClr val="bg1"/>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2" name="Title Placeholder 1"/>
          <p:cNvSpPr>
            <a:spLocks noGrp="1"/>
          </p:cNvSpPr>
          <p:nvPr>
            <p:ph type="title"/>
          </p:nvPr>
        </p:nvSpPr>
        <p:spPr>
          <a:xfrm>
            <a:off x="142844" y="330895"/>
            <a:ext cx="8786874" cy="500400"/>
          </a:xfrm>
          <a:prstGeom prst="rect">
            <a:avLst/>
          </a:prstGeom>
        </p:spPr>
        <p:txBody>
          <a:bodyPr vert="horz" lIns="91440" tIns="45720" rIns="91440" bIns="45720" rtlCol="0" anchor="ctr">
            <a:normAutofit/>
          </a:bodyPr>
          <a:lstStyle/>
          <a:p>
            <a:pPr marL="342900" marR="0" lvl="0" indent="-342900" defTabSz="914400" rtl="0" eaLnBrk="1" fontAlgn="auto" latinLnBrk="0" hangingPunct="1">
              <a:lnSpc>
                <a:spcPct val="100000"/>
              </a:lnSpc>
              <a:spcBef>
                <a:spcPct val="20000"/>
              </a:spcBef>
              <a:spcAft>
                <a:spcPts val="0"/>
              </a:spcAft>
              <a:tabLst/>
              <a:defRPr/>
            </a:pPr>
            <a:r>
              <a:rPr kumimoji="0" lang="en-US" sz="2400" b="1" i="0" u="none" strike="noStrike" kern="1200" cap="none" spc="0" normalizeH="0" baseline="0" noProof="0">
                <a:ln>
                  <a:noFill/>
                </a:ln>
                <a:solidFill>
                  <a:srgbClr val="0070C0"/>
                </a:solidFill>
                <a:effectLst/>
                <a:uLnTx/>
                <a:uFillTx/>
                <a:latin typeface="Arial" pitchFamily="34" charset="0"/>
                <a:ea typeface="+mn-ea"/>
                <a:cs typeface="Arial" pitchFamily="34" charset="0"/>
              </a:rPr>
              <a:t>Click to edit Master title style</a:t>
            </a:r>
            <a:endParaRPr kumimoji="0" lang="en-GB"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
        <p:nvSpPr>
          <p:cNvPr id="3" name="Text Placeholder 2"/>
          <p:cNvSpPr>
            <a:spLocks noGrp="1"/>
          </p:cNvSpPr>
          <p:nvPr>
            <p:ph type="body" idx="1"/>
          </p:nvPr>
        </p:nvSpPr>
        <p:spPr>
          <a:xfrm>
            <a:off x="142844" y="928800"/>
            <a:ext cx="8786874" cy="5216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itle 4"/>
          <p:cNvSpPr txBox="1">
            <a:spLocks/>
          </p:cNvSpPr>
          <p:nvPr/>
        </p:nvSpPr>
        <p:spPr>
          <a:xfrm>
            <a:off x="142844" y="357166"/>
            <a:ext cx="8786874" cy="500400"/>
          </a:xfrm>
          <a:prstGeom prst="rect">
            <a:avLst/>
          </a:prstGeo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marR="0" lvl="0" indent="-342900" algn="l" defTabSz="914400" rtl="0" eaLnBrk="1" fontAlgn="auto" latinLnBrk="0" hangingPunct="1">
              <a:lnSpc>
                <a:spcPct val="100000"/>
              </a:lnSpc>
              <a:spcBef>
                <a:spcPct val="20000"/>
              </a:spcBef>
              <a:spcAft>
                <a:spcPts val="0"/>
              </a:spcAft>
              <a:buClr>
                <a:schemeClr val="accent1"/>
              </a:buClr>
              <a:buSzTx/>
              <a:buFont typeface="Wingdings" pitchFamily="2" charset="2"/>
              <a:buNone/>
              <a:tabLst/>
              <a:defRPr/>
            </a:pPr>
            <a:endParaRPr kumimoji="0" lang="en-GB" sz="2400" b="1"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marL="342900" marR="0" indent="-342900" algn="l" defTabSz="914400" rtl="0" eaLnBrk="1" fontAlgn="auto" latinLnBrk="0" hangingPunct="1">
        <a:lnSpc>
          <a:spcPct val="100000"/>
        </a:lnSpc>
        <a:spcBef>
          <a:spcPct val="20000"/>
        </a:spcBef>
        <a:spcAft>
          <a:spcPts val="0"/>
        </a:spcAft>
        <a:buNone/>
        <a:tabLst/>
        <a:defRPr kumimoji="0" lang="en-GB" sz="2400" b="1" i="0" u="none" strike="noStrike" kern="1200" cap="none" spc="0" normalizeH="0" baseline="0" noProof="0">
          <a:ln>
            <a:noFill/>
          </a:ln>
          <a:solidFill>
            <a:srgbClr val="0070C0"/>
          </a:solidFill>
          <a:effectLst/>
          <a:uLnTx/>
          <a:uFillTx/>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GB" dirty="0"/>
          </a:p>
          <a:p>
            <a:endParaRPr lang="en-GB" dirty="0"/>
          </a:p>
        </p:txBody>
      </p:sp>
      <p:sp>
        <p:nvSpPr>
          <p:cNvPr id="5" name="Title 1"/>
          <p:cNvSpPr txBox="1">
            <a:spLocks/>
          </p:cNvSpPr>
          <p:nvPr/>
        </p:nvSpPr>
        <p:spPr>
          <a:xfrm>
            <a:off x="360000" y="2160000"/>
            <a:ext cx="8280000" cy="1440000"/>
          </a:xfrm>
          <a:prstGeom prst="rect">
            <a:avLst/>
          </a:prstGeom>
        </p:spPr>
        <p:txBody>
          <a:bodyPr vert="horz" lIns="91440" tIns="45720" rIns="91440" bIns="45720" rtlCol="0" anchor="ctr">
            <a:normAutofit/>
          </a:bodyPr>
          <a:lstStyle>
            <a:lvl1pPr marL="342900" marR="0" indent="-342900" algn="ctr" defTabSz="914400" rtl="0" eaLnBrk="1" fontAlgn="auto" latinLnBrk="0" hangingPunct="1">
              <a:lnSpc>
                <a:spcPct val="100000"/>
              </a:lnSpc>
              <a:spcBef>
                <a:spcPct val="20000"/>
              </a:spcBef>
              <a:spcAft>
                <a:spcPts val="0"/>
              </a:spcAft>
              <a:buNone/>
              <a:tabLst/>
              <a:defRPr kumimoji="0" lang="en-GB" sz="3600" b="1" i="0" u="none" strike="noStrike" kern="1200" cap="none" spc="0" normalizeH="0" baseline="0" noProof="0">
                <a:ln>
                  <a:noFill/>
                </a:ln>
                <a:solidFill>
                  <a:srgbClr val="0070C0"/>
                </a:solidFill>
                <a:effectLst/>
                <a:uLnTx/>
                <a:uFillTx/>
                <a:latin typeface="Arial" pitchFamily="34" charset="0"/>
                <a:ea typeface="+mj-ea"/>
                <a:cs typeface="Arial" pitchFamily="34" charset="0"/>
              </a:defRPr>
            </a:lvl1pPr>
          </a:lstStyle>
          <a:p>
            <a:endParaRPr lang="en-GB" dirty="0"/>
          </a:p>
        </p:txBody>
      </p:sp>
      <p:sp>
        <p:nvSpPr>
          <p:cNvPr id="6" name="Subtitle 2"/>
          <p:cNvSpPr txBox="1">
            <a:spLocks/>
          </p:cNvSpPr>
          <p:nvPr/>
        </p:nvSpPr>
        <p:spPr>
          <a:xfrm>
            <a:off x="1260000" y="3960000"/>
            <a:ext cx="6480000" cy="1800000"/>
          </a:xfrm>
          <a:prstGeom prst="rect">
            <a:avLst/>
          </a:prstGeom>
        </p:spPr>
        <p:txBody>
          <a:bodyPr vert="horz" lIns="91440" tIns="45720" rIns="91440" bIns="45720" rtlCol="0">
            <a:normAutofit/>
          </a:bodyPr>
          <a:lstStyle>
            <a:lvl1pPr marL="0" indent="0" algn="ctr" defTabSz="914400" rtl="0" eaLnBrk="1" latinLnBrk="0" hangingPunct="1">
              <a:spcBef>
                <a:spcPct val="20000"/>
              </a:spcBef>
              <a:buClr>
                <a:schemeClr val="accent1"/>
              </a:buClr>
              <a:buFont typeface="Wingdings" pitchFamily="2" charset="2"/>
              <a:buNone/>
              <a:defRPr sz="2400" b="1" kern="1200">
                <a:solidFill>
                  <a:srgbClr val="AAAAAA"/>
                </a:solidFill>
                <a:latin typeface="Arial" pitchFamily="34" charset="0"/>
                <a:ea typeface="+mn-ea"/>
                <a:cs typeface="Arial" pitchFamily="34" charset="0"/>
              </a:defRPr>
            </a:lvl1pPr>
            <a:lvl2pPr marL="4572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Arial" pitchFamily="34" charset="0"/>
                <a:ea typeface="+mn-ea"/>
                <a:cs typeface="Arial" pitchFamily="34" charset="0"/>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Arial" pitchFamily="34" charset="0"/>
                <a:ea typeface="+mn-ea"/>
                <a:cs typeface="Arial" pitchFamily="34" charset="0"/>
              </a:defRPr>
            </a:lvl3pPr>
            <a:lvl4pPr marL="13716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Arial" pitchFamily="34" charset="0"/>
                <a:ea typeface="+mn-ea"/>
                <a:cs typeface="Arial" pitchFamily="34" charset="0"/>
              </a:defRPr>
            </a:lvl4pPr>
            <a:lvl5pPr marL="18288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Arial" pitchFamily="34" charset="0"/>
                <a:ea typeface="+mn-ea"/>
                <a:cs typeface="Arial"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pPr>
            <a:r>
              <a:rPr lang="en-GB" i="1" dirty="0">
                <a:solidFill>
                  <a:schemeClr val="tx1">
                    <a:lumMod val="65000"/>
                    <a:lumOff val="35000"/>
                  </a:schemeClr>
                </a:solidFill>
              </a:rPr>
              <a:t>LINQ and Lambdas</a:t>
            </a: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a:p>
            <a:pPr fontAlgn="auto">
              <a:spcAft>
                <a:spcPts val="0"/>
              </a:spcAft>
            </a:pPr>
            <a:endParaRPr lang="en-GB" i="1" dirty="0">
              <a:solidFill>
                <a:schemeClr val="tx1">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a:t>Contents</a:t>
            </a:r>
          </a:p>
        </p:txBody>
      </p:sp>
      <p:sp>
        <p:nvSpPr>
          <p:cNvPr id="4099" name="Rectangle 3"/>
          <p:cNvSpPr>
            <a:spLocks noGrp="1" noChangeArrowheads="1"/>
          </p:cNvSpPr>
          <p:nvPr>
            <p:ph idx="1"/>
          </p:nvPr>
        </p:nvSpPr>
        <p:spPr/>
        <p:txBody>
          <a:bodyPr/>
          <a:lstStyle/>
          <a:p>
            <a:r>
              <a:rPr lang="en-GB" sz="2000" dirty="0"/>
              <a:t>Objectives</a:t>
            </a:r>
          </a:p>
          <a:p>
            <a:pPr lvl="1"/>
            <a:r>
              <a:rPr lang="en-GB" sz="1800" dirty="0"/>
              <a:t>Learn about and use LINQ and Lambda expressions</a:t>
            </a:r>
          </a:p>
          <a:p>
            <a:r>
              <a:rPr lang="en-GB" sz="2000" dirty="0"/>
              <a:t>Contents</a:t>
            </a:r>
          </a:p>
          <a:p>
            <a:pPr lvl="1"/>
            <a:r>
              <a:rPr lang="en-GB" sz="1800" dirty="0"/>
              <a:t>The role of LINQ in .NET </a:t>
            </a:r>
          </a:p>
          <a:p>
            <a:pPr lvl="1"/>
            <a:r>
              <a:rPr lang="en-GB" sz="1800" dirty="0"/>
              <a:t>Query syntax – Basic queries, Aggregation</a:t>
            </a:r>
          </a:p>
          <a:p>
            <a:pPr lvl="1"/>
            <a:r>
              <a:rPr lang="en-GB" sz="1800" dirty="0"/>
              <a:t>Create and use Lambda expressions</a:t>
            </a:r>
          </a:p>
          <a:p>
            <a:r>
              <a:rPr lang="en-GB" sz="2000" dirty="0"/>
              <a:t>Hands on Labs</a:t>
            </a:r>
          </a:p>
          <a:p>
            <a:pPr lvl="1"/>
            <a:r>
              <a:rPr lang="en-GB" sz="1800" dirty="0"/>
              <a:t>Using LINQ and the supporting language features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What is </a:t>
            </a:r>
            <a:r>
              <a:rPr lang="en-GB" dirty="0">
                <a:solidFill>
                  <a:srgbClr val="FF0000"/>
                </a:solidFill>
              </a:rPr>
              <a:t>L</a:t>
            </a:r>
            <a:r>
              <a:rPr lang="en-GB" dirty="0"/>
              <a:t>anguage </a:t>
            </a:r>
            <a:r>
              <a:rPr lang="en-GB" dirty="0">
                <a:solidFill>
                  <a:srgbClr val="FF0000"/>
                </a:solidFill>
              </a:rPr>
              <a:t>I</a:t>
            </a:r>
            <a:r>
              <a:rPr lang="en-GB" dirty="0"/>
              <a:t>ntegrated </a:t>
            </a:r>
            <a:r>
              <a:rPr lang="en-GB" dirty="0">
                <a:solidFill>
                  <a:srgbClr val="FF0000"/>
                </a:solidFill>
              </a:rPr>
              <a:t>Q</a:t>
            </a:r>
            <a:r>
              <a:rPr lang="en-GB" dirty="0"/>
              <a:t>uery ?</a:t>
            </a:r>
          </a:p>
        </p:txBody>
      </p:sp>
      <p:sp>
        <p:nvSpPr>
          <p:cNvPr id="3" name="Content Placeholder 2"/>
          <p:cNvSpPr>
            <a:spLocks noGrp="1"/>
          </p:cNvSpPr>
          <p:nvPr>
            <p:ph idx="1"/>
          </p:nvPr>
        </p:nvSpPr>
        <p:spPr>
          <a:xfrm>
            <a:off x="142844" y="928799"/>
            <a:ext cx="8786874" cy="2079095"/>
          </a:xfrm>
        </p:spPr>
        <p:txBody>
          <a:bodyPr>
            <a:normAutofit/>
          </a:bodyPr>
          <a:lstStyle/>
          <a:p>
            <a:r>
              <a:rPr lang="en-GB" dirty="0"/>
              <a:t>Extend .NET languages to add native data querying capability</a:t>
            </a:r>
          </a:p>
          <a:p>
            <a:r>
              <a:rPr lang="en-GB" dirty="0"/>
              <a:t>It has been compared to SQL language </a:t>
            </a:r>
          </a:p>
          <a:p>
            <a:endParaRPr lang="en-GB" dirty="0"/>
          </a:p>
          <a:p>
            <a:pPr lvl="1"/>
            <a:r>
              <a:rPr lang="en-GB" dirty="0"/>
              <a:t>SQL is an extremely rich language for databases</a:t>
            </a:r>
          </a:p>
          <a:p>
            <a:pPr lvl="1"/>
            <a:r>
              <a:rPr lang="en-GB" dirty="0"/>
              <a:t>LINQ is infinitely extensible for any dataset</a:t>
            </a:r>
          </a:p>
        </p:txBody>
      </p:sp>
      <p:sp>
        <p:nvSpPr>
          <p:cNvPr id="4" name="Content Placeholder 2"/>
          <p:cNvSpPr txBox="1">
            <a:spLocks/>
          </p:cNvSpPr>
          <p:nvPr/>
        </p:nvSpPr>
        <p:spPr>
          <a:xfrm>
            <a:off x="142844" y="3079893"/>
            <a:ext cx="8786874" cy="22876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Aft>
                <a:spcPts val="0"/>
              </a:spcAft>
            </a:pPr>
            <a:r>
              <a:rPr lang="en-GB" dirty="0"/>
              <a:t>From a developer’s point of view</a:t>
            </a:r>
          </a:p>
          <a:p>
            <a:pPr lvl="1" fontAlgn="auto">
              <a:spcAft>
                <a:spcPts val="0"/>
              </a:spcAft>
            </a:pPr>
            <a:r>
              <a:rPr lang="en-GB" dirty="0"/>
              <a:t>It is relatively easy to code</a:t>
            </a:r>
          </a:p>
          <a:p>
            <a:pPr lvl="1" fontAlgn="auto">
              <a:spcAft>
                <a:spcPts val="0"/>
              </a:spcAft>
            </a:pPr>
            <a:r>
              <a:rPr lang="en-GB" dirty="0"/>
              <a:t>In one line it does what was traditionally done in 20!</a:t>
            </a:r>
          </a:p>
          <a:p>
            <a:pPr lvl="1" fontAlgn="auto">
              <a:spcAft>
                <a:spcPts val="0"/>
              </a:spcAft>
            </a:pPr>
            <a:r>
              <a:rPr lang="en-GB" dirty="0"/>
              <a:t>Your code has to be minutely tested</a:t>
            </a:r>
          </a:p>
          <a:p>
            <a:pPr lvl="1" fontAlgn="auto">
              <a:spcAft>
                <a:spcPts val="0"/>
              </a:spcAft>
            </a:pPr>
            <a:endParaRPr lang="en-GB" dirty="0"/>
          </a:p>
          <a:p>
            <a:pPr fontAlgn="auto">
              <a:spcAft>
                <a:spcPts val="0"/>
              </a:spcAft>
            </a:pPr>
            <a:r>
              <a:rPr lang="en-GB" dirty="0"/>
              <a:t>Ok, let’s see a few examples and then look deeper into LINQ</a:t>
            </a:r>
          </a:p>
        </p:txBody>
      </p:sp>
    </p:spTree>
    <p:extLst>
      <p:ext uri="{BB962C8B-B14F-4D97-AF65-F5344CB8AC3E}">
        <p14:creationId xmlns:p14="http://schemas.microsoft.com/office/powerpoint/2010/main" val="550445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query </a:t>
            </a:r>
          </a:p>
        </p:txBody>
      </p:sp>
      <p:sp>
        <p:nvSpPr>
          <p:cNvPr id="3" name="Content Placeholder 2"/>
          <p:cNvSpPr>
            <a:spLocks noGrp="1"/>
          </p:cNvSpPr>
          <p:nvPr>
            <p:ph idx="1"/>
          </p:nvPr>
        </p:nvSpPr>
        <p:spPr/>
        <p:txBody>
          <a:bodyPr/>
          <a:lstStyle/>
          <a:p>
            <a:endParaRPr lang="en-GB" dirty="0"/>
          </a:p>
        </p:txBody>
      </p:sp>
      <p:sp>
        <p:nvSpPr>
          <p:cNvPr id="4" name="Rectangle 3"/>
          <p:cNvSpPr/>
          <p:nvPr/>
        </p:nvSpPr>
        <p:spPr>
          <a:xfrm>
            <a:off x="195599" y="962310"/>
            <a:ext cx="6803078" cy="3139321"/>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err="1">
                <a:solidFill>
                  <a:srgbClr val="0000FF"/>
                </a:solidFill>
                <a:highlight>
                  <a:srgbClr val="FFFFFF"/>
                </a:highlight>
                <a:latin typeface="Consolas" panose="020B0609020204030204" pitchFamily="49" charset="0"/>
              </a:rPr>
              <a:t>int</a:t>
            </a:r>
            <a:r>
              <a:rPr lang="en-GB" sz="1800" b="1" dirty="0">
                <a:solidFill>
                  <a:srgbClr val="000000"/>
                </a:solidFill>
                <a:highlight>
                  <a:srgbClr val="FFFFFF"/>
                </a:highlight>
                <a:latin typeface="Consolas" panose="020B0609020204030204" pitchFamily="49" charset="0"/>
              </a:rPr>
              <a:t>[] numbers = { 1, 9, 2, 8, 3, 7, 4, 6, 5 };</a:t>
            </a:r>
          </a:p>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r>
              <a:rPr lang="en-GB" sz="1800" b="1" dirty="0">
                <a:solidFill>
                  <a:srgbClr val="0000FF"/>
                </a:solidFill>
                <a:highlight>
                  <a:srgbClr val="FFFFFF"/>
                </a:highlight>
                <a:latin typeface="Consolas" panose="020B0609020204030204" pitchFamily="49" charset="0"/>
              </a:rPr>
              <a:t>from</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num</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numbers</a:t>
            </a:r>
          </a:p>
          <a:p>
            <a:r>
              <a:rPr lang="pt-BR" sz="1800" b="1" dirty="0">
                <a:solidFill>
                  <a:srgbClr val="000000"/>
                </a:solidFill>
                <a:highlight>
                  <a:srgbClr val="FFFFFF"/>
                </a:highlight>
                <a:latin typeface="Consolas" panose="020B0609020204030204" pitchFamily="49" charset="0"/>
              </a:rPr>
              <a:t>             </a:t>
            </a:r>
            <a:r>
              <a:rPr lang="pt-BR" sz="1800" b="1" dirty="0">
                <a:solidFill>
                  <a:srgbClr val="0000FF"/>
                </a:solidFill>
                <a:highlight>
                  <a:srgbClr val="FFFFFF"/>
                </a:highlight>
                <a:latin typeface="Consolas" panose="020B0609020204030204" pitchFamily="49" charset="0"/>
              </a:rPr>
              <a:t>where</a:t>
            </a:r>
            <a:r>
              <a:rPr lang="pt-BR" sz="1800" b="1" dirty="0">
                <a:solidFill>
                  <a:srgbClr val="000000"/>
                </a:solidFill>
                <a:highlight>
                  <a:srgbClr val="FFFFFF"/>
                </a:highlight>
                <a:latin typeface="Consolas" panose="020B0609020204030204" pitchFamily="49" charset="0"/>
              </a:rPr>
              <a:t> num &gt; 3 &amp;&amp; num % 2 == 0</a:t>
            </a: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select</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num</a:t>
            </a:r>
            <a:r>
              <a:rPr lang="en-GB" sz="1800" b="1" dirty="0">
                <a:solidFill>
                  <a:srgbClr val="000000"/>
                </a:solidFill>
                <a:highlight>
                  <a:srgbClr val="FFFFFF"/>
                </a:highlight>
                <a:latin typeface="Consolas" panose="020B0609020204030204" pitchFamily="49" charset="0"/>
              </a:rPr>
              <a:t>;</a:t>
            </a:r>
            <a:br>
              <a:rPr lang="en-GB" sz="1800" b="1" dirty="0">
                <a:solidFill>
                  <a:srgbClr val="000000"/>
                </a:solidFill>
                <a:highlight>
                  <a:srgbClr val="FFFFFF"/>
                </a:highlight>
                <a:latin typeface="Consolas" panose="020B0609020204030204" pitchFamily="49" charset="0"/>
              </a:rPr>
            </a:br>
            <a:endParaRPr lang="en-GB" sz="1800" b="1" dirty="0">
              <a:solidFill>
                <a:srgbClr val="000000"/>
              </a:solidFill>
              <a:highlight>
                <a:srgbClr val="FFFFFF"/>
              </a:highlight>
              <a:latin typeface="Consolas" panose="020B0609020204030204" pitchFamily="49" charset="0"/>
            </a:endParaRPr>
          </a:p>
          <a:p>
            <a:r>
              <a:rPr lang="en-GB" sz="1800" b="1" dirty="0" err="1">
                <a:solidFill>
                  <a:srgbClr val="0000FF"/>
                </a:solidFill>
                <a:highlight>
                  <a:srgbClr val="FFFFFF"/>
                </a:highlight>
                <a:latin typeface="Consolas" panose="020B0609020204030204" pitchFamily="49" charset="0"/>
              </a:rPr>
              <a:t>foreach</a:t>
            </a:r>
            <a:r>
              <a:rPr lang="en-GB" sz="1800" b="1" dirty="0">
                <a:solidFill>
                  <a:srgbClr val="000000"/>
                </a:solidFill>
                <a:highlight>
                  <a:srgbClr val="FFFFFF"/>
                </a:highlight>
                <a:latin typeface="Consolas" panose="020B0609020204030204" pitchFamily="49" charset="0"/>
              </a:rPr>
              <a:t> (</a:t>
            </a:r>
            <a:r>
              <a:rPr lang="en-GB" sz="1800" b="1" dirty="0" err="1">
                <a:solidFill>
                  <a:srgbClr val="0000FF"/>
                </a:solidFill>
                <a:highlight>
                  <a:srgbClr val="FFFFFF"/>
                </a:highlight>
                <a:latin typeface="Consolas" panose="020B0609020204030204" pitchFamily="49" charset="0"/>
              </a:rPr>
              <a:t>int</a:t>
            </a:r>
            <a:r>
              <a:rPr lang="en-GB" sz="1800" b="1" dirty="0">
                <a:solidFill>
                  <a:srgbClr val="000000"/>
                </a:solidFill>
                <a:highlight>
                  <a:srgbClr val="FFFFFF"/>
                </a:highlight>
                <a:latin typeface="Consolas" panose="020B0609020204030204" pitchFamily="49" charset="0"/>
              </a:rPr>
              <a:t> n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query) {</a:t>
            </a:r>
          </a:p>
          <a:p>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Console</a:t>
            </a:r>
            <a:r>
              <a:rPr lang="en-GB" sz="1800" b="1" dirty="0" err="1">
                <a:solidFill>
                  <a:srgbClr val="000000"/>
                </a:solidFill>
                <a:highlight>
                  <a:srgbClr val="FFFFFF"/>
                </a:highlight>
                <a:latin typeface="Consolas" panose="020B0609020204030204" pitchFamily="49" charset="0"/>
              </a:rPr>
              <a:t>.WriteLine</a:t>
            </a:r>
            <a:r>
              <a:rPr lang="en-GB" sz="1800" b="1" dirty="0">
                <a:solidFill>
                  <a:srgbClr val="000000"/>
                </a:solidFill>
                <a:highlight>
                  <a:srgbClr val="FFFFFF"/>
                </a:highlight>
                <a:latin typeface="Consolas" panose="020B0609020204030204" pitchFamily="49" charset="0"/>
              </a:rPr>
              <a:t>(n);</a:t>
            </a:r>
          </a:p>
          <a:p>
            <a:r>
              <a:rPr lang="en-GB" sz="1800" b="1" dirty="0">
                <a:solidFill>
                  <a:srgbClr val="000000"/>
                </a:solidFill>
                <a:highlight>
                  <a:srgbClr val="FFFFFF"/>
                </a:highlight>
                <a:latin typeface="Consolas" panose="020B0609020204030204" pitchFamily="49" charset="0"/>
              </a:rPr>
              <a:t>}</a:t>
            </a:r>
          </a:p>
        </p:txBody>
      </p:sp>
      <p:pic>
        <p:nvPicPr>
          <p:cNvPr id="5" name="Picture 4"/>
          <p:cNvPicPr>
            <a:picLocks noChangeAspect="1"/>
          </p:cNvPicPr>
          <p:nvPr/>
        </p:nvPicPr>
        <p:blipFill>
          <a:blip r:embed="rId3"/>
          <a:stretch>
            <a:fillRect/>
          </a:stretch>
        </p:blipFill>
        <p:spPr>
          <a:xfrm>
            <a:off x="195599" y="4614910"/>
            <a:ext cx="4080773" cy="1530290"/>
          </a:xfrm>
          <a:prstGeom prst="rect">
            <a:avLst/>
          </a:prstGeom>
          <a:ln>
            <a:noFill/>
          </a:ln>
          <a:effectLst>
            <a:outerShdw blurRad="292100" dist="139700" dir="2700000" algn="tl" rotWithShape="0">
              <a:srgbClr val="333333">
                <a:alpha val="65000"/>
              </a:srgbClr>
            </a:outerShdw>
          </a:effectLst>
        </p:spPr>
      </p:pic>
      <p:grpSp>
        <p:nvGrpSpPr>
          <p:cNvPr id="8" name="Group 7"/>
          <p:cNvGrpSpPr/>
          <p:nvPr/>
        </p:nvGrpSpPr>
        <p:grpSpPr>
          <a:xfrm>
            <a:off x="4403071" y="1811220"/>
            <a:ext cx="4579402" cy="2780382"/>
            <a:chOff x="4403071" y="1811220"/>
            <a:chExt cx="4579402" cy="2780382"/>
          </a:xfrm>
        </p:grpSpPr>
        <p:sp>
          <p:nvSpPr>
            <p:cNvPr id="6" name="Rectangle 5"/>
            <p:cNvSpPr/>
            <p:nvPr/>
          </p:nvSpPr>
          <p:spPr>
            <a:xfrm>
              <a:off x="4403071" y="2406388"/>
              <a:ext cx="4579402" cy="2185214"/>
            </a:xfrm>
            <a:prstGeom prst="rect">
              <a:avLst/>
            </a:prstGeom>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numbers = { 1,9,2,8,3,7,4,6,5 };</a:t>
              </a:r>
            </a:p>
            <a:p>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&gt; query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&gt;();</a:t>
              </a:r>
            </a:p>
            <a:p>
              <a:r>
                <a:rPr lang="en-GB" sz="1600" dirty="0" err="1">
                  <a:solidFill>
                    <a:srgbClr val="0000FF"/>
                  </a:solidFill>
                  <a:highlight>
                    <a:srgbClr val="FFFFFF"/>
                  </a:highlight>
                  <a:latin typeface="Consolas" panose="020B0609020204030204" pitchFamily="49" charset="0"/>
                </a:rPr>
                <a:t>foreach</a:t>
              </a:r>
              <a:r>
                <a:rPr lang="en-GB" sz="1600" dirty="0">
                  <a:solidFill>
                    <a:srgbClr val="000000"/>
                  </a:solidFill>
                  <a:highlight>
                    <a:srgbClr val="FFFFFF"/>
                  </a:highlight>
                  <a:latin typeface="Consolas" panose="020B0609020204030204" pitchFamily="49" charset="0"/>
                </a:rPr>
                <a:t> (</a:t>
              </a:r>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num</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in</a:t>
              </a:r>
              <a:r>
                <a:rPr lang="en-GB" sz="1600" dirty="0">
                  <a:solidFill>
                    <a:srgbClr val="000000"/>
                  </a:solidFill>
                  <a:highlight>
                    <a:srgbClr val="FFFFFF"/>
                  </a:highlight>
                  <a:latin typeface="Consolas" panose="020B0609020204030204" pitchFamily="49" charset="0"/>
                </a:rPr>
                <a:t> numbers) {</a:t>
              </a:r>
            </a:p>
            <a:p>
              <a:r>
                <a:rPr lang="pt-BR" sz="1600" dirty="0">
                  <a:solidFill>
                    <a:srgbClr val="000000"/>
                  </a:solidFill>
                  <a:highlight>
                    <a:srgbClr val="FFFFFF"/>
                  </a:highlight>
                  <a:latin typeface="Consolas" panose="020B0609020204030204" pitchFamily="49" charset="0"/>
                </a:rPr>
                <a:t>    </a:t>
              </a:r>
              <a:r>
                <a:rPr lang="pt-BR" sz="1600" dirty="0">
                  <a:solidFill>
                    <a:srgbClr val="0000FF"/>
                  </a:solidFill>
                  <a:highlight>
                    <a:srgbClr val="FFFFFF"/>
                  </a:highlight>
                  <a:latin typeface="Consolas" panose="020B0609020204030204" pitchFamily="49" charset="0"/>
                </a:rPr>
                <a:t>if</a:t>
              </a:r>
              <a:r>
                <a:rPr lang="pt-BR" sz="1600" dirty="0">
                  <a:solidFill>
                    <a:srgbClr val="000000"/>
                  </a:solidFill>
                  <a:highlight>
                    <a:srgbClr val="FFFFFF"/>
                  </a:highlight>
                  <a:latin typeface="Consolas" panose="020B0609020204030204" pitchFamily="49" charset="0"/>
                </a:rPr>
                <a:t> (num &gt; 3 &amp;&amp; num % 2 == 0)</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query.Add</a:t>
              </a:r>
              <a:r>
                <a:rPr lang="en-GB" sz="1600" dirty="0">
                  <a:solidFill>
                    <a:srgbClr val="000000"/>
                  </a:solidFill>
                  <a:highlight>
                    <a:srgbClr val="FFFFFF"/>
                  </a:highlight>
                  <a:latin typeface="Consolas" panose="020B0609020204030204" pitchFamily="49" charset="0"/>
                </a:rPr>
                <a:t>(</a:t>
              </a:r>
              <a:r>
                <a:rPr lang="en-GB" sz="1600" dirty="0" err="1">
                  <a:solidFill>
                    <a:srgbClr val="000000"/>
                  </a:solidFill>
                  <a:highlight>
                    <a:srgbClr val="FFFFFF"/>
                  </a:highlight>
                  <a:latin typeface="Consolas" panose="020B0609020204030204" pitchFamily="49" charset="0"/>
                </a:rPr>
                <a:t>num</a:t>
              </a:r>
              <a:r>
                <a:rPr lang="en-GB" sz="1600" dirty="0">
                  <a:solidFill>
                    <a:srgbClr val="000000"/>
                  </a:solidFill>
                  <a:highlight>
                    <a:srgbClr val="FFFFFF"/>
                  </a:highlight>
                  <a:latin typeface="Consolas" panose="020B0609020204030204" pitchFamily="49" charset="0"/>
                </a:rPr>
                <a:t>);</a:t>
              </a:r>
              <a:br>
                <a:rPr lang="en-GB" sz="1600" dirty="0">
                  <a:solidFill>
                    <a:srgbClr val="000000"/>
                  </a:solidFill>
                  <a:highlight>
                    <a:srgbClr val="FFFFFF"/>
                  </a:highlight>
                  <a:latin typeface="Consolas" panose="020B0609020204030204" pitchFamily="49" charset="0"/>
                </a:rPr>
              </a:br>
              <a:r>
                <a:rPr lang="en-GB" sz="1600" dirty="0">
                  <a:solidFill>
                    <a:srgbClr val="000000"/>
                  </a:solidFill>
                  <a:highlight>
                    <a:srgbClr val="FFFFFF"/>
                  </a:highlight>
                  <a:latin typeface="Consolas" panose="020B0609020204030204" pitchFamily="49" charset="0"/>
                </a:rPr>
                <a:t>}</a:t>
              </a:r>
              <a:br>
                <a:rPr lang="en-GB" sz="1600" dirty="0">
                  <a:solidFill>
                    <a:srgbClr val="000000"/>
                  </a:solidFill>
                  <a:highlight>
                    <a:srgbClr val="FFFFFF"/>
                  </a:highlight>
                  <a:latin typeface="Consolas" panose="020B0609020204030204" pitchFamily="49" charset="0"/>
                </a:rPr>
              </a:br>
              <a:r>
                <a:rPr lang="en-GB" sz="1600" dirty="0">
                  <a:solidFill>
                    <a:schemeClr val="accent6">
                      <a:lumMod val="50000"/>
                    </a:schemeClr>
                  </a:solidFill>
                  <a:highlight>
                    <a:srgbClr val="FFFFFF"/>
                  </a:highlight>
                  <a:latin typeface="Consolas" panose="020B0609020204030204" pitchFamily="49" charset="0"/>
                </a:rPr>
                <a:t>// then a </a:t>
              </a:r>
              <a:r>
                <a:rPr lang="en-GB" sz="1600" dirty="0" err="1">
                  <a:solidFill>
                    <a:schemeClr val="accent6">
                      <a:lumMod val="50000"/>
                    </a:schemeClr>
                  </a:solidFill>
                  <a:highlight>
                    <a:srgbClr val="FFFFFF"/>
                  </a:highlight>
                  <a:latin typeface="Consolas" panose="020B0609020204030204" pitchFamily="49" charset="0"/>
                </a:rPr>
                <a:t>foreach</a:t>
              </a:r>
              <a:r>
                <a:rPr lang="en-GB" sz="1600" dirty="0">
                  <a:solidFill>
                    <a:schemeClr val="accent6">
                      <a:lumMod val="50000"/>
                    </a:schemeClr>
                  </a:solidFill>
                  <a:highlight>
                    <a:srgbClr val="FFFFFF"/>
                  </a:highlight>
                  <a:latin typeface="Consolas" panose="020B0609020204030204" pitchFamily="49" charset="0"/>
                </a:rPr>
                <a:t> to print ‘query’</a:t>
              </a:r>
              <a:endParaRPr lang="en-GB" sz="1600" dirty="0">
                <a:solidFill>
                  <a:schemeClr val="accent6">
                    <a:lumMod val="50000"/>
                  </a:schemeClr>
                </a:solidFill>
              </a:endParaRPr>
            </a:p>
          </p:txBody>
        </p:sp>
        <p:sp>
          <p:nvSpPr>
            <p:cNvPr id="7" name="Rounded Rectangular Callout 6"/>
            <p:cNvSpPr/>
            <p:nvPr/>
          </p:nvSpPr>
          <p:spPr>
            <a:xfrm>
              <a:off x="6330461" y="1811220"/>
              <a:ext cx="1987061" cy="527538"/>
            </a:xfrm>
            <a:prstGeom prst="wedgeRoundRectCallou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Arial" pitchFamily="34" charset="0"/>
                  <a:cs typeface="Arial" pitchFamily="34" charset="0"/>
                </a:rPr>
                <a:t>Not using LINQ</a:t>
              </a:r>
            </a:p>
          </p:txBody>
        </p:sp>
      </p:grpSp>
    </p:spTree>
    <p:extLst>
      <p:ext uri="{BB962C8B-B14F-4D97-AF65-F5344CB8AC3E}">
        <p14:creationId xmlns:p14="http://schemas.microsoft.com/office/powerpoint/2010/main" val="88009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more complex filter</a:t>
            </a:r>
          </a:p>
        </p:txBody>
      </p:sp>
      <p:sp>
        <p:nvSpPr>
          <p:cNvPr id="3" name="Content Placeholder 2"/>
          <p:cNvSpPr>
            <a:spLocks noGrp="1"/>
          </p:cNvSpPr>
          <p:nvPr>
            <p:ph idx="1"/>
          </p:nvPr>
        </p:nvSpPr>
        <p:spPr/>
        <p:txBody>
          <a:bodyPr/>
          <a:lstStyle/>
          <a:p>
            <a:endParaRPr lang="en-GB"/>
          </a:p>
        </p:txBody>
      </p:sp>
      <p:sp>
        <p:nvSpPr>
          <p:cNvPr id="4" name="Rectangle 3"/>
          <p:cNvSpPr/>
          <p:nvPr/>
        </p:nvSpPr>
        <p:spPr>
          <a:xfrm>
            <a:off x="175848" y="941689"/>
            <a:ext cx="8753869" cy="4524315"/>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2B91AF"/>
                </a:solidFill>
                <a:highlight>
                  <a:srgbClr val="FFFFFF"/>
                </a:highlight>
                <a:latin typeface="Consolas" panose="020B0609020204030204" pitchFamily="49" charset="0"/>
              </a:rPr>
              <a:t>List</a:t>
            </a:r>
            <a:r>
              <a:rPr lang="en-GB" sz="1800" b="1" dirty="0">
                <a:solidFill>
                  <a:srgbClr val="000000"/>
                </a:solidFill>
                <a:highlight>
                  <a:srgbClr val="FFFFFF"/>
                </a:highlight>
                <a:latin typeface="Consolas" panose="020B0609020204030204" pitchFamily="49" charset="0"/>
              </a:rPr>
              <a:t>&lt;</a:t>
            </a:r>
            <a:r>
              <a:rPr lang="en-GB" sz="1800" b="1" dirty="0">
                <a:solidFill>
                  <a:srgbClr val="0000FF"/>
                </a:solidFill>
                <a:highlight>
                  <a:srgbClr val="FFFFFF"/>
                </a:highlight>
                <a:latin typeface="Consolas" panose="020B0609020204030204" pitchFamily="49" charset="0"/>
              </a:rPr>
              <a:t>string</a:t>
            </a:r>
            <a:r>
              <a:rPr lang="en-GB" sz="1800" b="1" dirty="0">
                <a:solidFill>
                  <a:srgbClr val="000000"/>
                </a:solidFill>
                <a:highlight>
                  <a:srgbClr val="FFFFFF"/>
                </a:highlight>
                <a:latin typeface="Consolas" panose="020B0609020204030204" pitchFamily="49" charset="0"/>
              </a:rPr>
              <a:t>&gt; names = </a:t>
            </a:r>
            <a:r>
              <a:rPr lang="en-GB" sz="1800" b="1" dirty="0">
                <a:solidFill>
                  <a:srgbClr val="0000FF"/>
                </a:solidFill>
                <a:highlight>
                  <a:srgbClr val="FFFFFF"/>
                </a:highlight>
                <a:latin typeface="Consolas" panose="020B0609020204030204" pitchFamily="49" charset="0"/>
              </a:rPr>
              <a:t>new</a:t>
            </a:r>
            <a:r>
              <a:rPr lang="en-GB" sz="1800" b="1" dirty="0">
                <a:solidFill>
                  <a:srgbClr val="000000"/>
                </a:solidFill>
                <a:highlight>
                  <a:srgbClr val="FFFFFF"/>
                </a:highlight>
                <a:latin typeface="Consolas" panose="020B0609020204030204" pitchFamily="49" charset="0"/>
              </a:rPr>
              <a:t> </a:t>
            </a:r>
            <a:r>
              <a:rPr lang="en-GB" sz="1800" b="1" dirty="0">
                <a:solidFill>
                  <a:srgbClr val="2B91AF"/>
                </a:solidFill>
                <a:highlight>
                  <a:srgbClr val="FFFFFF"/>
                </a:highlight>
                <a:latin typeface="Consolas" panose="020B0609020204030204" pitchFamily="49" charset="0"/>
              </a:rPr>
              <a:t>List</a:t>
            </a:r>
            <a:r>
              <a:rPr lang="en-GB" sz="1800" b="1" dirty="0">
                <a:solidFill>
                  <a:srgbClr val="000000"/>
                </a:solidFill>
                <a:highlight>
                  <a:srgbClr val="FFFFFF"/>
                </a:highlight>
                <a:latin typeface="Consolas" panose="020B0609020204030204" pitchFamily="49" charset="0"/>
              </a:rPr>
              <a:t>&lt;</a:t>
            </a:r>
            <a:r>
              <a:rPr lang="en-GB" sz="1800" b="1" dirty="0">
                <a:solidFill>
                  <a:srgbClr val="0000FF"/>
                </a:solidFill>
                <a:highlight>
                  <a:srgbClr val="FFFFFF"/>
                </a:highlight>
                <a:latin typeface="Consolas" panose="020B0609020204030204" pitchFamily="49" charset="0"/>
              </a:rPr>
              <a:t>string</a:t>
            </a:r>
            <a:r>
              <a:rPr lang="en-GB" sz="1800" b="1" dirty="0">
                <a:solidFill>
                  <a:srgbClr val="000000"/>
                </a:solidFill>
                <a:highlight>
                  <a:srgbClr val="FFFFFF"/>
                </a:highlight>
                <a:latin typeface="Consolas" panose="020B0609020204030204" pitchFamily="49" charset="0"/>
              </a:rPr>
              <a:t>&gt; { </a:t>
            </a:r>
          </a:p>
          <a:p>
            <a:r>
              <a:rPr lang="en-GB" sz="1800" b="1" dirty="0">
                <a:solidFill>
                  <a:srgbClr val="A31515"/>
                </a:solidFill>
                <a:highlight>
                  <a:srgbClr val="FFFFFF"/>
                </a:highlight>
                <a:latin typeface="Consolas" panose="020B0609020204030204" pitchFamily="49" charset="0"/>
              </a:rPr>
              <a:t>               "</a:t>
            </a:r>
            <a:r>
              <a:rPr lang="en-GB" sz="1800" b="1" dirty="0" err="1">
                <a:solidFill>
                  <a:srgbClr val="A31515"/>
                </a:solidFill>
                <a:highlight>
                  <a:srgbClr val="FFFFFF"/>
                </a:highlight>
                <a:latin typeface="Consolas" panose="020B0609020204030204" pitchFamily="49" charset="0"/>
              </a:rPr>
              <a:t>Azzie</a:t>
            </a:r>
            <a:r>
              <a:rPr lang="en-GB" sz="1800" b="1" dirty="0">
                <a:solidFill>
                  <a:srgbClr val="A31515"/>
                </a:solidFill>
                <a:highlight>
                  <a:srgbClr val="FFFFFF"/>
                </a:highlight>
                <a:latin typeface="Consolas" panose="020B0609020204030204" pitchFamily="49" charset="0"/>
              </a:rPr>
              <a:t>"</a:t>
            </a:r>
            <a:r>
              <a:rPr lang="en-GB" sz="1800" b="1" dirty="0">
                <a:solidFill>
                  <a:srgbClr val="000000"/>
                </a:solidFill>
                <a:highlight>
                  <a:srgbClr val="FFFFFF"/>
                </a:highlight>
                <a:latin typeface="Consolas" panose="020B0609020204030204" pitchFamily="49" charset="0"/>
              </a:rPr>
              <a:t>, </a:t>
            </a:r>
            <a:r>
              <a:rPr lang="en-GB" sz="1800" b="1" dirty="0">
                <a:solidFill>
                  <a:srgbClr val="A31515"/>
                </a:solidFill>
                <a:highlight>
                  <a:srgbClr val="FFFFFF"/>
                </a:highlight>
                <a:latin typeface="Consolas" panose="020B0609020204030204" pitchFamily="49" charset="0"/>
              </a:rPr>
              <a:t>"Mariana"</a:t>
            </a:r>
            <a:r>
              <a:rPr lang="en-GB" sz="1800" b="1" dirty="0">
                <a:solidFill>
                  <a:srgbClr val="000000"/>
                </a:solidFill>
                <a:highlight>
                  <a:srgbClr val="FFFFFF"/>
                </a:highlight>
                <a:latin typeface="Consolas" panose="020B0609020204030204" pitchFamily="49" charset="0"/>
              </a:rPr>
              <a:t>, </a:t>
            </a:r>
            <a:r>
              <a:rPr lang="en-GB" sz="1800" b="1" dirty="0">
                <a:solidFill>
                  <a:srgbClr val="A31515"/>
                </a:solidFill>
                <a:highlight>
                  <a:srgbClr val="FFFFFF"/>
                </a:highlight>
                <a:latin typeface="Consolas" panose="020B0609020204030204" pitchFamily="49" charset="0"/>
              </a:rPr>
              <a:t>"</a:t>
            </a:r>
            <a:r>
              <a:rPr lang="en-GB" sz="1800" b="1" dirty="0" err="1">
                <a:solidFill>
                  <a:srgbClr val="A31515"/>
                </a:solidFill>
                <a:highlight>
                  <a:srgbClr val="FFFFFF"/>
                </a:highlight>
                <a:latin typeface="Consolas" panose="020B0609020204030204" pitchFamily="49" charset="0"/>
              </a:rPr>
              <a:t>Nancie</a:t>
            </a:r>
            <a:r>
              <a:rPr lang="en-GB" sz="1800" b="1" dirty="0">
                <a:solidFill>
                  <a:srgbClr val="A31515"/>
                </a:solidFill>
                <a:highlight>
                  <a:srgbClr val="FFFFFF"/>
                </a:highlight>
                <a:latin typeface="Consolas" panose="020B0609020204030204" pitchFamily="49" charset="0"/>
              </a:rPr>
              <a:t>"</a:t>
            </a:r>
            <a:r>
              <a:rPr lang="en-GB" sz="1800" b="1" dirty="0">
                <a:solidFill>
                  <a:srgbClr val="000000"/>
                </a:solidFill>
                <a:highlight>
                  <a:srgbClr val="FFFFFF"/>
                </a:highlight>
                <a:latin typeface="Consolas" panose="020B0609020204030204" pitchFamily="49" charset="0"/>
              </a:rPr>
              <a:t>, </a:t>
            </a:r>
            <a:r>
              <a:rPr lang="en-GB" sz="1800" b="1" dirty="0">
                <a:solidFill>
                  <a:srgbClr val="A31515"/>
                </a:solidFill>
                <a:highlight>
                  <a:srgbClr val="FFFFFF"/>
                </a:highlight>
                <a:latin typeface="Consolas" panose="020B0609020204030204" pitchFamily="49" charset="0"/>
              </a:rPr>
              <a:t>"Bob"</a:t>
            </a:r>
            <a:r>
              <a:rPr lang="en-GB" sz="1800" b="1" dirty="0">
                <a:solidFill>
                  <a:srgbClr val="000000"/>
                </a:solidFill>
                <a:highlight>
                  <a:srgbClr val="FFFFFF"/>
                </a:highlight>
                <a:latin typeface="Consolas" panose="020B0609020204030204" pitchFamily="49" charset="0"/>
              </a:rPr>
              <a:t>,</a:t>
            </a:r>
          </a:p>
          <a:p>
            <a:r>
              <a:rPr lang="it-IT" sz="1800" b="1" dirty="0">
                <a:solidFill>
                  <a:srgbClr val="A31515"/>
                </a:solidFill>
                <a:highlight>
                  <a:srgbClr val="FFFFFF"/>
                </a:highlight>
                <a:latin typeface="Consolas" panose="020B0609020204030204" pitchFamily="49" charset="0"/>
              </a:rPr>
              <a:t>               "Anna"</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"Freddie"</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"Donna"</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"Lenna"</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"David"</a:t>
            </a:r>
            <a:r>
              <a:rPr lang="it-IT" sz="1800" b="1" dirty="0">
                <a:solidFill>
                  <a:srgbClr val="000000"/>
                </a:solidFill>
                <a:highlight>
                  <a:srgbClr val="FFFFFF"/>
                </a:highlight>
                <a:latin typeface="Consolas" panose="020B0609020204030204" pitchFamily="49" charset="0"/>
              </a:rPr>
              <a:t> };</a:t>
            </a:r>
          </a:p>
          <a:p>
            <a:endParaRPr lang="en-GB" sz="1800" b="1" dirty="0">
              <a:solidFill>
                <a:srgbClr val="000000"/>
              </a:solidFill>
              <a:highlight>
                <a:srgbClr val="FFFFFF"/>
              </a:highlight>
              <a:latin typeface="Consolas" panose="020B0609020204030204" pitchFamily="49" charset="0"/>
            </a:endParaRPr>
          </a:p>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r>
              <a:rPr lang="en-GB" sz="1800" b="1" dirty="0">
                <a:solidFill>
                  <a:srgbClr val="0000FF"/>
                </a:solidFill>
                <a:highlight>
                  <a:srgbClr val="FFFFFF"/>
                </a:highlight>
                <a:latin typeface="Consolas" panose="020B0609020204030204" pitchFamily="49" charset="0"/>
              </a:rPr>
              <a:t>from</a:t>
            </a:r>
            <a:r>
              <a:rPr lang="en-GB" sz="1800" b="1" dirty="0">
                <a:solidFill>
                  <a:srgbClr val="000000"/>
                </a:solidFill>
                <a:highlight>
                  <a:srgbClr val="FFFFFF"/>
                </a:highlight>
                <a:latin typeface="Consolas" panose="020B0609020204030204" pitchFamily="49" charset="0"/>
              </a:rPr>
              <a:t> name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names</a:t>
            </a: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where</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name.Length</a:t>
            </a:r>
            <a:r>
              <a:rPr lang="en-GB" sz="1800" b="1" dirty="0">
                <a:solidFill>
                  <a:srgbClr val="000000"/>
                </a:solidFill>
                <a:highlight>
                  <a:srgbClr val="FFFFFF"/>
                </a:highlight>
                <a:latin typeface="Consolas" panose="020B0609020204030204" pitchFamily="49" charset="0"/>
              </a:rPr>
              <a:t> &gt; 4 &amp;&amp; </a:t>
            </a:r>
            <a:r>
              <a:rPr lang="en-GB" sz="1800" b="1" dirty="0" err="1">
                <a:solidFill>
                  <a:srgbClr val="000000"/>
                </a:solidFill>
                <a:highlight>
                  <a:srgbClr val="FFFFFF"/>
                </a:highlight>
                <a:latin typeface="Consolas" panose="020B0609020204030204" pitchFamily="49" charset="0"/>
              </a:rPr>
              <a:t>name.EndsWith</a:t>
            </a:r>
            <a:r>
              <a:rPr lang="en-GB" sz="1800" b="1" dirty="0">
                <a:solidFill>
                  <a:srgbClr val="000000"/>
                </a:solidFill>
                <a:highlight>
                  <a:srgbClr val="FFFFFF"/>
                </a:highlight>
                <a:latin typeface="Consolas" panose="020B0609020204030204" pitchFamily="49" charset="0"/>
              </a:rPr>
              <a:t>(</a:t>
            </a:r>
            <a:r>
              <a:rPr lang="en-GB" sz="1800" b="1" dirty="0">
                <a:solidFill>
                  <a:srgbClr val="A31515"/>
                </a:solidFill>
                <a:highlight>
                  <a:srgbClr val="FFFFFF"/>
                </a:highlight>
                <a:latin typeface="Consolas" panose="020B0609020204030204" pitchFamily="49" charset="0"/>
              </a:rPr>
              <a:t>"</a:t>
            </a:r>
            <a:r>
              <a:rPr lang="en-GB" sz="1800" b="1" dirty="0" err="1">
                <a:solidFill>
                  <a:srgbClr val="A31515"/>
                </a:solidFill>
                <a:highlight>
                  <a:srgbClr val="FFFFFF"/>
                </a:highlight>
                <a:latin typeface="Consolas" panose="020B0609020204030204" pitchFamily="49" charset="0"/>
              </a:rPr>
              <a:t>na</a:t>
            </a:r>
            <a:r>
              <a:rPr lang="en-GB" sz="1800" b="1" dirty="0">
                <a:solidFill>
                  <a:srgbClr val="A31515"/>
                </a:solidFill>
                <a:highlight>
                  <a:srgbClr val="FFFFFF"/>
                </a:highlight>
                <a:latin typeface="Consolas" panose="020B0609020204030204" pitchFamily="49" charset="0"/>
              </a:rPr>
              <a:t>"</a:t>
            </a:r>
            <a:r>
              <a:rPr lang="en-GB" sz="1800" b="1" dirty="0">
                <a:solidFill>
                  <a:srgbClr val="000000"/>
                </a:solidFill>
                <a:highlight>
                  <a:srgbClr val="FFFFFF"/>
                </a:highlight>
                <a:latin typeface="Consolas" panose="020B0609020204030204" pitchFamily="49" charset="0"/>
              </a:rPr>
              <a:t>)</a:t>
            </a: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select</a:t>
            </a:r>
            <a:r>
              <a:rPr lang="en-GB" sz="1800" b="1" dirty="0">
                <a:solidFill>
                  <a:srgbClr val="000000"/>
                </a:solidFill>
                <a:highlight>
                  <a:srgbClr val="FFFFFF"/>
                </a:highlight>
                <a:latin typeface="Consolas" panose="020B0609020204030204" pitchFamily="49" charset="0"/>
              </a:rPr>
              <a:t> name;</a:t>
            </a:r>
          </a:p>
          <a:p>
            <a:endParaRPr lang="en-GB" sz="1800" b="1" dirty="0">
              <a:solidFill>
                <a:srgbClr val="000000"/>
              </a:solidFill>
              <a:highlight>
                <a:srgbClr val="FFFFFF"/>
              </a:highlight>
              <a:latin typeface="Consolas" panose="020B0609020204030204" pitchFamily="49" charset="0"/>
            </a:endParaRPr>
          </a:p>
          <a:p>
            <a:r>
              <a:rPr lang="en-GB" sz="1800" b="1" dirty="0" err="1">
                <a:solidFill>
                  <a:srgbClr val="0000FF"/>
                </a:solidFill>
                <a:highlight>
                  <a:srgbClr val="FFFFFF"/>
                </a:highlight>
                <a:latin typeface="Consolas" panose="020B0609020204030204" pitchFamily="49" charset="0"/>
              </a:rPr>
              <a:t>foreach</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string</a:t>
            </a:r>
            <a:r>
              <a:rPr lang="en-GB" sz="1800" b="1" dirty="0">
                <a:solidFill>
                  <a:srgbClr val="000000"/>
                </a:solidFill>
                <a:highlight>
                  <a:srgbClr val="FFFFFF"/>
                </a:highlight>
                <a:latin typeface="Consolas" panose="020B0609020204030204" pitchFamily="49" charset="0"/>
              </a:rPr>
              <a:t> n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query) {</a:t>
            </a:r>
          </a:p>
          <a:p>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Console</a:t>
            </a:r>
            <a:r>
              <a:rPr lang="en-GB" sz="1800" b="1" dirty="0" err="1">
                <a:solidFill>
                  <a:srgbClr val="000000"/>
                </a:solidFill>
                <a:highlight>
                  <a:srgbClr val="FFFFFF"/>
                </a:highlight>
                <a:latin typeface="Consolas" panose="020B0609020204030204" pitchFamily="49" charset="0"/>
              </a:rPr>
              <a:t>.WriteLine</a:t>
            </a:r>
            <a:r>
              <a:rPr lang="en-GB" sz="1800" b="1" dirty="0">
                <a:solidFill>
                  <a:srgbClr val="000000"/>
                </a:solidFill>
                <a:highlight>
                  <a:srgbClr val="FFFFFF"/>
                </a:highlight>
                <a:latin typeface="Consolas" panose="020B0609020204030204" pitchFamily="49" charset="0"/>
              </a:rPr>
              <a:t>(n);</a:t>
            </a:r>
          </a:p>
          <a:p>
            <a:r>
              <a:rPr lang="en-GB" sz="1800" b="1" dirty="0">
                <a:solidFill>
                  <a:srgbClr val="000000"/>
                </a:solidFill>
                <a:highlight>
                  <a:srgbClr val="FFFFFF"/>
                </a:highlight>
                <a:latin typeface="Consolas" panose="020B0609020204030204" pitchFamily="49" charset="0"/>
              </a:rPr>
              <a:t>}</a:t>
            </a:r>
          </a:p>
        </p:txBody>
      </p:sp>
      <p:pic>
        <p:nvPicPr>
          <p:cNvPr id="5" name="Picture 4"/>
          <p:cNvPicPr>
            <a:picLocks noChangeAspect="1"/>
          </p:cNvPicPr>
          <p:nvPr/>
        </p:nvPicPr>
        <p:blipFill>
          <a:blip r:embed="rId2"/>
          <a:stretch>
            <a:fillRect/>
          </a:stretch>
        </p:blipFill>
        <p:spPr>
          <a:xfrm>
            <a:off x="4833944" y="4558075"/>
            <a:ext cx="4116630" cy="16114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58121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What is the </a:t>
            </a:r>
            <a:r>
              <a:rPr lang="en-GB" sz="3100" dirty="0" err="1"/>
              <a:t>var</a:t>
            </a:r>
            <a:r>
              <a:rPr lang="en-GB" sz="3100" dirty="0"/>
              <a:t> </a:t>
            </a:r>
            <a:r>
              <a:rPr lang="en-GB" dirty="0"/>
              <a:t>keyword?</a:t>
            </a:r>
          </a:p>
        </p:txBody>
      </p:sp>
      <p:sp>
        <p:nvSpPr>
          <p:cNvPr id="3" name="Content Placeholder 2"/>
          <p:cNvSpPr>
            <a:spLocks noGrp="1"/>
          </p:cNvSpPr>
          <p:nvPr>
            <p:ph idx="1"/>
          </p:nvPr>
        </p:nvSpPr>
        <p:spPr>
          <a:xfrm>
            <a:off x="142844" y="928799"/>
            <a:ext cx="8786874" cy="5716929"/>
          </a:xfrm>
        </p:spPr>
        <p:txBody>
          <a:bodyPr>
            <a:normAutofit lnSpcReduction="10000"/>
          </a:bodyPr>
          <a:lstStyle/>
          <a:p>
            <a:r>
              <a:rPr lang="en-GB" dirty="0" err="1">
                <a:solidFill>
                  <a:schemeClr val="tx2"/>
                </a:solidFill>
              </a:rPr>
              <a:t>var</a:t>
            </a:r>
            <a:r>
              <a:rPr lang="en-GB" dirty="0"/>
              <a:t> tells the complier to infer the actual type</a:t>
            </a:r>
          </a:p>
          <a:p>
            <a:r>
              <a:rPr lang="en-GB" dirty="0"/>
              <a:t>Does not equate to Object (C#) or Variant (VBA) type</a:t>
            </a:r>
          </a:p>
          <a:p>
            <a:r>
              <a:rPr lang="en-GB"/>
              <a:t>Makes life </a:t>
            </a:r>
            <a:r>
              <a:rPr lang="en-GB" dirty="0"/>
              <a:t>of a developer a bit easier!</a:t>
            </a:r>
          </a:p>
          <a:p>
            <a:pPr lvl="1"/>
            <a:r>
              <a:rPr lang="en-GB" dirty="0"/>
              <a:t>Compare these code samples:</a:t>
            </a:r>
          </a:p>
          <a:p>
            <a:pPr lvl="1"/>
            <a:endParaRPr lang="en-GB" dirty="0"/>
          </a:p>
          <a:p>
            <a:pPr lvl="1"/>
            <a:endParaRPr lang="en-GB" dirty="0"/>
          </a:p>
          <a:p>
            <a:pPr lvl="1"/>
            <a:endParaRPr lang="en-GB" dirty="0"/>
          </a:p>
          <a:p>
            <a:pPr lvl="1"/>
            <a:endParaRPr lang="en-GB" dirty="0"/>
          </a:p>
          <a:p>
            <a:pPr lvl="1"/>
            <a:endParaRPr lang="en-GB" dirty="0"/>
          </a:p>
          <a:p>
            <a:pPr lvl="1"/>
            <a:r>
              <a:rPr lang="en-GB" dirty="0"/>
              <a:t>Or</a:t>
            </a:r>
          </a:p>
          <a:p>
            <a:pPr lvl="1"/>
            <a:endParaRPr lang="en-GB" dirty="0"/>
          </a:p>
          <a:p>
            <a:pPr lvl="1"/>
            <a:endParaRPr lang="en-GB" dirty="0"/>
          </a:p>
          <a:p>
            <a:pPr lvl="1"/>
            <a:endParaRPr lang="en-GB" dirty="0"/>
          </a:p>
          <a:p>
            <a:endParaRPr lang="en-GB" sz="2400" dirty="0"/>
          </a:p>
          <a:p>
            <a:r>
              <a:rPr lang="en-GB" dirty="0" err="1"/>
              <a:t>IEnumerable</a:t>
            </a:r>
            <a:r>
              <a:rPr lang="en-GB" dirty="0"/>
              <a:t>&lt;T&gt;</a:t>
            </a:r>
            <a:r>
              <a:rPr lang="en-GB" sz="1800" dirty="0"/>
              <a:t> </a:t>
            </a:r>
            <a:r>
              <a:rPr lang="en-GB" sz="1800" b="0" dirty="0"/>
              <a:t>is the base interface of collections that can be enumerated</a:t>
            </a:r>
          </a:p>
          <a:p>
            <a:pPr lvl="1"/>
            <a:r>
              <a:rPr lang="en-GB" sz="1800" dirty="0"/>
              <a:t>i.e. </a:t>
            </a:r>
            <a:r>
              <a:rPr lang="en-GB" sz="1800" b="0" dirty="0"/>
              <a:t>you can use “</a:t>
            </a:r>
            <a:r>
              <a:rPr lang="en-GB" sz="1800" b="0" dirty="0" err="1"/>
              <a:t>foreach</a:t>
            </a:r>
            <a:r>
              <a:rPr lang="en-GB" sz="1800" b="0" dirty="0"/>
              <a:t>” on it</a:t>
            </a:r>
            <a:endParaRPr lang="en-GB" sz="1100" b="0" dirty="0"/>
          </a:p>
        </p:txBody>
      </p:sp>
      <p:sp>
        <p:nvSpPr>
          <p:cNvPr id="4" name="Rectangle 3"/>
          <p:cNvSpPr/>
          <p:nvPr/>
        </p:nvSpPr>
        <p:spPr>
          <a:xfrm>
            <a:off x="1529854" y="2633206"/>
            <a:ext cx="6772898"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numbers = { 1, 9, 2, 8, 3, 7, 4, 6, 5 };</a:t>
            </a:r>
          </a:p>
          <a:p>
            <a:r>
              <a:rPr lang="en-GB" sz="1600" b="1" dirty="0" err="1">
                <a:solidFill>
                  <a:srgbClr val="2B91AF"/>
                </a:solidFill>
                <a:highlight>
                  <a:srgbClr val="FFFFFF"/>
                </a:highlight>
                <a:latin typeface="Consolas" panose="020B0609020204030204" pitchFamily="49" charset="0"/>
              </a:rPr>
              <a:t>IEnumerable</a:t>
            </a:r>
            <a:r>
              <a:rPr lang="en-GB" sz="1600" b="1" dirty="0">
                <a:solidFill>
                  <a:srgbClr val="000000"/>
                </a:solidFill>
                <a:highlight>
                  <a:srgbClr val="FFFFFF"/>
                </a:highlight>
                <a:latin typeface="Consolas" panose="020B0609020204030204" pitchFamily="49" charset="0"/>
              </a:rPr>
              <a:t>&lt;</a:t>
            </a:r>
            <a:r>
              <a:rPr lang="en-GB" sz="1600" b="1" dirty="0" err="1">
                <a:solidFill>
                  <a:srgbClr val="0000FF"/>
                </a:solidFill>
                <a:highlight>
                  <a:srgbClr val="FFFFFF"/>
                </a:highlight>
                <a:latin typeface="Consolas" panose="020B0609020204030204" pitchFamily="49" charset="0"/>
              </a:rPr>
              <a:t>int</a:t>
            </a:r>
            <a:r>
              <a:rPr lang="en-GB" sz="1600" b="1" dirty="0">
                <a:solidFill>
                  <a:srgbClr val="000000"/>
                </a:solidFill>
                <a:highlight>
                  <a:srgbClr val="FFFFFF"/>
                </a:highlight>
                <a:latin typeface="Consolas" panose="020B0609020204030204" pitchFamily="49" charset="0"/>
              </a:rPr>
              <a:t>&gt;</a:t>
            </a:r>
            <a:r>
              <a:rPr lang="en-GB" sz="1600" dirty="0">
                <a:solidFill>
                  <a:srgbClr val="000000"/>
                </a:solidFill>
                <a:highlight>
                  <a:srgbClr val="FFFFFF"/>
                </a:highlight>
                <a:latin typeface="Consolas" panose="020B0609020204030204" pitchFamily="49" charset="0"/>
              </a:rPr>
              <a:t> </a:t>
            </a:r>
            <a:r>
              <a:rPr lang="en-GB" sz="1600" b="1" dirty="0">
                <a:solidFill>
                  <a:srgbClr val="000000"/>
                </a:solidFill>
                <a:highlight>
                  <a:srgbClr val="FFFFFF"/>
                </a:highlight>
                <a:latin typeface="Consolas" panose="020B0609020204030204" pitchFamily="49" charset="0"/>
              </a:rPr>
              <a:t>query</a:t>
            </a:r>
            <a:r>
              <a:rPr lang="en-GB" sz="1600" dirty="0">
                <a:solidFill>
                  <a:srgbClr val="000000"/>
                </a:solidFill>
                <a:highlight>
                  <a:srgbClr val="FFFFFF"/>
                </a:highlight>
                <a:latin typeface="Consolas" panose="020B0609020204030204" pitchFamily="49" charset="0"/>
              </a:rPr>
              <a:t> = </a:t>
            </a:r>
            <a:r>
              <a:rPr lang="en-GB" sz="1600" dirty="0">
                <a:solidFill>
                  <a:srgbClr val="0000FF"/>
                </a:solidFill>
                <a:highlight>
                  <a:srgbClr val="FFFFFF"/>
                </a:highlight>
                <a:latin typeface="Consolas" panose="020B0609020204030204" pitchFamily="49" charset="0"/>
              </a:rPr>
              <a:t>from</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num</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in</a:t>
            </a:r>
            <a:r>
              <a:rPr lang="en-GB" sz="1600" dirty="0">
                <a:solidFill>
                  <a:srgbClr val="000000"/>
                </a:solidFill>
                <a:highlight>
                  <a:srgbClr val="FFFFFF"/>
                </a:highlight>
                <a:latin typeface="Consolas" panose="020B0609020204030204" pitchFamily="49" charset="0"/>
              </a:rPr>
              <a:t> numbers</a:t>
            </a:r>
            <a:r>
              <a:rPr lang="pt-BR" sz="1600" dirty="0">
                <a:solidFill>
                  <a:srgbClr val="000000"/>
                </a:solidFill>
                <a:highlight>
                  <a:srgbClr val="FFFFFF"/>
                </a:highlight>
                <a:latin typeface="Consolas" panose="020B0609020204030204" pitchFamily="49" charset="0"/>
              </a:rPr>
              <a:t>                			</a:t>
            </a:r>
            <a:r>
              <a:rPr lang="pt-BR" sz="1600" dirty="0">
                <a:solidFill>
                  <a:srgbClr val="0000FF"/>
                </a:solidFill>
                <a:highlight>
                  <a:srgbClr val="FFFFFF"/>
                </a:highlight>
                <a:latin typeface="Consolas" panose="020B0609020204030204" pitchFamily="49" charset="0"/>
              </a:rPr>
              <a:t>where</a:t>
            </a:r>
            <a:r>
              <a:rPr lang="pt-BR" sz="1600" dirty="0">
                <a:solidFill>
                  <a:srgbClr val="000000"/>
                </a:solidFill>
                <a:highlight>
                  <a:srgbClr val="FFFFFF"/>
                </a:highlight>
                <a:latin typeface="Consolas" panose="020B0609020204030204" pitchFamily="49" charset="0"/>
              </a:rPr>
              <a:t> num &gt; 3 &amp;&amp; num % </a:t>
            </a:r>
            <a:r>
              <a:rPr lang="pt-BR" sz="1600">
                <a:solidFill>
                  <a:srgbClr val="000000"/>
                </a:solidFill>
                <a:highlight>
                  <a:srgbClr val="FFFFFF"/>
                </a:highlight>
                <a:latin typeface="Consolas" panose="020B0609020204030204" pitchFamily="49" charset="0"/>
              </a:rPr>
              <a:t>2 == 0 </a:t>
            </a:r>
            <a:r>
              <a:rPr lang="pt-BR"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select</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num</a:t>
            </a:r>
            <a:r>
              <a:rPr lang="en-GB" sz="1600" dirty="0">
                <a:solidFill>
                  <a:srgbClr val="000000"/>
                </a:solidFill>
                <a:highlight>
                  <a:srgbClr val="FFFFFF"/>
                </a:highlight>
                <a:latin typeface="Consolas" panose="020B0609020204030204" pitchFamily="49" charset="0"/>
              </a:rPr>
              <a:t>;</a:t>
            </a:r>
          </a:p>
        </p:txBody>
      </p:sp>
      <p:sp>
        <p:nvSpPr>
          <p:cNvPr id="5" name="Rectangle 4"/>
          <p:cNvSpPr/>
          <p:nvPr/>
        </p:nvSpPr>
        <p:spPr>
          <a:xfrm>
            <a:off x="1523991" y="4136835"/>
            <a:ext cx="6031841"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err="1">
                <a:solidFill>
                  <a:srgbClr val="0000FF"/>
                </a:solidFill>
                <a:highlight>
                  <a:srgbClr val="FFFFFF"/>
                </a:highlight>
                <a:latin typeface="Consolas" panose="020B0609020204030204" pitchFamily="49" charset="0"/>
              </a:rPr>
              <a:t>int</a:t>
            </a:r>
            <a:r>
              <a:rPr lang="en-GB" sz="1600" b="1" dirty="0">
                <a:solidFill>
                  <a:srgbClr val="000000"/>
                </a:solidFill>
                <a:highlight>
                  <a:srgbClr val="FFFFFF"/>
                </a:highlight>
                <a:latin typeface="Consolas" panose="020B0609020204030204" pitchFamily="49" charset="0"/>
              </a:rPr>
              <a:t>[] numbers = { 1, 9, 2, 8, 3, 7, 4, 6, 5 };</a:t>
            </a:r>
          </a:p>
          <a:p>
            <a:r>
              <a:rPr lang="en-GB" sz="1600" b="1" dirty="0" err="1">
                <a:solidFill>
                  <a:srgbClr val="0000FF"/>
                </a:solidFill>
                <a:highlight>
                  <a:srgbClr val="FFFFFF"/>
                </a:highlight>
                <a:latin typeface="Consolas" panose="020B0609020204030204" pitchFamily="49" charset="0"/>
              </a:rPr>
              <a:t>var</a:t>
            </a:r>
            <a:r>
              <a:rPr lang="en-GB" sz="1600" b="1" dirty="0">
                <a:solidFill>
                  <a:srgbClr val="000000"/>
                </a:solidFill>
                <a:highlight>
                  <a:srgbClr val="FFFFFF"/>
                </a:highlight>
                <a:latin typeface="Consolas" panose="020B0609020204030204" pitchFamily="49" charset="0"/>
              </a:rPr>
              <a:t> query = </a:t>
            </a:r>
            <a:r>
              <a:rPr lang="en-GB" sz="1600" dirty="0">
                <a:solidFill>
                  <a:srgbClr val="0000FF"/>
                </a:solidFill>
                <a:highlight>
                  <a:srgbClr val="FFFFFF"/>
                </a:highlight>
                <a:latin typeface="Consolas" panose="020B0609020204030204" pitchFamily="49" charset="0"/>
              </a:rPr>
              <a:t>from</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num</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in</a:t>
            </a:r>
            <a:r>
              <a:rPr lang="en-GB" sz="1600" dirty="0">
                <a:solidFill>
                  <a:srgbClr val="000000"/>
                </a:solidFill>
                <a:highlight>
                  <a:srgbClr val="FFFFFF"/>
                </a:highlight>
                <a:latin typeface="Consolas" panose="020B0609020204030204" pitchFamily="49" charset="0"/>
              </a:rPr>
              <a:t> numbers</a:t>
            </a:r>
            <a:r>
              <a:rPr lang="pt-BR" sz="1600" dirty="0">
                <a:solidFill>
                  <a:srgbClr val="000000"/>
                </a:solidFill>
                <a:highlight>
                  <a:srgbClr val="FFFFFF"/>
                </a:highlight>
                <a:latin typeface="Consolas" panose="020B0609020204030204" pitchFamily="49" charset="0"/>
              </a:rPr>
              <a:t>             			</a:t>
            </a:r>
            <a:r>
              <a:rPr lang="pt-BR" sz="1600" dirty="0">
                <a:solidFill>
                  <a:srgbClr val="0000FF"/>
                </a:solidFill>
                <a:highlight>
                  <a:srgbClr val="FFFFFF"/>
                </a:highlight>
                <a:latin typeface="Consolas" panose="020B0609020204030204" pitchFamily="49" charset="0"/>
              </a:rPr>
              <a:t>where</a:t>
            </a:r>
            <a:r>
              <a:rPr lang="pt-BR" sz="1600" dirty="0">
                <a:solidFill>
                  <a:srgbClr val="000000"/>
                </a:solidFill>
                <a:highlight>
                  <a:srgbClr val="FFFFFF"/>
                </a:highlight>
                <a:latin typeface="Consolas" panose="020B0609020204030204" pitchFamily="49" charset="0"/>
              </a:rPr>
              <a:t> num &gt; 3 &amp;&amp; num % 2 == 0</a:t>
            </a:r>
            <a:br>
              <a:rPr lang="pt-BR" sz="1600" dirty="0">
                <a:solidFill>
                  <a:srgbClr val="000000"/>
                </a:solidFill>
                <a:highlight>
                  <a:srgbClr val="FFFFFF"/>
                </a:highlight>
                <a:latin typeface="Consolas" panose="020B0609020204030204" pitchFamily="49" charset="0"/>
              </a:rPr>
            </a:b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select</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num</a:t>
            </a:r>
            <a:r>
              <a:rPr lang="en-GB" sz="16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2782390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Ordering the result –  </a:t>
            </a:r>
            <a:r>
              <a:rPr lang="en-GB" dirty="0" err="1"/>
              <a:t>orderby</a:t>
            </a:r>
            <a:endParaRPr lang="en-GB" dirty="0"/>
          </a:p>
        </p:txBody>
      </p:sp>
      <p:sp>
        <p:nvSpPr>
          <p:cNvPr id="4" name="Rectangle 3"/>
          <p:cNvSpPr/>
          <p:nvPr/>
        </p:nvSpPr>
        <p:spPr>
          <a:xfrm>
            <a:off x="457202" y="1015065"/>
            <a:ext cx="6188527" cy="4293483"/>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2B91AF"/>
                </a:solidFill>
                <a:highlight>
                  <a:srgbClr val="FFFFFF"/>
                </a:highlight>
                <a:latin typeface="Consolas" panose="020B0609020204030204" pitchFamily="49" charset="0"/>
              </a:rPr>
              <a:t>List</a:t>
            </a:r>
            <a:r>
              <a:rPr lang="en-GB" sz="1600" b="1" dirty="0">
                <a:solidFill>
                  <a:srgbClr val="000000"/>
                </a:solidFill>
                <a:highlight>
                  <a:srgbClr val="FFFFFF"/>
                </a:highlight>
                <a:latin typeface="Consolas" panose="020B0609020204030204" pitchFamily="49" charset="0"/>
              </a:rPr>
              <a:t>&lt;</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&gt; students =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List</a:t>
            </a:r>
            <a:r>
              <a:rPr lang="en-GB" sz="1600" b="1" dirty="0">
                <a:solidFill>
                  <a:srgbClr val="000000"/>
                </a:solidFill>
                <a:highlight>
                  <a:srgbClr val="FFFFFF"/>
                </a:highlight>
                <a:latin typeface="Consolas" panose="020B0609020204030204" pitchFamily="49" charset="0"/>
              </a:rPr>
              <a:t>&lt;</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&gt; {</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{Age=18,Name=</a:t>
            </a:r>
            <a:r>
              <a:rPr lang="en-GB" sz="1600" b="1" dirty="0">
                <a:solidFill>
                  <a:srgbClr val="A31515"/>
                </a:solidFill>
                <a:highlight>
                  <a:srgbClr val="FFFFFF"/>
                </a:highlight>
                <a:latin typeface="Consolas" panose="020B0609020204030204" pitchFamily="49" charset="0"/>
              </a:rPr>
              <a:t>"Sam"</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{Age=20,Name=</a:t>
            </a:r>
            <a:r>
              <a:rPr lang="en-GB" sz="1600" b="1" dirty="0">
                <a:solidFill>
                  <a:srgbClr val="A31515"/>
                </a:solidFill>
                <a:highlight>
                  <a:srgbClr val="FFFFFF"/>
                </a:highlight>
                <a:latin typeface="Consolas" panose="020B0609020204030204" pitchFamily="49" charset="0"/>
              </a:rPr>
              <a:t>"Mike"</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{Age=19,Name=</a:t>
            </a:r>
            <a:r>
              <a:rPr lang="en-GB" sz="1600" b="1" dirty="0">
                <a:solidFill>
                  <a:srgbClr val="A31515"/>
                </a:solidFill>
                <a:highlight>
                  <a:srgbClr val="FFFFFF"/>
                </a:highlight>
                <a:latin typeface="Consolas" panose="020B0609020204030204" pitchFamily="49" charset="0"/>
              </a:rPr>
              <a:t>"Bob"</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{Age=21,Name=</a:t>
            </a:r>
            <a:r>
              <a:rPr lang="en-GB" sz="1600" b="1" dirty="0">
                <a:solidFill>
                  <a:srgbClr val="A31515"/>
                </a:solidFill>
                <a:highlight>
                  <a:srgbClr val="FFFFFF"/>
                </a:highlight>
                <a:latin typeface="Consolas" panose="020B0609020204030204" pitchFamily="49" charset="0"/>
              </a:rPr>
              <a:t>"Jonathan"</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a:t>
            </a:r>
          </a:p>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r>
              <a:rPr lang="en-GB" sz="1800" b="1" dirty="0">
                <a:solidFill>
                  <a:srgbClr val="0000FF"/>
                </a:solidFill>
                <a:highlight>
                  <a:srgbClr val="FFFFFF"/>
                </a:highlight>
                <a:latin typeface="Consolas" panose="020B0609020204030204" pitchFamily="49" charset="0"/>
              </a:rPr>
              <a:t>from</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students            		</a:t>
            </a:r>
            <a:r>
              <a:rPr lang="en-GB" sz="1800" b="1" dirty="0">
                <a:solidFill>
                  <a:srgbClr val="0000FF"/>
                </a:solidFill>
                <a:highlight>
                  <a:srgbClr val="FFFFFF"/>
                </a:highlight>
                <a:latin typeface="Consolas" panose="020B0609020204030204" pitchFamily="49" charset="0"/>
              </a:rPr>
              <a:t>where</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stu.Age</a:t>
            </a:r>
            <a:r>
              <a:rPr lang="en-GB" sz="1800" b="1" dirty="0">
                <a:solidFill>
                  <a:srgbClr val="000000"/>
                </a:solidFill>
                <a:highlight>
                  <a:srgbClr val="FFFFFF"/>
                </a:highlight>
                <a:latin typeface="Consolas" panose="020B0609020204030204" pitchFamily="49" charset="0"/>
              </a:rPr>
              <a:t> &gt; 17</a:t>
            </a:r>
            <a:br>
              <a:rPr lang="en-GB" sz="1800" b="1" dirty="0">
                <a:solidFill>
                  <a:srgbClr val="000000"/>
                </a:solidFill>
                <a:highlight>
                  <a:srgbClr val="FFFFFF"/>
                </a:highlight>
                <a:latin typeface="Consolas" panose="020B0609020204030204" pitchFamily="49" charset="0"/>
              </a:rPr>
            </a:br>
            <a:r>
              <a:rPr lang="en-GB" sz="1800" b="1" dirty="0">
                <a:solidFill>
                  <a:srgbClr val="000000"/>
                </a:solidFill>
                <a:highlight>
                  <a:srgbClr val="FFFFFF"/>
                </a:highlight>
                <a:latin typeface="Consolas" panose="020B0609020204030204" pitchFamily="49" charset="0"/>
              </a:rPr>
              <a:t>		</a:t>
            </a:r>
            <a:r>
              <a:rPr lang="en-GB" sz="1800" b="1" dirty="0" err="1">
                <a:solidFill>
                  <a:srgbClr val="0000FF"/>
                </a:solidFill>
                <a:highlight>
                  <a:srgbClr val="FFFFFF"/>
                </a:highlight>
                <a:latin typeface="Consolas" panose="020B0609020204030204" pitchFamily="49" charset="0"/>
              </a:rPr>
              <a:t>orderby</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stu.Name</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ascending</a:t>
            </a:r>
            <a:r>
              <a:rPr lang="en-GB" sz="1800" b="1" dirty="0">
                <a:solidFill>
                  <a:srgbClr val="000000"/>
                </a:solidFill>
                <a:highlight>
                  <a:srgbClr val="FFFFFF"/>
                </a:highlight>
                <a:latin typeface="Consolas" panose="020B0609020204030204" pitchFamily="49" charset="0"/>
              </a:rPr>
              <a:t/>
            </a:r>
            <a:br>
              <a:rPr lang="en-GB" sz="1800" b="1" dirty="0">
                <a:solidFill>
                  <a:srgbClr val="000000"/>
                </a:solidFill>
                <a:highlight>
                  <a:srgbClr val="FFFFFF"/>
                </a:highlight>
                <a:latin typeface="Consolas" panose="020B0609020204030204" pitchFamily="49" charset="0"/>
              </a:rPr>
            </a:b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select</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stu.Name</a:t>
            </a:r>
            <a:r>
              <a:rPr lang="en-GB" sz="1800" b="1" dirty="0">
                <a:solidFill>
                  <a:srgbClr val="000000"/>
                </a:solidFill>
                <a:highlight>
                  <a:srgbClr val="FFFFFF"/>
                </a:highlight>
                <a:latin typeface="Consolas" panose="020B0609020204030204" pitchFamily="49" charset="0"/>
              </a:rPr>
              <a:t>;</a:t>
            </a:r>
          </a:p>
          <a:p>
            <a:endParaRPr lang="en-GB" sz="1600" b="1" dirty="0">
              <a:solidFill>
                <a:srgbClr val="000000"/>
              </a:solidFill>
              <a:highlight>
                <a:srgbClr val="FFFFFF"/>
              </a:highlight>
              <a:latin typeface="Consolas" panose="020B0609020204030204" pitchFamily="49" charset="0"/>
            </a:endParaRPr>
          </a:p>
          <a:p>
            <a:r>
              <a:rPr lang="en-GB" sz="1600" b="1" dirty="0" err="1">
                <a:solidFill>
                  <a:srgbClr val="0000FF"/>
                </a:solidFill>
                <a:highlight>
                  <a:srgbClr val="FFFFFF"/>
                </a:highlight>
                <a:latin typeface="Consolas" panose="020B0609020204030204" pitchFamily="49" charset="0"/>
              </a:rPr>
              <a:t>foreach</a:t>
            </a: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string</a:t>
            </a:r>
            <a:r>
              <a:rPr lang="en-GB" sz="1600" b="1" dirty="0">
                <a:solidFill>
                  <a:srgbClr val="000000"/>
                </a:solidFill>
                <a:highlight>
                  <a:srgbClr val="FFFFFF"/>
                </a:highlight>
                <a:latin typeface="Consolas" panose="020B0609020204030204" pitchFamily="49" charset="0"/>
              </a:rPr>
              <a:t> name </a:t>
            </a:r>
            <a:r>
              <a:rPr lang="en-GB" sz="1600" b="1" dirty="0">
                <a:solidFill>
                  <a:srgbClr val="0000FF"/>
                </a:solidFill>
                <a:highlight>
                  <a:srgbClr val="FFFFFF"/>
                </a:highlight>
                <a:latin typeface="Consolas" panose="020B0609020204030204" pitchFamily="49" charset="0"/>
              </a:rPr>
              <a:t>in</a:t>
            </a:r>
            <a:r>
              <a:rPr lang="en-GB" sz="1600" b="1" dirty="0">
                <a:solidFill>
                  <a:srgbClr val="000000"/>
                </a:solidFill>
                <a:highlight>
                  <a:srgbClr val="FFFFFF"/>
                </a:highlight>
                <a:latin typeface="Consolas" panose="020B0609020204030204" pitchFamily="49" charset="0"/>
              </a:rPr>
              <a:t> query) {</a:t>
            </a:r>
          </a:p>
          <a:p>
            <a:r>
              <a:rPr lang="en-GB" sz="1600" b="1" dirty="0">
                <a:solidFill>
                  <a:srgbClr val="000000"/>
                </a:solidFill>
                <a:highlight>
                  <a:srgbClr val="FFFFFF"/>
                </a:highlight>
                <a:latin typeface="Consolas" panose="020B0609020204030204" pitchFamily="49" charset="0"/>
              </a:rPr>
              <a:t>    </a:t>
            </a:r>
            <a:r>
              <a:rPr lang="en-GB" sz="1600" b="1" dirty="0" err="1">
                <a:solidFill>
                  <a:srgbClr val="2B91AF"/>
                </a:solidFill>
                <a:highlight>
                  <a:srgbClr val="FFFFFF"/>
                </a:highlight>
                <a:latin typeface="Consolas" panose="020B0609020204030204" pitchFamily="49" charset="0"/>
              </a:rPr>
              <a:t>Console</a:t>
            </a:r>
            <a:r>
              <a:rPr lang="en-GB" sz="1600" b="1" dirty="0" err="1">
                <a:solidFill>
                  <a:srgbClr val="000000"/>
                </a:solidFill>
                <a:highlight>
                  <a:srgbClr val="FFFFFF"/>
                </a:highlight>
                <a:latin typeface="Consolas" panose="020B0609020204030204" pitchFamily="49" charset="0"/>
              </a:rPr>
              <a:t>.WriteLine</a:t>
            </a:r>
            <a:r>
              <a:rPr lang="en-GB" sz="1600" b="1" dirty="0">
                <a:solidFill>
                  <a:srgbClr val="000000"/>
                </a:solidFill>
                <a:highlight>
                  <a:srgbClr val="FFFFFF"/>
                </a:highlight>
                <a:latin typeface="Consolas" panose="020B0609020204030204" pitchFamily="49" charset="0"/>
              </a:rPr>
              <a:t>(name);</a:t>
            </a:r>
          </a:p>
          <a:p>
            <a:r>
              <a:rPr lang="en-GB" sz="1600" b="1" dirty="0">
                <a:solidFill>
                  <a:srgbClr val="000000"/>
                </a:solidFill>
                <a:highlight>
                  <a:srgbClr val="FFFFFF"/>
                </a:highlight>
                <a:latin typeface="Consolas" panose="020B0609020204030204" pitchFamily="49" charset="0"/>
              </a:rPr>
              <a:t>} </a:t>
            </a:r>
          </a:p>
        </p:txBody>
      </p:sp>
      <p:pic>
        <p:nvPicPr>
          <p:cNvPr id="5" name="Picture 4"/>
          <p:cNvPicPr>
            <a:picLocks noChangeAspect="1"/>
          </p:cNvPicPr>
          <p:nvPr/>
        </p:nvPicPr>
        <p:blipFill>
          <a:blip r:embed="rId3"/>
          <a:stretch>
            <a:fillRect/>
          </a:stretch>
        </p:blipFill>
        <p:spPr>
          <a:xfrm>
            <a:off x="6154613" y="4320063"/>
            <a:ext cx="2057402" cy="1814514"/>
          </a:xfrm>
          <a:prstGeom prst="rect">
            <a:avLst/>
          </a:prstGeom>
          <a:ln>
            <a:noFill/>
          </a:ln>
          <a:effectLst>
            <a:outerShdw blurRad="292100" dist="139700" dir="2700000" algn="tl" rotWithShape="0">
              <a:srgbClr val="333333">
                <a:alpha val="65000"/>
              </a:srgbClr>
            </a:outerShdw>
          </a:effectLst>
        </p:spPr>
      </p:pic>
      <p:cxnSp>
        <p:nvCxnSpPr>
          <p:cNvPr id="7" name="Straight Arrow Connector 6"/>
          <p:cNvCxnSpPr/>
          <p:nvPr/>
        </p:nvCxnSpPr>
        <p:spPr>
          <a:xfrm flipH="1">
            <a:off x="2612621" y="3790806"/>
            <a:ext cx="1239638" cy="458123"/>
          </a:xfrm>
          <a:prstGeom prst="straightConnector1">
            <a:avLst/>
          </a:prstGeom>
          <a:ln w="38100">
            <a:solidFill>
              <a:srgbClr val="C8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5864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Returning selected attributes - using anonymous type</a:t>
            </a:r>
          </a:p>
        </p:txBody>
      </p:sp>
      <p:sp>
        <p:nvSpPr>
          <p:cNvPr id="3" name="Rectangle 2"/>
          <p:cNvSpPr/>
          <p:nvPr/>
        </p:nvSpPr>
        <p:spPr>
          <a:xfrm>
            <a:off x="275500" y="977839"/>
            <a:ext cx="8077193" cy="461664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&gt; students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&gt;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18, Name = </a:t>
            </a:r>
            <a:r>
              <a:rPr lang="en-GB" sz="1600" dirty="0">
                <a:solidFill>
                  <a:srgbClr val="A31515"/>
                </a:solidFill>
                <a:highlight>
                  <a:srgbClr val="FFFFFF"/>
                </a:highlight>
                <a:latin typeface="Consolas" panose="020B0609020204030204" pitchFamily="49" charset="0"/>
              </a:rPr>
              <a:t>"Sam"</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"C#"</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20, Name = </a:t>
            </a:r>
            <a:r>
              <a:rPr lang="en-GB" sz="1600" dirty="0">
                <a:solidFill>
                  <a:srgbClr val="A31515"/>
                </a:solidFill>
                <a:highlight>
                  <a:srgbClr val="FFFFFF"/>
                </a:highlight>
                <a:latin typeface="Consolas" panose="020B0609020204030204" pitchFamily="49" charset="0"/>
              </a:rPr>
              <a:t>"Mike"</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"Java"</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19, Name = </a:t>
            </a:r>
            <a:r>
              <a:rPr lang="en-GB" sz="1600" dirty="0">
                <a:solidFill>
                  <a:srgbClr val="A31515"/>
                </a:solidFill>
                <a:highlight>
                  <a:srgbClr val="FFFFFF"/>
                </a:highlight>
                <a:latin typeface="Consolas" panose="020B0609020204030204" pitchFamily="49" charset="0"/>
              </a:rPr>
              <a:t>"Bob"</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"Networking"</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21, Name = </a:t>
            </a:r>
            <a:r>
              <a:rPr lang="en-GB" sz="1600" dirty="0">
                <a:solidFill>
                  <a:srgbClr val="A31515"/>
                </a:solidFill>
                <a:highlight>
                  <a:srgbClr val="FFFFFF"/>
                </a:highlight>
                <a:latin typeface="Consolas" panose="020B0609020204030204" pitchFamily="49" charset="0"/>
              </a:rPr>
              <a:t>"Jonathan"</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"Marketing"</a:t>
            </a:r>
            <a:r>
              <a:rPr lang="en-GB" sz="1600" dirty="0">
                <a:solidFill>
                  <a:srgbClr val="000000"/>
                </a:solidFill>
                <a:highlight>
                  <a:srgbClr val="FFFFFF"/>
                </a:highlight>
                <a:latin typeface="Consolas" panose="020B0609020204030204" pitchFamily="49" charset="0"/>
              </a:rPr>
              <a:t> } };</a:t>
            </a:r>
          </a:p>
          <a:p>
            <a:r>
              <a:rPr lang="en-GB" sz="1600" dirty="0" err="1">
                <a:solidFill>
                  <a:srgbClr val="0000FF"/>
                </a:solidFill>
                <a:highlight>
                  <a:srgbClr val="FFFFFF"/>
                </a:highlight>
                <a:latin typeface="Consolas" panose="020B0609020204030204" pitchFamily="49" charset="0"/>
              </a:rPr>
              <a:t>var</a:t>
            </a:r>
            <a:r>
              <a:rPr lang="en-GB" sz="1600" dirty="0">
                <a:solidFill>
                  <a:srgbClr val="000000"/>
                </a:solidFill>
                <a:highlight>
                  <a:srgbClr val="FFFFFF"/>
                </a:highlight>
                <a:latin typeface="Consolas" panose="020B0609020204030204" pitchFamily="49" charset="0"/>
              </a:rPr>
              <a:t> query = </a:t>
            </a:r>
            <a:r>
              <a:rPr lang="en-GB" sz="1600" dirty="0">
                <a:solidFill>
                  <a:srgbClr val="0000FF"/>
                </a:solidFill>
                <a:highlight>
                  <a:srgbClr val="FFFFFF"/>
                </a:highlight>
                <a:latin typeface="Consolas" panose="020B0609020204030204" pitchFamily="49" charset="0"/>
              </a:rPr>
              <a:t>from</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stu</a:t>
            </a: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in</a:t>
            </a:r>
            <a:r>
              <a:rPr lang="en-GB" sz="1600" dirty="0">
                <a:solidFill>
                  <a:srgbClr val="000000"/>
                </a:solidFill>
                <a:highlight>
                  <a:srgbClr val="FFFFFF"/>
                </a:highlight>
                <a:latin typeface="Consolas" panose="020B0609020204030204" pitchFamily="49" charset="0"/>
              </a:rPr>
              <a:t> students </a:t>
            </a:r>
            <a:br>
              <a:rPr lang="en-GB" sz="1600" dirty="0">
                <a:solidFill>
                  <a:srgbClr val="000000"/>
                </a:solidFill>
                <a:highlight>
                  <a:srgbClr val="FFFFFF"/>
                </a:highlight>
                <a:latin typeface="Consolas" panose="020B0609020204030204" pitchFamily="49" charset="0"/>
              </a:rPr>
            </a:br>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where</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stu.Age</a:t>
            </a:r>
            <a:r>
              <a:rPr lang="en-GB" sz="1600" dirty="0">
                <a:solidFill>
                  <a:srgbClr val="000000"/>
                </a:solidFill>
                <a:highlight>
                  <a:srgbClr val="FFFFFF"/>
                </a:highlight>
                <a:latin typeface="Consolas" panose="020B0609020204030204" pitchFamily="49" charset="0"/>
              </a:rPr>
              <a:t> &gt; 18 </a:t>
            </a:r>
          </a:p>
          <a:p>
            <a:r>
              <a:rPr lang="en-GB" sz="1600"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select</a:t>
            </a:r>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new</a:t>
            </a:r>
            <a:r>
              <a:rPr lang="en-GB" sz="2000" b="1" dirty="0">
                <a:solidFill>
                  <a:srgbClr val="000000"/>
                </a:solidFill>
                <a:highlight>
                  <a:srgbClr val="FFFFFF"/>
                </a:highlight>
                <a:latin typeface="Consolas" panose="020B0609020204030204" pitchFamily="49" charset="0"/>
              </a:rPr>
              <a:t> { </a:t>
            </a:r>
            <a:r>
              <a:rPr lang="en-GB" sz="2000" b="1" dirty="0" err="1">
                <a:solidFill>
                  <a:srgbClr val="000000"/>
                </a:solidFill>
                <a:highlight>
                  <a:srgbClr val="FFFFFF"/>
                </a:highlight>
                <a:latin typeface="Consolas" panose="020B0609020204030204" pitchFamily="49" charset="0"/>
              </a:rPr>
              <a:t>stu.Name</a:t>
            </a:r>
            <a:r>
              <a:rPr lang="en-GB" sz="2000" b="1" dirty="0">
                <a:solidFill>
                  <a:srgbClr val="000000"/>
                </a:solidFill>
                <a:highlight>
                  <a:srgbClr val="FFFFFF"/>
                </a:highlight>
                <a:latin typeface="Consolas" panose="020B0609020204030204" pitchFamily="49" charset="0"/>
              </a:rPr>
              <a:t>, </a:t>
            </a:r>
            <a:r>
              <a:rPr lang="en-GB" sz="2000" b="1" dirty="0" err="1">
                <a:solidFill>
                  <a:srgbClr val="000000"/>
                </a:solidFill>
                <a:highlight>
                  <a:srgbClr val="FFFFFF"/>
                </a:highlight>
                <a:latin typeface="Consolas" panose="020B0609020204030204" pitchFamily="49" charset="0"/>
              </a:rPr>
              <a:t>stu.Subject</a:t>
            </a:r>
            <a:r>
              <a:rPr lang="en-GB" sz="2000" b="1" dirty="0">
                <a:solidFill>
                  <a:srgbClr val="000000"/>
                </a:solidFill>
                <a:highlight>
                  <a:srgbClr val="FFFFFF"/>
                </a:highlight>
                <a:latin typeface="Consolas" panose="020B0609020204030204" pitchFamily="49" charset="0"/>
              </a:rPr>
              <a:t> };</a:t>
            </a:r>
            <a:endParaRPr lang="en-GB" sz="1600" b="1" dirty="0">
              <a:solidFill>
                <a:srgbClr val="000000"/>
              </a:solidFill>
              <a:highlight>
                <a:srgbClr val="FFFFFF"/>
              </a:highlight>
              <a:latin typeface="Consolas" panose="020B0609020204030204" pitchFamily="49" charset="0"/>
            </a:endParaRPr>
          </a:p>
          <a:p>
            <a:endParaRPr lang="en-GB" sz="1600" dirty="0">
              <a:solidFill>
                <a:srgbClr val="000000"/>
              </a:solidFill>
              <a:highlight>
                <a:srgbClr val="FFFFFF"/>
              </a:highlight>
              <a:latin typeface="Consolas" panose="020B0609020204030204" pitchFamily="49" charset="0"/>
            </a:endParaRPr>
          </a:p>
          <a:p>
            <a:r>
              <a:rPr lang="sv-SE" sz="1600" dirty="0">
                <a:solidFill>
                  <a:srgbClr val="0000FF"/>
                </a:solidFill>
                <a:highlight>
                  <a:srgbClr val="FFFFFF"/>
                </a:highlight>
                <a:latin typeface="Consolas" panose="020B0609020204030204" pitchFamily="49" charset="0"/>
              </a:rPr>
              <a:t>foreach</a:t>
            </a:r>
            <a:r>
              <a:rPr lang="sv-SE" sz="1600" dirty="0">
                <a:solidFill>
                  <a:srgbClr val="000000"/>
                </a:solidFill>
                <a:highlight>
                  <a:srgbClr val="FFFFFF"/>
                </a:highlight>
                <a:latin typeface="Consolas" panose="020B0609020204030204" pitchFamily="49" charset="0"/>
              </a:rPr>
              <a:t> (</a:t>
            </a:r>
            <a:r>
              <a:rPr lang="sv-SE" sz="1600" dirty="0">
                <a:solidFill>
                  <a:srgbClr val="0000FF"/>
                </a:solidFill>
                <a:highlight>
                  <a:srgbClr val="FFFFFF"/>
                </a:highlight>
                <a:latin typeface="Consolas" panose="020B0609020204030204" pitchFamily="49" charset="0"/>
              </a:rPr>
              <a:t>var</a:t>
            </a:r>
            <a:r>
              <a:rPr lang="sv-SE" sz="1600" dirty="0">
                <a:solidFill>
                  <a:srgbClr val="000000"/>
                </a:solidFill>
                <a:highlight>
                  <a:srgbClr val="FFFFFF"/>
                </a:highlight>
                <a:latin typeface="Consolas" panose="020B0609020204030204" pitchFamily="49" charset="0"/>
              </a:rPr>
              <a:t> stu </a:t>
            </a:r>
            <a:r>
              <a:rPr lang="sv-SE" sz="1600" dirty="0">
                <a:solidFill>
                  <a:srgbClr val="0000FF"/>
                </a:solidFill>
                <a:highlight>
                  <a:srgbClr val="FFFFFF"/>
                </a:highlight>
                <a:latin typeface="Consolas" panose="020B0609020204030204" pitchFamily="49" charset="0"/>
              </a:rPr>
              <a:t>in</a:t>
            </a:r>
            <a:r>
              <a:rPr lang="sv-SE" sz="1600" dirty="0">
                <a:solidFill>
                  <a:srgbClr val="000000"/>
                </a:solidFill>
                <a:highlight>
                  <a:srgbClr val="FFFFFF"/>
                </a:highlight>
                <a:latin typeface="Consolas" panose="020B0609020204030204" pitchFamily="49" charset="0"/>
              </a:rPr>
              <a:t> query) </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Console</a:t>
            </a:r>
            <a:r>
              <a:rPr lang="en-GB" sz="1600" dirty="0" err="1">
                <a:solidFill>
                  <a:srgbClr val="000000"/>
                </a:solidFill>
                <a:highlight>
                  <a:srgbClr val="FFFFFF"/>
                </a:highlight>
                <a:latin typeface="Consolas" panose="020B0609020204030204" pitchFamily="49" charset="0"/>
              </a:rPr>
              <a:t>.WriteLine</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$"Name:</a:t>
            </a:r>
            <a:r>
              <a:rPr lang="en-GB" sz="1600" dirty="0">
                <a:solidFill>
                  <a:srgbClr val="000000"/>
                </a:solidFill>
                <a:highlight>
                  <a:srgbClr val="FFFFFF"/>
                </a:highlight>
                <a:latin typeface="Consolas" panose="020B0609020204030204" pitchFamily="49" charset="0"/>
              </a:rPr>
              <a:t>{</a:t>
            </a:r>
            <a:r>
              <a:rPr lang="en-GB" sz="1600" dirty="0" err="1">
                <a:solidFill>
                  <a:srgbClr val="000000"/>
                </a:solidFill>
                <a:highlight>
                  <a:srgbClr val="FFFFFF"/>
                </a:highlight>
                <a:latin typeface="Consolas" panose="020B0609020204030204" pitchFamily="49" charset="0"/>
              </a:rPr>
              <a:t>stu.Name</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 Subject:</a:t>
            </a:r>
            <a:r>
              <a:rPr lang="en-GB" sz="1600" dirty="0">
                <a:solidFill>
                  <a:srgbClr val="000000"/>
                </a:solidFill>
                <a:highlight>
                  <a:srgbClr val="FFFFFF"/>
                </a:highlight>
                <a:latin typeface="Consolas" panose="020B0609020204030204" pitchFamily="49" charset="0"/>
              </a:rPr>
              <a:t>{</a:t>
            </a:r>
            <a:r>
              <a:rPr lang="en-GB" sz="1600" dirty="0" err="1">
                <a:solidFill>
                  <a:srgbClr val="000000"/>
                </a:solidFill>
                <a:highlight>
                  <a:srgbClr val="FFFFFF"/>
                </a:highlight>
                <a:latin typeface="Consolas" panose="020B0609020204030204" pitchFamily="49" charset="0"/>
              </a:rPr>
              <a:t>stu.Subject</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a:t>
            </a: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a:t>
            </a:r>
          </a:p>
        </p:txBody>
      </p:sp>
      <p:sp>
        <p:nvSpPr>
          <p:cNvPr id="6" name="Rounded Rectangle 5"/>
          <p:cNvSpPr/>
          <p:nvPr/>
        </p:nvSpPr>
        <p:spPr>
          <a:xfrm>
            <a:off x="1635663" y="3717187"/>
            <a:ext cx="5696835" cy="408359"/>
          </a:xfrm>
          <a:prstGeom prst="round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397352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Need to learn more?</a:t>
            </a:r>
          </a:p>
        </p:txBody>
      </p:sp>
      <p:sp>
        <p:nvSpPr>
          <p:cNvPr id="3" name="Content Placeholder 2"/>
          <p:cNvSpPr>
            <a:spLocks noGrp="1"/>
          </p:cNvSpPr>
          <p:nvPr>
            <p:ph idx="1"/>
          </p:nvPr>
        </p:nvSpPr>
        <p:spPr>
          <a:xfrm>
            <a:off x="142844" y="946385"/>
            <a:ext cx="8786874" cy="5216400"/>
          </a:xfrm>
        </p:spPr>
        <p:txBody>
          <a:bodyPr/>
          <a:lstStyle/>
          <a:p>
            <a:r>
              <a:rPr lang="en-GB" dirty="0"/>
              <a:t>Google “101 </a:t>
            </a:r>
            <a:r>
              <a:rPr lang="en-GB" dirty="0" err="1"/>
              <a:t>Linq</a:t>
            </a:r>
            <a:r>
              <a:rPr lang="en-GB" dirty="0"/>
              <a:t> Samples”  for all the LINQ examples</a:t>
            </a:r>
          </a:p>
        </p:txBody>
      </p:sp>
      <p:pic>
        <p:nvPicPr>
          <p:cNvPr id="5" name="Picture 4"/>
          <p:cNvPicPr>
            <a:picLocks noChangeAspect="1"/>
          </p:cNvPicPr>
          <p:nvPr/>
        </p:nvPicPr>
        <p:blipFill>
          <a:blip r:embed="rId2"/>
          <a:stretch>
            <a:fillRect/>
          </a:stretch>
        </p:blipFill>
        <p:spPr>
          <a:xfrm>
            <a:off x="696421" y="1462073"/>
            <a:ext cx="6355010" cy="5190733"/>
          </a:xfrm>
          <a:prstGeom prst="rect">
            <a:avLst/>
          </a:prstGeom>
        </p:spPr>
      </p:pic>
    </p:spTree>
    <p:extLst>
      <p:ext uri="{BB962C8B-B14F-4D97-AF65-F5344CB8AC3E}">
        <p14:creationId xmlns:p14="http://schemas.microsoft.com/office/powerpoint/2010/main" val="413580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Let’s use a couple of those keywords</a:t>
            </a:r>
          </a:p>
        </p:txBody>
      </p:sp>
      <p:sp>
        <p:nvSpPr>
          <p:cNvPr id="4" name="Rectangle 3"/>
          <p:cNvSpPr/>
          <p:nvPr/>
        </p:nvSpPr>
        <p:spPr>
          <a:xfrm>
            <a:off x="457203" y="973560"/>
            <a:ext cx="8016237" cy="32316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2B91AF"/>
                </a:solidFill>
                <a:highlight>
                  <a:srgbClr val="FFFFFF"/>
                </a:highlight>
                <a:latin typeface="Consolas" panose="020B0609020204030204" pitchFamily="49" charset="0"/>
              </a:rPr>
              <a:t>List</a:t>
            </a:r>
            <a:r>
              <a:rPr lang="en-GB" sz="1600" b="1" dirty="0">
                <a:solidFill>
                  <a:srgbClr val="000000"/>
                </a:solidFill>
                <a:highlight>
                  <a:srgbClr val="FFFFFF"/>
                </a:highlight>
                <a:latin typeface="Consolas" panose="020B0609020204030204" pitchFamily="49" charset="0"/>
              </a:rPr>
              <a:t>&lt;</a:t>
            </a:r>
            <a:r>
              <a:rPr lang="en-GB" sz="1600" b="1" dirty="0">
                <a:solidFill>
                  <a:srgbClr val="0000FF"/>
                </a:solidFill>
                <a:highlight>
                  <a:srgbClr val="FFFFFF"/>
                </a:highlight>
                <a:latin typeface="Consolas" panose="020B0609020204030204" pitchFamily="49" charset="0"/>
              </a:rPr>
              <a:t>string</a:t>
            </a:r>
            <a:r>
              <a:rPr lang="en-GB" sz="1600" b="1" dirty="0">
                <a:solidFill>
                  <a:srgbClr val="000000"/>
                </a:solidFill>
                <a:highlight>
                  <a:srgbClr val="FFFFFF"/>
                </a:highlight>
                <a:latin typeface="Consolas" panose="020B0609020204030204" pitchFamily="49" charset="0"/>
              </a:rPr>
              <a:t>&gt; names =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List</a:t>
            </a:r>
            <a:r>
              <a:rPr lang="en-GB" sz="1600" b="1" dirty="0">
                <a:solidFill>
                  <a:srgbClr val="000000"/>
                </a:solidFill>
                <a:highlight>
                  <a:srgbClr val="FFFFFF"/>
                </a:highlight>
                <a:latin typeface="Consolas" panose="020B0609020204030204" pitchFamily="49" charset="0"/>
              </a:rPr>
              <a:t>&lt;</a:t>
            </a:r>
            <a:r>
              <a:rPr lang="en-GB" sz="1600" b="1" dirty="0">
                <a:solidFill>
                  <a:srgbClr val="0000FF"/>
                </a:solidFill>
                <a:highlight>
                  <a:srgbClr val="FFFFFF"/>
                </a:highlight>
                <a:latin typeface="Consolas" panose="020B0609020204030204" pitchFamily="49" charset="0"/>
              </a:rPr>
              <a:t>string</a:t>
            </a:r>
            <a:r>
              <a:rPr lang="en-GB" sz="1600" b="1" dirty="0">
                <a:solidFill>
                  <a:srgbClr val="000000"/>
                </a:solidFill>
                <a:highlight>
                  <a:srgbClr val="FFFFFF"/>
                </a:highlight>
                <a:latin typeface="Consolas" panose="020B0609020204030204" pitchFamily="49" charset="0"/>
              </a:rPr>
              <a:t>&gt; {</a:t>
            </a:r>
          </a:p>
          <a:p>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a:t>
            </a:r>
            <a:r>
              <a:rPr lang="en-GB" sz="1600" b="1" dirty="0" err="1">
                <a:solidFill>
                  <a:srgbClr val="A31515"/>
                </a:solidFill>
                <a:highlight>
                  <a:srgbClr val="FFFFFF"/>
                </a:highlight>
                <a:latin typeface="Consolas" panose="020B0609020204030204" pitchFamily="49" charset="0"/>
              </a:rPr>
              <a:t>Azzie</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"Mariana"</a:t>
            </a:r>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a:t>
            </a:r>
            <a:r>
              <a:rPr lang="en-GB" sz="1600" b="1" dirty="0" err="1">
                <a:solidFill>
                  <a:srgbClr val="A31515"/>
                </a:solidFill>
                <a:highlight>
                  <a:srgbClr val="FFFFFF"/>
                </a:highlight>
                <a:latin typeface="Consolas" panose="020B0609020204030204" pitchFamily="49" charset="0"/>
              </a:rPr>
              <a:t>Nancie</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"Bob"</a:t>
            </a:r>
            <a:r>
              <a:rPr lang="en-GB" sz="1600" b="1" dirty="0">
                <a:solidFill>
                  <a:srgbClr val="000000"/>
                </a:solidFill>
                <a:highlight>
                  <a:srgbClr val="FFFFFF"/>
                </a:highlight>
                <a:latin typeface="Consolas" panose="020B0609020204030204" pitchFamily="49" charset="0"/>
              </a:rPr>
              <a:t>, </a:t>
            </a:r>
            <a:r>
              <a:rPr lang="it-IT" sz="1600" b="1" dirty="0">
                <a:solidFill>
                  <a:srgbClr val="A31515"/>
                </a:solidFill>
                <a:highlight>
                  <a:srgbClr val="FFFFFF"/>
                </a:highlight>
                <a:latin typeface="Consolas" panose="020B0609020204030204" pitchFamily="49" charset="0"/>
              </a:rPr>
              <a:t>"Anna"</a:t>
            </a:r>
            <a:r>
              <a:rPr lang="it-IT" sz="1600" b="1" dirty="0">
                <a:solidFill>
                  <a:srgbClr val="000000"/>
                </a:solidFill>
                <a:highlight>
                  <a:srgbClr val="FFFFFF"/>
                </a:highlight>
                <a:latin typeface="Consolas" panose="020B0609020204030204" pitchFamily="49" charset="0"/>
              </a:rPr>
              <a:t>, </a:t>
            </a:r>
            <a:r>
              <a:rPr lang="it-IT" sz="1600" b="1" dirty="0">
                <a:solidFill>
                  <a:srgbClr val="A31515"/>
                </a:solidFill>
                <a:highlight>
                  <a:srgbClr val="FFFFFF"/>
                </a:highlight>
                <a:latin typeface="Consolas" panose="020B0609020204030204" pitchFamily="49" charset="0"/>
              </a:rPr>
              <a:t>"Freddie"</a:t>
            </a:r>
            <a:r>
              <a:rPr lang="it-IT" sz="1600" b="1" dirty="0">
                <a:solidFill>
                  <a:srgbClr val="000000"/>
                </a:solidFill>
                <a:highlight>
                  <a:srgbClr val="FFFFFF"/>
                </a:highlight>
                <a:latin typeface="Consolas" panose="020B0609020204030204" pitchFamily="49" charset="0"/>
              </a:rPr>
              <a:t>, </a:t>
            </a:r>
            <a:r>
              <a:rPr lang="it-IT" sz="1600" b="1" dirty="0">
                <a:solidFill>
                  <a:srgbClr val="A31515"/>
                </a:solidFill>
                <a:highlight>
                  <a:srgbClr val="FFFFFF"/>
                </a:highlight>
                <a:latin typeface="Consolas" panose="020B0609020204030204" pitchFamily="49" charset="0"/>
              </a:rPr>
              <a:t>"Donna"</a:t>
            </a:r>
            <a:r>
              <a:rPr lang="it-IT" sz="1600" b="1" dirty="0">
                <a:solidFill>
                  <a:srgbClr val="000000"/>
                </a:solidFill>
                <a:highlight>
                  <a:srgbClr val="FFFFFF"/>
                </a:highlight>
                <a:latin typeface="Consolas" panose="020B0609020204030204" pitchFamily="49" charset="0"/>
              </a:rPr>
              <a:t>,         	</a:t>
            </a:r>
            <a:r>
              <a:rPr lang="it-IT" sz="1600" b="1" dirty="0">
                <a:solidFill>
                  <a:srgbClr val="A31515"/>
                </a:solidFill>
                <a:highlight>
                  <a:srgbClr val="FFFFFF"/>
                </a:highlight>
                <a:latin typeface="Consolas" panose="020B0609020204030204" pitchFamily="49" charset="0"/>
              </a:rPr>
              <a:t>"Lenna"</a:t>
            </a:r>
            <a:r>
              <a:rPr lang="it-IT" sz="1600" b="1" dirty="0">
                <a:solidFill>
                  <a:srgbClr val="000000"/>
                </a:solidFill>
                <a:highlight>
                  <a:srgbClr val="FFFFFF"/>
                </a:highlight>
                <a:latin typeface="Consolas" panose="020B0609020204030204" pitchFamily="49" charset="0"/>
              </a:rPr>
              <a:t>, </a:t>
            </a:r>
            <a:r>
              <a:rPr lang="it-IT" sz="1600" b="1" dirty="0">
                <a:solidFill>
                  <a:srgbClr val="A31515"/>
                </a:solidFill>
                <a:highlight>
                  <a:srgbClr val="FFFFFF"/>
                </a:highlight>
                <a:latin typeface="Consolas" panose="020B0609020204030204" pitchFamily="49" charset="0"/>
              </a:rPr>
              <a:t>"David"</a:t>
            </a:r>
            <a:r>
              <a:rPr lang="it-IT" sz="1600" b="1" dirty="0">
                <a:solidFill>
                  <a:srgbClr val="000000"/>
                </a:solidFill>
                <a:highlight>
                  <a:srgbClr val="FFFFFF"/>
                </a:highlight>
                <a:latin typeface="Consolas" panose="020B0609020204030204" pitchFamily="49" charset="0"/>
              </a:rPr>
              <a:t>,</a:t>
            </a:r>
            <a:r>
              <a:rPr lang="en-GB" sz="1600" b="1" dirty="0">
                <a:solidFill>
                  <a:srgbClr val="A31515"/>
                </a:solidFill>
                <a:highlight>
                  <a:srgbClr val="FFFFFF"/>
                </a:highlight>
                <a:latin typeface="Consolas" panose="020B0609020204030204" pitchFamily="49" charset="0"/>
              </a:rPr>
              <a:t>"</a:t>
            </a:r>
            <a:r>
              <a:rPr lang="en-GB" sz="1600" b="1" dirty="0" err="1">
                <a:solidFill>
                  <a:srgbClr val="A31515"/>
                </a:solidFill>
                <a:highlight>
                  <a:srgbClr val="FFFFFF"/>
                </a:highlight>
                <a:latin typeface="Consolas" panose="020B0609020204030204" pitchFamily="49" charset="0"/>
              </a:rPr>
              <a:t>Azzie</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"Mariana"</a:t>
            </a:r>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a:t>
            </a:r>
            <a:r>
              <a:rPr lang="en-GB" sz="1600" b="1" dirty="0" err="1">
                <a:solidFill>
                  <a:srgbClr val="A31515"/>
                </a:solidFill>
                <a:highlight>
                  <a:srgbClr val="FFFFFF"/>
                </a:highlight>
                <a:latin typeface="Consolas" panose="020B0609020204030204" pitchFamily="49" charset="0"/>
              </a:rPr>
              <a:t>Nancie</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 </a:t>
            </a:r>
            <a:r>
              <a:rPr lang="en-GB" sz="1600" b="1" dirty="0">
                <a:solidFill>
                  <a:srgbClr val="A31515"/>
                </a:solidFill>
                <a:highlight>
                  <a:srgbClr val="FFFFFF"/>
                </a:highlight>
                <a:latin typeface="Consolas" panose="020B0609020204030204" pitchFamily="49" charset="0"/>
              </a:rPr>
              <a:t>"Bob"</a:t>
            </a:r>
            <a:r>
              <a:rPr lang="en-GB" sz="1600" b="1" dirty="0">
                <a:solidFill>
                  <a:srgbClr val="000000"/>
                </a:solidFill>
                <a:highlight>
                  <a:srgbClr val="FFFFFF"/>
                </a:highlight>
                <a:latin typeface="Consolas" panose="020B0609020204030204" pitchFamily="49" charset="0"/>
              </a:rPr>
              <a:t>,</a:t>
            </a:r>
          </a:p>
          <a:p>
            <a:r>
              <a:rPr lang="en-GB" sz="1600" b="1" dirty="0">
                <a:solidFill>
                  <a:srgbClr val="000000"/>
                </a:solidFill>
                <a:highlight>
                  <a:srgbClr val="FFFFFF"/>
                </a:highlight>
                <a:latin typeface="Consolas" panose="020B0609020204030204" pitchFamily="49" charset="0"/>
              </a:rPr>
              <a:t>};</a:t>
            </a:r>
          </a:p>
          <a:p>
            <a:r>
              <a:rPr lang="en-GB" sz="2000" b="1" dirty="0" err="1">
                <a:solidFill>
                  <a:srgbClr val="0000FF"/>
                </a:solidFill>
                <a:highlight>
                  <a:srgbClr val="FFFFFF"/>
                </a:highlight>
                <a:latin typeface="Consolas" panose="020B0609020204030204" pitchFamily="49" charset="0"/>
              </a:rPr>
              <a:t>var</a:t>
            </a:r>
            <a:r>
              <a:rPr lang="en-GB" sz="2000" b="1" dirty="0">
                <a:solidFill>
                  <a:srgbClr val="000000"/>
                </a:solidFill>
                <a:highlight>
                  <a:srgbClr val="FFFFFF"/>
                </a:highlight>
                <a:latin typeface="Consolas" panose="020B0609020204030204" pitchFamily="49" charset="0"/>
              </a:rPr>
              <a:t> query = 	</a:t>
            </a:r>
            <a:r>
              <a:rPr lang="en-GB" sz="2000" b="1" dirty="0">
                <a:solidFill>
                  <a:srgbClr val="0000FF"/>
                </a:solidFill>
                <a:highlight>
                  <a:srgbClr val="FFFFFF"/>
                </a:highlight>
                <a:latin typeface="Consolas" panose="020B0609020204030204" pitchFamily="49" charset="0"/>
              </a:rPr>
              <a:t>from</a:t>
            </a:r>
            <a:r>
              <a:rPr lang="en-GB" sz="2000" b="1" dirty="0">
                <a:solidFill>
                  <a:srgbClr val="000000"/>
                </a:solidFill>
                <a:highlight>
                  <a:srgbClr val="FFFFFF"/>
                </a:highlight>
                <a:latin typeface="Consolas" panose="020B0609020204030204" pitchFamily="49" charset="0"/>
              </a:rPr>
              <a:t> name </a:t>
            </a:r>
            <a:r>
              <a:rPr lang="en-GB" sz="2000" b="1" dirty="0">
                <a:solidFill>
                  <a:srgbClr val="0000FF"/>
                </a:solidFill>
                <a:highlight>
                  <a:srgbClr val="FFFFFF"/>
                </a:highlight>
                <a:latin typeface="Consolas" panose="020B0609020204030204" pitchFamily="49" charset="0"/>
              </a:rPr>
              <a:t>in</a:t>
            </a:r>
            <a:r>
              <a:rPr lang="en-GB" sz="2000" b="1" dirty="0">
                <a:solidFill>
                  <a:srgbClr val="000000"/>
                </a:solidFill>
                <a:highlight>
                  <a:srgbClr val="FFFFFF"/>
                </a:highlight>
                <a:latin typeface="Consolas" panose="020B0609020204030204" pitchFamily="49" charset="0"/>
              </a:rPr>
              <a:t> names</a:t>
            </a:r>
            <a:br>
              <a:rPr lang="en-GB" sz="2000" b="1" dirty="0">
                <a:solidFill>
                  <a:srgbClr val="000000"/>
                </a:solidFill>
                <a:highlight>
                  <a:srgbClr val="FFFFFF"/>
                </a:highlight>
                <a:latin typeface="Consolas" panose="020B0609020204030204" pitchFamily="49" charset="0"/>
              </a:rPr>
            </a:br>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where</a:t>
            </a:r>
            <a:r>
              <a:rPr lang="en-GB" sz="2000" b="1" dirty="0">
                <a:solidFill>
                  <a:srgbClr val="000000"/>
                </a:solidFill>
                <a:highlight>
                  <a:srgbClr val="FFFFFF"/>
                </a:highlight>
                <a:latin typeface="Consolas" panose="020B0609020204030204" pitchFamily="49" charset="0"/>
              </a:rPr>
              <a:t> </a:t>
            </a:r>
            <a:r>
              <a:rPr lang="en-GB" sz="2000" b="1" dirty="0" err="1">
                <a:solidFill>
                  <a:srgbClr val="000000"/>
                </a:solidFill>
                <a:highlight>
                  <a:srgbClr val="FFFFFF"/>
                </a:highlight>
                <a:latin typeface="Consolas" panose="020B0609020204030204" pitchFamily="49" charset="0"/>
              </a:rPr>
              <a:t>name.Length</a:t>
            </a:r>
            <a:r>
              <a:rPr lang="en-GB" sz="2000" b="1" dirty="0">
                <a:solidFill>
                  <a:srgbClr val="000000"/>
                </a:solidFill>
                <a:highlight>
                  <a:srgbClr val="FFFFFF"/>
                </a:highlight>
                <a:latin typeface="Consolas" panose="020B0609020204030204" pitchFamily="49" charset="0"/>
              </a:rPr>
              <a:t> &gt; 4</a:t>
            </a:r>
            <a:br>
              <a:rPr lang="en-GB" sz="2000" b="1" dirty="0">
                <a:solidFill>
                  <a:srgbClr val="000000"/>
                </a:solidFill>
                <a:highlight>
                  <a:srgbClr val="FFFFFF"/>
                </a:highlight>
                <a:latin typeface="Consolas" panose="020B0609020204030204" pitchFamily="49" charset="0"/>
              </a:rPr>
            </a:br>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select</a:t>
            </a:r>
            <a:r>
              <a:rPr lang="en-GB" sz="2000" b="1" dirty="0">
                <a:solidFill>
                  <a:srgbClr val="000000"/>
                </a:solidFill>
                <a:highlight>
                  <a:srgbClr val="FFFFFF"/>
                </a:highlight>
                <a:latin typeface="Consolas" panose="020B0609020204030204" pitchFamily="49" charset="0"/>
              </a:rPr>
              <a:t> name;</a:t>
            </a:r>
          </a:p>
          <a:p>
            <a:r>
              <a:rPr lang="en-GB" sz="1600" b="1" dirty="0" err="1">
                <a:solidFill>
                  <a:srgbClr val="2B91AF"/>
                </a:solidFill>
                <a:highlight>
                  <a:srgbClr val="FFFFFF"/>
                </a:highlight>
                <a:latin typeface="Consolas" panose="020B0609020204030204" pitchFamily="49" charset="0"/>
              </a:rPr>
              <a:t>Console</a:t>
            </a:r>
            <a:r>
              <a:rPr lang="en-GB" sz="1600" b="1" dirty="0" err="1">
                <a:solidFill>
                  <a:srgbClr val="000000"/>
                </a:solidFill>
                <a:highlight>
                  <a:srgbClr val="FFFFFF"/>
                </a:highlight>
                <a:latin typeface="Consolas" panose="020B0609020204030204" pitchFamily="49" charset="0"/>
              </a:rPr>
              <a:t>.WriteLine</a:t>
            </a:r>
            <a:r>
              <a:rPr lang="en-GB" sz="1600" b="1" dirty="0">
                <a:solidFill>
                  <a:srgbClr val="000000"/>
                </a:solidFill>
                <a:highlight>
                  <a:srgbClr val="FFFFFF"/>
                </a:highlight>
                <a:latin typeface="Consolas" panose="020B0609020204030204" pitchFamily="49" charset="0"/>
              </a:rPr>
              <a:t>( </a:t>
            </a:r>
            <a:r>
              <a:rPr lang="en-GB" sz="2000" b="1" dirty="0" err="1">
                <a:solidFill>
                  <a:srgbClr val="000000"/>
                </a:solidFill>
                <a:highlight>
                  <a:srgbClr val="FFFFFF"/>
                </a:highlight>
                <a:latin typeface="Consolas" panose="020B0609020204030204" pitchFamily="49" charset="0"/>
              </a:rPr>
              <a:t>query.Distinct</a:t>
            </a:r>
            <a:r>
              <a:rPr lang="en-GB" sz="2000" b="1" dirty="0">
                <a:solidFill>
                  <a:srgbClr val="000000"/>
                </a:solidFill>
                <a:highlight>
                  <a:srgbClr val="FFFFFF"/>
                </a:highlight>
                <a:latin typeface="Consolas" panose="020B0609020204030204" pitchFamily="49" charset="0"/>
              </a:rPr>
              <a:t>().Count() </a:t>
            </a:r>
            <a:r>
              <a:rPr lang="en-GB" sz="1600" b="1" dirty="0">
                <a:solidFill>
                  <a:srgbClr val="000000"/>
                </a:solidFill>
                <a:highlight>
                  <a:srgbClr val="FFFFFF"/>
                </a:highlight>
                <a:latin typeface="Consolas" panose="020B0609020204030204" pitchFamily="49" charset="0"/>
              </a:rPr>
              <a:t>);</a:t>
            </a:r>
          </a:p>
          <a:p>
            <a:endParaRPr lang="en-GB" sz="1600" b="1" dirty="0">
              <a:solidFill>
                <a:srgbClr val="000000"/>
              </a:solidFill>
              <a:highlight>
                <a:srgbClr val="FFFFFF"/>
              </a:highlight>
              <a:latin typeface="Consolas" panose="020B0609020204030204" pitchFamily="49" charset="0"/>
            </a:endParaRPr>
          </a:p>
        </p:txBody>
      </p:sp>
      <p:sp>
        <p:nvSpPr>
          <p:cNvPr id="5" name="Rectangle 4"/>
          <p:cNvSpPr/>
          <p:nvPr/>
        </p:nvSpPr>
        <p:spPr>
          <a:xfrm>
            <a:off x="439613" y="4270754"/>
            <a:ext cx="8033827" cy="7848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err="1">
                <a:solidFill>
                  <a:srgbClr val="0000FF"/>
                </a:solidFill>
                <a:highlight>
                  <a:srgbClr val="FFFFFF"/>
                </a:highlight>
                <a:latin typeface="Consolas" panose="020B0609020204030204" pitchFamily="49" charset="0"/>
              </a:rPr>
              <a:t>int</a:t>
            </a:r>
            <a:r>
              <a:rPr lang="en-GB" sz="1800" b="1" dirty="0">
                <a:solidFill>
                  <a:srgbClr val="000000"/>
                </a:solidFill>
                <a:highlight>
                  <a:srgbClr val="FFFFFF"/>
                </a:highlight>
                <a:latin typeface="Consolas" panose="020B0609020204030204" pitchFamily="49" charset="0"/>
              </a:rPr>
              <a:t>[] numbers = { 1, 22, 2, 88, 55, 44, 33, 99, 22, 55 };</a:t>
            </a:r>
          </a:p>
          <a:p>
            <a:r>
              <a:rPr lang="en-GB" sz="1800" b="1" dirty="0" err="1">
                <a:solidFill>
                  <a:srgbClr val="2B91AF"/>
                </a:solidFill>
                <a:highlight>
                  <a:srgbClr val="FFFFFF"/>
                </a:highlight>
                <a:latin typeface="Consolas" panose="020B0609020204030204" pitchFamily="49" charset="0"/>
              </a:rPr>
              <a:t>Console</a:t>
            </a:r>
            <a:r>
              <a:rPr lang="en-GB" sz="1800" b="1" dirty="0" err="1">
                <a:solidFill>
                  <a:srgbClr val="000000"/>
                </a:solidFill>
                <a:highlight>
                  <a:srgbClr val="FFFFFF"/>
                </a:highlight>
                <a:latin typeface="Consolas" panose="020B0609020204030204" pitchFamily="49" charset="0"/>
              </a:rPr>
              <a:t>.WriteLine</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numbers.Distinct</a:t>
            </a:r>
            <a:r>
              <a:rPr lang="en-GB" sz="1800" b="1" dirty="0">
                <a:solidFill>
                  <a:srgbClr val="000000"/>
                </a:solidFill>
                <a:highlight>
                  <a:srgbClr val="FFFFFF"/>
                </a:highlight>
                <a:latin typeface="Consolas" panose="020B0609020204030204" pitchFamily="49" charset="0"/>
              </a:rPr>
              <a:t>().Average() );</a:t>
            </a:r>
          </a:p>
        </p:txBody>
      </p:sp>
    </p:spTree>
    <p:extLst>
      <p:ext uri="{BB962C8B-B14F-4D97-AF65-F5344CB8AC3E}">
        <p14:creationId xmlns:p14="http://schemas.microsoft.com/office/powerpoint/2010/main" val="7052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a:t>Lambda Expressions</a:t>
            </a:r>
          </a:p>
        </p:txBody>
      </p:sp>
      <p:sp>
        <p:nvSpPr>
          <p:cNvPr id="5" name="Subtitle 4"/>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456760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a </a:t>
            </a:r>
            <a:r>
              <a:rPr lang="en-GB" dirty="0" err="1"/>
              <a:t>Func</a:t>
            </a:r>
            <a:r>
              <a:rPr lang="en-GB" dirty="0"/>
              <a:t>&lt;&gt;  - Part 1/2</a:t>
            </a:r>
          </a:p>
        </p:txBody>
      </p:sp>
      <p:sp>
        <p:nvSpPr>
          <p:cNvPr id="3" name="Content Placeholder 2"/>
          <p:cNvSpPr>
            <a:spLocks noGrp="1"/>
          </p:cNvSpPr>
          <p:nvPr>
            <p:ph idx="1"/>
          </p:nvPr>
        </p:nvSpPr>
        <p:spPr/>
        <p:txBody>
          <a:bodyPr>
            <a:normAutofit/>
          </a:bodyPr>
          <a:lstStyle/>
          <a:p>
            <a:r>
              <a:rPr lang="en-GB" dirty="0"/>
              <a:t>Slightly shorter way</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The method asks for a function name that returns a </a:t>
            </a:r>
            <a:r>
              <a:rPr lang="en-GB" dirty="0">
                <a:solidFill>
                  <a:srgbClr val="0070C0"/>
                </a:solidFill>
              </a:rPr>
              <a:t>bool </a:t>
            </a:r>
            <a:r>
              <a:rPr lang="en-GB" dirty="0"/>
              <a:t>and has a parameter of type </a:t>
            </a:r>
            <a:r>
              <a:rPr lang="en-GB" dirty="0">
                <a:solidFill>
                  <a:srgbClr val="0070C0"/>
                </a:solidFill>
              </a:rPr>
              <a:t>int</a:t>
            </a:r>
            <a:r>
              <a:rPr lang="en-GB" dirty="0"/>
              <a:t>.</a:t>
            </a:r>
          </a:p>
        </p:txBody>
      </p:sp>
      <p:pic>
        <p:nvPicPr>
          <p:cNvPr id="5" name="Picture 4"/>
          <p:cNvPicPr>
            <a:picLocks noChangeAspect="1"/>
          </p:cNvPicPr>
          <p:nvPr/>
        </p:nvPicPr>
        <p:blipFill>
          <a:blip r:embed="rId3"/>
          <a:stretch>
            <a:fillRect/>
          </a:stretch>
        </p:blipFill>
        <p:spPr>
          <a:xfrm>
            <a:off x="382464" y="3654954"/>
            <a:ext cx="8463839" cy="793954"/>
          </a:xfrm>
          <a:prstGeom prst="rect">
            <a:avLst/>
          </a:prstGeom>
        </p:spPr>
      </p:pic>
      <p:sp>
        <p:nvSpPr>
          <p:cNvPr id="6" name="Rectangle 5"/>
          <p:cNvSpPr/>
          <p:nvPr/>
        </p:nvSpPr>
        <p:spPr>
          <a:xfrm>
            <a:off x="189030" y="1801509"/>
            <a:ext cx="8515351" cy="1477328"/>
          </a:xfrm>
          <a:prstGeom prst="rect">
            <a:avLst/>
          </a:prstGeom>
        </p:spPr>
        <p:txBody>
          <a:bodyPr wrap="square">
            <a:spAutoFit/>
          </a:bodyPr>
          <a:lstStyle/>
          <a:p>
            <a:r>
              <a:rPr lang="en-GB" sz="2400" b="1" dirty="0" err="1">
                <a:solidFill>
                  <a:srgbClr val="0000FF"/>
                </a:solidFill>
                <a:highlight>
                  <a:srgbClr val="FFFFFF"/>
                </a:highlight>
                <a:latin typeface="Consolas" panose="020B0609020204030204" pitchFamily="49" charset="0"/>
              </a:rPr>
              <a:t>int</a:t>
            </a:r>
            <a:r>
              <a:rPr lang="en-GB" sz="2400" b="1" dirty="0">
                <a:solidFill>
                  <a:srgbClr val="000000"/>
                </a:solidFill>
                <a:highlight>
                  <a:srgbClr val="FFFFFF"/>
                </a:highlight>
                <a:latin typeface="Consolas" panose="020B0609020204030204" pitchFamily="49" charset="0"/>
              </a:rPr>
              <a:t>[] numbers = { 1, 1, 2, 3, 5, 8, 13, 21, 34 };</a:t>
            </a:r>
          </a:p>
          <a:p>
            <a:endParaRPr lang="en-GB" sz="2000" b="1" dirty="0">
              <a:solidFill>
                <a:srgbClr val="000000"/>
              </a:solidFill>
              <a:highlight>
                <a:srgbClr val="FFFFFF"/>
              </a:highlight>
              <a:latin typeface="Consolas" panose="020B0609020204030204" pitchFamily="49" charset="0"/>
            </a:endParaRPr>
          </a:p>
          <a:p>
            <a:r>
              <a:rPr lang="en-GB" sz="2400" dirty="0" err="1"/>
              <a:t>var</a:t>
            </a:r>
            <a:r>
              <a:rPr lang="en-GB" sz="2400" dirty="0"/>
              <a:t> result = </a:t>
            </a:r>
            <a:r>
              <a:rPr lang="en-GB" sz="2400" dirty="0" err="1">
                <a:solidFill>
                  <a:srgbClr val="000000"/>
                </a:solidFill>
                <a:highlight>
                  <a:srgbClr val="FFFFFF"/>
                </a:highlight>
                <a:latin typeface="Consolas" panose="020B0609020204030204" pitchFamily="49" charset="0"/>
              </a:rPr>
              <a:t>numbers</a:t>
            </a:r>
            <a:r>
              <a:rPr lang="en-GB" sz="2400" b="1" dirty="0" err="1">
                <a:solidFill>
                  <a:srgbClr val="000000"/>
                </a:solidFill>
                <a:highlight>
                  <a:srgbClr val="FFFFFF"/>
                </a:highlight>
                <a:latin typeface="Consolas" panose="020B0609020204030204" pitchFamily="49" charset="0"/>
              </a:rPr>
              <a:t>.Where</a:t>
            </a:r>
            <a:r>
              <a:rPr lang="en-GB" sz="2400" b="1" dirty="0">
                <a:solidFill>
                  <a:srgbClr val="000000"/>
                </a:solidFill>
                <a:highlight>
                  <a:srgbClr val="FFFFFF"/>
                </a:highlight>
                <a:latin typeface="Consolas" panose="020B0609020204030204" pitchFamily="49" charset="0"/>
              </a:rPr>
              <a:t>()</a:t>
            </a:r>
            <a:endParaRPr lang="en-GB" sz="2400" b="1" dirty="0"/>
          </a:p>
        </p:txBody>
      </p:sp>
      <p:sp>
        <p:nvSpPr>
          <p:cNvPr id="7" name="Right Arrow 6"/>
          <p:cNvSpPr/>
          <p:nvPr/>
        </p:nvSpPr>
        <p:spPr>
          <a:xfrm rot="16200000">
            <a:off x="4059094" y="3267324"/>
            <a:ext cx="335319" cy="3369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50"/>
          </a:p>
        </p:txBody>
      </p:sp>
      <p:pic>
        <p:nvPicPr>
          <p:cNvPr id="8" name="Picture 7"/>
          <p:cNvPicPr>
            <a:picLocks noChangeAspect="1"/>
          </p:cNvPicPr>
          <p:nvPr/>
        </p:nvPicPr>
        <p:blipFill>
          <a:blip r:embed="rId4"/>
          <a:stretch>
            <a:fillRect/>
          </a:stretch>
        </p:blipFill>
        <p:spPr>
          <a:xfrm>
            <a:off x="3419640" y="5820932"/>
            <a:ext cx="3855192" cy="439198"/>
          </a:xfrm>
          <a:prstGeom prst="rect">
            <a:avLst/>
          </a:prstGeom>
        </p:spPr>
      </p:pic>
      <p:cxnSp>
        <p:nvCxnSpPr>
          <p:cNvPr id="10" name="Straight Arrow Connector 9"/>
          <p:cNvCxnSpPr>
            <a:endCxn id="8" idx="0"/>
          </p:cNvCxnSpPr>
          <p:nvPr/>
        </p:nvCxnSpPr>
        <p:spPr>
          <a:xfrm flipH="1">
            <a:off x="5347236" y="5396333"/>
            <a:ext cx="1475595" cy="424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091559" y="5484258"/>
            <a:ext cx="1269426" cy="336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4300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a </a:t>
            </a:r>
            <a:r>
              <a:rPr lang="en-GB" dirty="0" err="1"/>
              <a:t>Func</a:t>
            </a:r>
            <a:r>
              <a:rPr lang="en-GB" dirty="0"/>
              <a:t>&lt;&gt;  - Part 2/2</a:t>
            </a:r>
          </a:p>
        </p:txBody>
      </p:sp>
      <p:sp>
        <p:nvSpPr>
          <p:cNvPr id="3" name="Content Placeholder 2"/>
          <p:cNvSpPr>
            <a:spLocks noGrp="1"/>
          </p:cNvSpPr>
          <p:nvPr>
            <p:ph idx="1"/>
          </p:nvPr>
        </p:nvSpPr>
        <p:spPr/>
        <p:txBody>
          <a:bodyPr>
            <a:normAutofit/>
          </a:bodyPr>
          <a:lstStyle/>
          <a:p>
            <a:r>
              <a:rPr lang="en-GB" dirty="0"/>
              <a:t>Lets create the function</a:t>
            </a:r>
          </a:p>
        </p:txBody>
      </p:sp>
      <p:sp>
        <p:nvSpPr>
          <p:cNvPr id="4" name="Rectangle 3"/>
          <p:cNvSpPr/>
          <p:nvPr/>
        </p:nvSpPr>
        <p:spPr>
          <a:xfrm>
            <a:off x="385973" y="1715454"/>
            <a:ext cx="8306562" cy="2769989"/>
          </a:xfrm>
          <a:prstGeom prst="rect">
            <a:avLst/>
          </a:prstGeom>
        </p:spPr>
        <p:txBody>
          <a:bodyPr wrap="square">
            <a:spAutoFit/>
          </a:bodyPr>
          <a:lstStyle/>
          <a:p>
            <a:r>
              <a:rPr lang="en-GB" sz="2000" b="1" dirty="0" err="1">
                <a:solidFill>
                  <a:srgbClr val="0000FF"/>
                </a:solidFill>
                <a:highlight>
                  <a:srgbClr val="FFFFFF"/>
                </a:highlight>
                <a:latin typeface="Consolas" panose="020B0609020204030204" pitchFamily="49" charset="0"/>
              </a:rPr>
              <a:t>int</a:t>
            </a:r>
            <a:r>
              <a:rPr lang="en-GB" sz="2000" b="1" dirty="0">
                <a:solidFill>
                  <a:srgbClr val="000000"/>
                </a:solidFill>
                <a:highlight>
                  <a:srgbClr val="FFFFFF"/>
                </a:highlight>
                <a:latin typeface="Consolas" panose="020B0609020204030204" pitchFamily="49" charset="0"/>
              </a:rPr>
              <a:t>[] numbers = { 1, 1, 2, 3, 5, 8, 13, 21, 34 };</a:t>
            </a:r>
          </a:p>
          <a:p>
            <a:r>
              <a:rPr lang="en-GB" sz="2000" b="1" dirty="0" err="1">
                <a:solidFill>
                  <a:srgbClr val="0000FF"/>
                </a:solidFill>
                <a:highlight>
                  <a:srgbClr val="FFFFFF"/>
                </a:highlight>
                <a:latin typeface="Consolas" panose="020B0609020204030204" pitchFamily="49" charset="0"/>
              </a:rPr>
              <a:t>var</a:t>
            </a:r>
            <a:r>
              <a:rPr lang="en-GB" sz="2000" b="1" dirty="0">
                <a:solidFill>
                  <a:srgbClr val="0000FF"/>
                </a:solidFill>
                <a:highlight>
                  <a:srgbClr val="FFFFFF"/>
                </a:highlight>
                <a:latin typeface="Consolas" panose="020B0609020204030204" pitchFamily="49" charset="0"/>
              </a:rPr>
              <a:t> query </a:t>
            </a:r>
            <a:r>
              <a:rPr lang="en-GB" sz="2000" b="1" dirty="0">
                <a:solidFill>
                  <a:srgbClr val="000000"/>
                </a:solidFill>
                <a:highlight>
                  <a:srgbClr val="FFFFFF"/>
                </a:highlight>
                <a:latin typeface="Consolas" panose="020B0609020204030204" pitchFamily="49" charset="0"/>
              </a:rPr>
              <a:t>= </a:t>
            </a:r>
            <a:r>
              <a:rPr lang="en-GB" sz="2000" b="1" dirty="0" err="1">
                <a:solidFill>
                  <a:srgbClr val="000000"/>
                </a:solidFill>
                <a:highlight>
                  <a:srgbClr val="FFFFFF"/>
                </a:highlight>
                <a:latin typeface="Consolas" panose="020B0609020204030204" pitchFamily="49" charset="0"/>
              </a:rPr>
              <a:t>numbers.Where</a:t>
            </a:r>
            <a:r>
              <a:rPr lang="en-GB" sz="2000" b="1" dirty="0">
                <a:solidFill>
                  <a:srgbClr val="000000"/>
                </a:solidFill>
                <a:highlight>
                  <a:srgbClr val="FFFFFF"/>
                </a:highlight>
                <a:latin typeface="Consolas" panose="020B0609020204030204" pitchFamily="49" charset="0"/>
              </a:rPr>
              <a:t>(</a:t>
            </a:r>
            <a:r>
              <a:rPr lang="en-GB" sz="2000" b="1" dirty="0" err="1">
                <a:solidFill>
                  <a:srgbClr val="000000"/>
                </a:solidFill>
                <a:highlight>
                  <a:srgbClr val="FFFFFF"/>
                </a:highlight>
                <a:latin typeface="Consolas" panose="020B0609020204030204" pitchFamily="49" charset="0"/>
              </a:rPr>
              <a:t>IsOdd</a:t>
            </a:r>
            <a:r>
              <a:rPr lang="en-GB" sz="2000" b="1" dirty="0">
                <a:solidFill>
                  <a:srgbClr val="000000"/>
                </a:solidFill>
                <a:highlight>
                  <a:srgbClr val="FFFFFF"/>
                </a:highlight>
                <a:latin typeface="Consolas" panose="020B0609020204030204" pitchFamily="49" charset="0"/>
              </a:rPr>
              <a:t>);</a:t>
            </a:r>
            <a:br>
              <a:rPr lang="en-GB" sz="2000" b="1" dirty="0">
                <a:solidFill>
                  <a:srgbClr val="000000"/>
                </a:solidFill>
                <a:highlight>
                  <a:srgbClr val="FFFFFF"/>
                </a:highlight>
                <a:latin typeface="Consolas" panose="020B0609020204030204" pitchFamily="49" charset="0"/>
              </a:rPr>
            </a:br>
            <a:endParaRPr lang="en-GB" sz="2000" b="1" dirty="0">
              <a:solidFill>
                <a:srgbClr val="000000"/>
              </a:solidFill>
              <a:highlight>
                <a:srgbClr val="FFFFFF"/>
              </a:highlight>
              <a:latin typeface="Consolas" panose="020B0609020204030204" pitchFamily="49" charset="0"/>
            </a:endParaRPr>
          </a:p>
          <a:p>
            <a:r>
              <a:rPr lang="en-GB" sz="2000" b="1" dirty="0">
                <a:solidFill>
                  <a:srgbClr val="0000FF"/>
                </a:solidFill>
                <a:highlight>
                  <a:srgbClr val="FFFFFF"/>
                </a:highlight>
                <a:latin typeface="Consolas" panose="020B0609020204030204" pitchFamily="49" charset="0"/>
              </a:rPr>
              <a:t>static</a:t>
            </a:r>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bool</a:t>
            </a:r>
            <a:r>
              <a:rPr lang="en-GB" sz="2000" b="1" dirty="0">
                <a:solidFill>
                  <a:srgbClr val="000000"/>
                </a:solidFill>
                <a:highlight>
                  <a:srgbClr val="FFFFFF"/>
                </a:highlight>
                <a:latin typeface="Consolas" panose="020B0609020204030204" pitchFamily="49" charset="0"/>
              </a:rPr>
              <a:t> </a:t>
            </a:r>
            <a:r>
              <a:rPr lang="en-GB" sz="2000" b="1" dirty="0" err="1">
                <a:solidFill>
                  <a:srgbClr val="000000"/>
                </a:solidFill>
                <a:highlight>
                  <a:srgbClr val="FFFFFF"/>
                </a:highlight>
                <a:latin typeface="Consolas" panose="020B0609020204030204" pitchFamily="49" charset="0"/>
              </a:rPr>
              <a:t>IsOdd</a:t>
            </a:r>
            <a:r>
              <a:rPr lang="en-GB" sz="2000" b="1" dirty="0">
                <a:solidFill>
                  <a:srgbClr val="000000"/>
                </a:solidFill>
                <a:highlight>
                  <a:srgbClr val="FFFFFF"/>
                </a:highlight>
                <a:latin typeface="Consolas" panose="020B0609020204030204" pitchFamily="49" charset="0"/>
              </a:rPr>
              <a:t>(</a:t>
            </a:r>
            <a:r>
              <a:rPr lang="en-GB" sz="2000" b="1" dirty="0" err="1">
                <a:solidFill>
                  <a:srgbClr val="0000FF"/>
                </a:solidFill>
                <a:highlight>
                  <a:srgbClr val="FFFFFF"/>
                </a:highlight>
                <a:latin typeface="Consolas" panose="020B0609020204030204" pitchFamily="49" charset="0"/>
              </a:rPr>
              <a:t>int</a:t>
            </a:r>
            <a:r>
              <a:rPr lang="en-GB" sz="2000" b="1" dirty="0">
                <a:solidFill>
                  <a:srgbClr val="000000"/>
                </a:solidFill>
                <a:highlight>
                  <a:srgbClr val="FFFFFF"/>
                </a:highlight>
                <a:latin typeface="Consolas" panose="020B0609020204030204" pitchFamily="49" charset="0"/>
              </a:rPr>
              <a:t> n)</a:t>
            </a:r>
            <a:br>
              <a:rPr lang="en-GB" sz="2000" b="1" dirty="0">
                <a:solidFill>
                  <a:srgbClr val="000000"/>
                </a:solidFill>
                <a:highlight>
                  <a:srgbClr val="FFFFFF"/>
                </a:highlight>
                <a:latin typeface="Consolas" panose="020B0609020204030204" pitchFamily="49" charset="0"/>
              </a:rPr>
            </a:br>
            <a:r>
              <a:rPr lang="en-GB" sz="2000" b="1" dirty="0">
                <a:solidFill>
                  <a:srgbClr val="000000"/>
                </a:solidFill>
                <a:highlight>
                  <a:srgbClr val="FFFFFF"/>
                </a:highlight>
                <a:latin typeface="Consolas" panose="020B0609020204030204" pitchFamily="49" charset="0"/>
              </a:rPr>
              <a:t>{</a:t>
            </a:r>
          </a:p>
          <a:p>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return</a:t>
            </a:r>
            <a:r>
              <a:rPr lang="en-GB" sz="2000" b="1" dirty="0">
                <a:solidFill>
                  <a:srgbClr val="000000"/>
                </a:solidFill>
                <a:highlight>
                  <a:srgbClr val="FFFFFF"/>
                </a:highlight>
                <a:latin typeface="Consolas" panose="020B0609020204030204" pitchFamily="49" charset="0"/>
              </a:rPr>
              <a:t> (n % 2 == 1);</a:t>
            </a:r>
            <a:br>
              <a:rPr lang="en-GB" sz="2000" b="1" dirty="0">
                <a:solidFill>
                  <a:srgbClr val="000000"/>
                </a:solidFill>
                <a:highlight>
                  <a:srgbClr val="FFFFFF"/>
                </a:highlight>
                <a:latin typeface="Consolas" panose="020B0609020204030204" pitchFamily="49" charset="0"/>
              </a:rPr>
            </a:br>
            <a:r>
              <a:rPr lang="en-GB" sz="2400" b="1" dirty="0">
                <a:solidFill>
                  <a:srgbClr val="000000"/>
                </a:solidFill>
                <a:highlight>
                  <a:srgbClr val="FFFFFF"/>
                </a:highlight>
                <a:latin typeface="Consolas" panose="020B0609020204030204" pitchFamily="49" charset="0"/>
              </a:rPr>
              <a:t>}</a:t>
            </a:r>
            <a:endParaRPr lang="en-GB" sz="2400" b="1" dirty="0"/>
          </a:p>
        </p:txBody>
      </p:sp>
      <p:sp>
        <p:nvSpPr>
          <p:cNvPr id="9" name="Line Callout 2 8"/>
          <p:cNvSpPr/>
          <p:nvPr/>
        </p:nvSpPr>
        <p:spPr>
          <a:xfrm>
            <a:off x="5104039" y="3308394"/>
            <a:ext cx="3707087" cy="1502334"/>
          </a:xfrm>
          <a:prstGeom prst="borderCallout2">
            <a:avLst>
              <a:gd name="adj1" fmla="val 18750"/>
              <a:gd name="adj2" fmla="val -8333"/>
              <a:gd name="adj3" fmla="val 18750"/>
              <a:gd name="adj4" fmla="val -16667"/>
              <a:gd name="adj5" fmla="val -48267"/>
              <a:gd name="adj6" fmla="val -22802"/>
            </a:avLst>
          </a:prstGeom>
          <a:ln>
            <a:headEnd type="none" w="med" len="med"/>
            <a:tailEnd type="arrow" w="med" len="med"/>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800" dirty="0"/>
          </a:p>
          <a:p>
            <a:pPr algn="ctr"/>
            <a:r>
              <a:rPr lang="en-GB" sz="1800" dirty="0"/>
              <a:t>The system will call </a:t>
            </a:r>
            <a:r>
              <a:rPr lang="en-GB" sz="1800" b="1" dirty="0" err="1">
                <a:solidFill>
                  <a:srgbClr val="0070C0"/>
                </a:solidFill>
              </a:rPr>
              <a:t>IsOdd</a:t>
            </a:r>
            <a:r>
              <a:rPr lang="en-GB" sz="1800" b="1" dirty="0">
                <a:solidFill>
                  <a:srgbClr val="0070C0"/>
                </a:solidFill>
              </a:rPr>
              <a:t>()</a:t>
            </a:r>
            <a:r>
              <a:rPr lang="en-GB" sz="1800" dirty="0"/>
              <a:t>  passing each </a:t>
            </a:r>
            <a:r>
              <a:rPr lang="en-GB" sz="1800" b="1" dirty="0" err="1">
                <a:solidFill>
                  <a:srgbClr val="0000FF"/>
                </a:solidFill>
                <a:highlight>
                  <a:srgbClr val="FFFFFF"/>
                </a:highlight>
                <a:latin typeface="Consolas" panose="020B0609020204030204" pitchFamily="49" charset="0"/>
              </a:rPr>
              <a:t>int</a:t>
            </a:r>
            <a:r>
              <a:rPr lang="en-GB" sz="1800" b="1" dirty="0">
                <a:solidFill>
                  <a:srgbClr val="0000FF"/>
                </a:solidFill>
                <a:highlight>
                  <a:srgbClr val="FFFFFF"/>
                </a:highlight>
                <a:latin typeface="Consolas" panose="020B0609020204030204" pitchFamily="49" charset="0"/>
              </a:rPr>
              <a:t> </a:t>
            </a:r>
            <a:r>
              <a:rPr lang="en-GB" sz="1800" dirty="0"/>
              <a:t>in </a:t>
            </a:r>
            <a:r>
              <a:rPr lang="en-GB" sz="1800" i="1" dirty="0"/>
              <a:t>numbers</a:t>
            </a:r>
            <a:r>
              <a:rPr lang="en-GB" sz="1800" dirty="0"/>
              <a:t> and only returns those which are odd (return is </a:t>
            </a:r>
            <a:r>
              <a:rPr lang="en-GB" sz="1800" b="1" i="1" dirty="0">
                <a:solidFill>
                  <a:srgbClr val="0070C0"/>
                </a:solidFill>
              </a:rPr>
              <a:t>true</a:t>
            </a:r>
            <a:r>
              <a:rPr lang="en-GB" sz="1800" dirty="0"/>
              <a:t>)</a:t>
            </a:r>
          </a:p>
          <a:p>
            <a:pPr algn="ctr"/>
            <a:endParaRPr lang="en-GB" sz="1800" dirty="0"/>
          </a:p>
        </p:txBody>
      </p:sp>
      <p:sp>
        <p:nvSpPr>
          <p:cNvPr id="5" name="Rounded Rectangle 4"/>
          <p:cNvSpPr/>
          <p:nvPr/>
        </p:nvSpPr>
        <p:spPr>
          <a:xfrm>
            <a:off x="385973" y="2919474"/>
            <a:ext cx="3679841" cy="1943100"/>
          </a:xfrm>
          <a:prstGeom prst="round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264457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Lambda – Towards a more compact code</a:t>
            </a:r>
          </a:p>
        </p:txBody>
      </p:sp>
      <p:sp>
        <p:nvSpPr>
          <p:cNvPr id="3" name="Content Placeholder 2"/>
          <p:cNvSpPr>
            <a:spLocks noGrp="1"/>
          </p:cNvSpPr>
          <p:nvPr>
            <p:ph idx="1"/>
          </p:nvPr>
        </p:nvSpPr>
        <p:spPr/>
        <p:txBody>
          <a:bodyPr>
            <a:normAutofit/>
          </a:bodyPr>
          <a:lstStyle/>
          <a:p>
            <a:r>
              <a:rPr lang="en-GB" dirty="0"/>
              <a:t>Even simpler, use a lambda expression</a:t>
            </a:r>
          </a:p>
        </p:txBody>
      </p:sp>
      <p:sp>
        <p:nvSpPr>
          <p:cNvPr id="4" name="Rectangle 3"/>
          <p:cNvSpPr/>
          <p:nvPr/>
        </p:nvSpPr>
        <p:spPr>
          <a:xfrm>
            <a:off x="784334" y="1522025"/>
            <a:ext cx="8142890" cy="3016210"/>
          </a:xfrm>
          <a:prstGeom prst="rect">
            <a:avLst/>
          </a:prstGeom>
        </p:spPr>
        <p:txBody>
          <a:bodyPr wrap="square">
            <a:spAutoFit/>
          </a:bodyPr>
          <a:lstStyle/>
          <a:p>
            <a:r>
              <a:rPr lang="en-GB" sz="2000" dirty="0" err="1">
                <a:solidFill>
                  <a:srgbClr val="0000FF"/>
                </a:solidFill>
                <a:highlight>
                  <a:srgbClr val="FFFFFF"/>
                </a:highlight>
                <a:latin typeface="Consolas" panose="020B0609020204030204" pitchFamily="49" charset="0"/>
              </a:rPr>
              <a:t>int</a:t>
            </a:r>
            <a:r>
              <a:rPr lang="en-GB" sz="2000" dirty="0">
                <a:solidFill>
                  <a:srgbClr val="000000"/>
                </a:solidFill>
                <a:highlight>
                  <a:srgbClr val="FFFFFF"/>
                </a:highlight>
                <a:latin typeface="Consolas" panose="020B0609020204030204" pitchFamily="49" charset="0"/>
              </a:rPr>
              <a:t>[] numbers = { 1, 1, 2, 3, 5, 8, 13, 21, 34 };</a:t>
            </a:r>
          </a:p>
          <a:p>
            <a:r>
              <a:rPr lang="en-GB" sz="2000" dirty="0">
                <a:solidFill>
                  <a:srgbClr val="000000"/>
                </a:solidFill>
                <a:highlight>
                  <a:srgbClr val="FFFFFF"/>
                </a:highlight>
                <a:latin typeface="Consolas" panose="020B0609020204030204" pitchFamily="49" charset="0"/>
              </a:rPr>
              <a:t>    </a:t>
            </a:r>
            <a:r>
              <a:rPr lang="en-GB" sz="2000" dirty="0" err="1">
                <a:solidFill>
                  <a:srgbClr val="0000FF"/>
                </a:solidFill>
                <a:highlight>
                  <a:srgbClr val="FFFFFF"/>
                </a:highlight>
                <a:latin typeface="Consolas" panose="020B0609020204030204" pitchFamily="49" charset="0"/>
              </a:rPr>
              <a:t>var</a:t>
            </a:r>
            <a:r>
              <a:rPr lang="en-GB" sz="2000" dirty="0">
                <a:solidFill>
                  <a:srgbClr val="0000FF"/>
                </a:solidFill>
                <a:highlight>
                  <a:srgbClr val="FFFFFF"/>
                </a:highlight>
                <a:latin typeface="Consolas" panose="020B0609020204030204" pitchFamily="49" charset="0"/>
              </a:rPr>
              <a:t> query</a:t>
            </a:r>
            <a:r>
              <a:rPr lang="en-GB" sz="2000" dirty="0">
                <a:solidFill>
                  <a:srgbClr val="000000"/>
                </a:solidFill>
                <a:highlight>
                  <a:srgbClr val="FFFFFF"/>
                </a:highlight>
                <a:latin typeface="Consolas" panose="020B0609020204030204" pitchFamily="49" charset="0"/>
              </a:rPr>
              <a:t>= numbers.Where(</a:t>
            </a:r>
            <a:r>
              <a:rPr lang="en-GB" sz="2000" dirty="0"/>
              <a:t>n =&gt; </a:t>
            </a:r>
            <a:r>
              <a:rPr lang="en-GB" sz="2000" b="1" dirty="0"/>
              <a:t>n % 2 == 1</a:t>
            </a:r>
            <a:r>
              <a:rPr lang="en-GB" sz="2000" dirty="0">
                <a:solidFill>
                  <a:srgbClr val="000000"/>
                </a:solidFill>
                <a:highlight>
                  <a:srgbClr val="FFFFFF"/>
                </a:highlight>
                <a:latin typeface="Consolas" panose="020B0609020204030204" pitchFamily="49" charset="0"/>
              </a:rPr>
              <a:t>);</a:t>
            </a:r>
          </a:p>
          <a:p>
            <a:endParaRPr lang="en-GB" sz="2000" dirty="0">
              <a:solidFill>
                <a:srgbClr val="000000"/>
              </a:solidFill>
              <a:highlight>
                <a:srgbClr val="FFFFFF"/>
              </a:highlight>
              <a:latin typeface="Consolas" panose="020B0609020204030204" pitchFamily="49" charset="0"/>
            </a:endParaRPr>
          </a:p>
          <a:p>
            <a:r>
              <a:rPr lang="en-GB" sz="2000" dirty="0">
                <a:solidFill>
                  <a:srgbClr val="0000FF"/>
                </a:solidFill>
                <a:highlight>
                  <a:srgbClr val="FFFFFF"/>
                </a:highlight>
                <a:latin typeface="Consolas" panose="020B0609020204030204" pitchFamily="49" charset="0"/>
              </a:rPr>
              <a:t>static</a:t>
            </a:r>
            <a:r>
              <a:rPr lang="en-GB" sz="2000" dirty="0">
                <a:solidFill>
                  <a:srgbClr val="000000"/>
                </a:solidFill>
                <a:highlight>
                  <a:srgbClr val="FFFFFF"/>
                </a:highlight>
                <a:latin typeface="Consolas" panose="020B0609020204030204" pitchFamily="49" charset="0"/>
              </a:rPr>
              <a:t> </a:t>
            </a:r>
            <a:r>
              <a:rPr lang="en-GB" sz="2000" dirty="0">
                <a:solidFill>
                  <a:srgbClr val="0000FF"/>
                </a:solidFill>
                <a:highlight>
                  <a:srgbClr val="FFFFFF"/>
                </a:highlight>
                <a:latin typeface="Consolas" panose="020B0609020204030204" pitchFamily="49" charset="0"/>
              </a:rPr>
              <a:t>bool</a:t>
            </a:r>
            <a:r>
              <a:rPr lang="en-GB" sz="2000" dirty="0">
                <a:solidFill>
                  <a:srgbClr val="000000"/>
                </a:solidFill>
                <a:highlight>
                  <a:srgbClr val="FFFFFF"/>
                </a:highlight>
                <a:latin typeface="Consolas" panose="020B0609020204030204" pitchFamily="49" charset="0"/>
              </a:rPr>
              <a:t> </a:t>
            </a:r>
            <a:r>
              <a:rPr lang="en-GB" sz="2000" dirty="0" err="1">
                <a:solidFill>
                  <a:srgbClr val="000000"/>
                </a:solidFill>
                <a:highlight>
                  <a:srgbClr val="FFFFFF"/>
                </a:highlight>
                <a:latin typeface="Consolas" panose="020B0609020204030204" pitchFamily="49" charset="0"/>
              </a:rPr>
              <a:t>IsOdd</a:t>
            </a:r>
            <a:r>
              <a:rPr lang="en-GB" sz="2000" dirty="0">
                <a:solidFill>
                  <a:srgbClr val="000000"/>
                </a:solidFill>
                <a:highlight>
                  <a:srgbClr val="FFFFFF"/>
                </a:highlight>
                <a:latin typeface="Consolas" panose="020B0609020204030204" pitchFamily="49" charset="0"/>
              </a:rPr>
              <a:t>(</a:t>
            </a:r>
            <a:r>
              <a:rPr lang="en-GB" sz="2000" dirty="0" err="1">
                <a:solidFill>
                  <a:srgbClr val="0000FF"/>
                </a:solidFill>
                <a:highlight>
                  <a:srgbClr val="FFFFFF"/>
                </a:highlight>
                <a:latin typeface="Consolas" panose="020B0609020204030204" pitchFamily="49" charset="0"/>
              </a:rPr>
              <a:t>int</a:t>
            </a:r>
            <a:r>
              <a:rPr lang="en-GB" sz="2000" dirty="0">
                <a:solidFill>
                  <a:srgbClr val="000000"/>
                </a:solidFill>
                <a:highlight>
                  <a:srgbClr val="FFFFFF"/>
                </a:highlight>
                <a:latin typeface="Consolas" panose="020B0609020204030204" pitchFamily="49" charset="0"/>
              </a:rPr>
              <a:t> n)</a:t>
            </a:r>
            <a:br>
              <a:rPr lang="en-GB" sz="2000" dirty="0">
                <a:solidFill>
                  <a:srgbClr val="000000"/>
                </a:solidFill>
                <a:highlight>
                  <a:srgbClr val="FFFFFF"/>
                </a:highlight>
                <a:latin typeface="Consolas" panose="020B0609020204030204" pitchFamily="49" charset="0"/>
              </a:rPr>
            </a:br>
            <a:r>
              <a:rPr lang="en-GB" sz="2000" dirty="0">
                <a:solidFill>
                  <a:srgbClr val="000000"/>
                </a:solidFill>
                <a:highlight>
                  <a:srgbClr val="FFFFFF"/>
                </a:highlight>
                <a:latin typeface="Consolas" panose="020B0609020204030204" pitchFamily="49" charset="0"/>
              </a:rPr>
              <a:t>{</a:t>
            </a:r>
          </a:p>
          <a:p>
            <a:r>
              <a:rPr lang="en-GB" sz="2000" dirty="0">
                <a:solidFill>
                  <a:srgbClr val="000000"/>
                </a:solidFill>
                <a:highlight>
                  <a:srgbClr val="FFFFFF"/>
                </a:highlight>
                <a:latin typeface="Consolas" panose="020B0609020204030204" pitchFamily="49" charset="0"/>
              </a:rPr>
              <a:t>    </a:t>
            </a:r>
            <a:r>
              <a:rPr lang="en-GB" sz="2000" dirty="0">
                <a:solidFill>
                  <a:srgbClr val="0000FF"/>
                </a:solidFill>
                <a:highlight>
                  <a:srgbClr val="FFFFFF"/>
                </a:highlight>
                <a:latin typeface="Consolas" panose="020B0609020204030204" pitchFamily="49" charset="0"/>
              </a:rPr>
              <a:t>return</a:t>
            </a:r>
            <a:r>
              <a:rPr lang="en-GB" sz="2000" dirty="0">
                <a:solidFill>
                  <a:srgbClr val="000000"/>
                </a:solidFill>
                <a:highlight>
                  <a:srgbClr val="FFFFFF"/>
                </a:highlight>
                <a:latin typeface="Consolas" panose="020B0609020204030204" pitchFamily="49" charset="0"/>
              </a:rPr>
              <a:t> (n % 2 == 1);</a:t>
            </a:r>
          </a:p>
          <a:p>
            <a:r>
              <a:rPr lang="en-GB" sz="2000" dirty="0">
                <a:solidFill>
                  <a:srgbClr val="000000"/>
                </a:solidFill>
                <a:highlight>
                  <a:srgbClr val="FFFFFF"/>
                </a:highlight>
                <a:latin typeface="Consolas" panose="020B0609020204030204" pitchFamily="49" charset="0"/>
              </a:rPr>
              <a:t>}</a:t>
            </a:r>
            <a:endParaRPr lang="en-GB" sz="2000" dirty="0"/>
          </a:p>
        </p:txBody>
      </p:sp>
      <p:sp>
        <p:nvSpPr>
          <p:cNvPr id="9" name="Line Callout 2 8"/>
          <p:cNvSpPr/>
          <p:nvPr/>
        </p:nvSpPr>
        <p:spPr>
          <a:xfrm>
            <a:off x="4927615" y="3297012"/>
            <a:ext cx="3953080" cy="1752098"/>
          </a:xfrm>
          <a:prstGeom prst="borderCallout2">
            <a:avLst>
              <a:gd name="adj1" fmla="val -1164"/>
              <a:gd name="adj2" fmla="val 13885"/>
              <a:gd name="adj3" fmla="val -27259"/>
              <a:gd name="adj4" fmla="val 11943"/>
              <a:gd name="adj5" fmla="val -52651"/>
              <a:gd name="adj6" fmla="val 2663"/>
            </a:avLst>
          </a:prstGeom>
          <a:ln>
            <a:headEnd type="none" w="med" len="med"/>
            <a:tailEnd type="arrow"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1800" dirty="0"/>
              <a:t>The system will pass each </a:t>
            </a:r>
            <a:r>
              <a:rPr lang="en-GB" sz="1800" dirty="0" err="1">
                <a:solidFill>
                  <a:srgbClr val="0000FF"/>
                </a:solidFill>
                <a:highlight>
                  <a:srgbClr val="FFFFFF"/>
                </a:highlight>
                <a:latin typeface="Consolas" panose="020B0609020204030204" pitchFamily="49" charset="0"/>
              </a:rPr>
              <a:t>int</a:t>
            </a:r>
            <a:r>
              <a:rPr lang="en-GB" sz="1800" dirty="0"/>
              <a:t> </a:t>
            </a:r>
            <a:br>
              <a:rPr lang="en-GB" sz="1800" dirty="0"/>
            </a:br>
            <a:r>
              <a:rPr lang="en-GB" sz="1800" dirty="0"/>
              <a:t>in </a:t>
            </a:r>
            <a:r>
              <a:rPr lang="en-GB" sz="1800" i="1" dirty="0"/>
              <a:t>numbers</a:t>
            </a:r>
            <a:r>
              <a:rPr lang="en-GB" sz="1800" dirty="0"/>
              <a:t> into the</a:t>
            </a:r>
            <a:br>
              <a:rPr lang="en-GB" sz="1800" dirty="0"/>
            </a:br>
            <a:r>
              <a:rPr lang="en-GB" sz="1800" dirty="0"/>
              <a:t>(n % 2 == 1) </a:t>
            </a:r>
            <a:r>
              <a:rPr lang="en-GB" sz="1800" b="1" dirty="0"/>
              <a:t>code</a:t>
            </a:r>
            <a:r>
              <a:rPr lang="en-GB" sz="1800" dirty="0"/>
              <a:t> and only returns those which return </a:t>
            </a:r>
            <a:r>
              <a:rPr lang="en-GB" sz="1800" b="1" dirty="0">
                <a:solidFill>
                  <a:srgbClr val="0000FF"/>
                </a:solidFill>
                <a:highlight>
                  <a:srgbClr val="FFFFFF"/>
                </a:highlight>
                <a:latin typeface="Consolas" panose="020B0609020204030204" pitchFamily="49" charset="0"/>
              </a:rPr>
              <a:t>true</a:t>
            </a:r>
            <a:endParaRPr lang="en-GB" sz="1800" b="1" dirty="0"/>
          </a:p>
        </p:txBody>
      </p:sp>
      <p:sp>
        <p:nvSpPr>
          <p:cNvPr id="12" name="Rounded Rectangular Callout 11"/>
          <p:cNvSpPr/>
          <p:nvPr/>
        </p:nvSpPr>
        <p:spPr>
          <a:xfrm>
            <a:off x="3129017" y="4511253"/>
            <a:ext cx="1253359" cy="416185"/>
          </a:xfrm>
          <a:prstGeom prst="wedgeRoundRectCallout">
            <a:avLst>
              <a:gd name="adj1" fmla="val 3805"/>
              <a:gd name="adj2" fmla="val -82395"/>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i="1" dirty="0">
                <a:solidFill>
                  <a:schemeClr val="tx1"/>
                </a:solidFill>
              </a:rPr>
              <a:t>Not needed</a:t>
            </a:r>
          </a:p>
        </p:txBody>
      </p:sp>
      <p:sp>
        <p:nvSpPr>
          <p:cNvPr id="11" name="Freeform 10"/>
          <p:cNvSpPr/>
          <p:nvPr/>
        </p:nvSpPr>
        <p:spPr>
          <a:xfrm>
            <a:off x="741105" y="2790629"/>
            <a:ext cx="3641271" cy="1928717"/>
          </a:xfrm>
          <a:custGeom>
            <a:avLst/>
            <a:gdLst>
              <a:gd name="connsiteX0" fmla="*/ 65314 w 3641271"/>
              <a:gd name="connsiteY0" fmla="*/ 1030645 h 1928717"/>
              <a:gd name="connsiteX1" fmla="*/ 97971 w 3641271"/>
              <a:gd name="connsiteY1" fmla="*/ 949003 h 1928717"/>
              <a:gd name="connsiteX2" fmla="*/ 114300 w 3641271"/>
              <a:gd name="connsiteY2" fmla="*/ 900017 h 1928717"/>
              <a:gd name="connsiteX3" fmla="*/ 65314 w 3641271"/>
              <a:gd name="connsiteY3" fmla="*/ 426488 h 1928717"/>
              <a:gd name="connsiteX4" fmla="*/ 114300 w 3641271"/>
              <a:gd name="connsiteY4" fmla="*/ 148903 h 1928717"/>
              <a:gd name="connsiteX5" fmla="*/ 163285 w 3641271"/>
              <a:gd name="connsiteY5" fmla="*/ 132574 h 1928717"/>
              <a:gd name="connsiteX6" fmla="*/ 195943 w 3641271"/>
              <a:gd name="connsiteY6" fmla="*/ 99917 h 1928717"/>
              <a:gd name="connsiteX7" fmla="*/ 277585 w 3641271"/>
              <a:gd name="connsiteY7" fmla="*/ 83588 h 1928717"/>
              <a:gd name="connsiteX8" fmla="*/ 604157 w 3641271"/>
              <a:gd name="connsiteY8" fmla="*/ 50931 h 1928717"/>
              <a:gd name="connsiteX9" fmla="*/ 2351314 w 3641271"/>
              <a:gd name="connsiteY9" fmla="*/ 34603 h 1928717"/>
              <a:gd name="connsiteX10" fmla="*/ 2465614 w 3641271"/>
              <a:gd name="connsiteY10" fmla="*/ 18274 h 1928717"/>
              <a:gd name="connsiteX11" fmla="*/ 3510643 w 3641271"/>
              <a:gd name="connsiteY11" fmla="*/ 18274 h 1928717"/>
              <a:gd name="connsiteX12" fmla="*/ 3559628 w 3641271"/>
              <a:gd name="connsiteY12" fmla="*/ 34603 h 1928717"/>
              <a:gd name="connsiteX13" fmla="*/ 3608614 w 3641271"/>
              <a:gd name="connsiteY13" fmla="*/ 132574 h 1928717"/>
              <a:gd name="connsiteX14" fmla="*/ 3641271 w 3641271"/>
              <a:gd name="connsiteY14" fmla="*/ 181560 h 1928717"/>
              <a:gd name="connsiteX15" fmla="*/ 3624943 w 3641271"/>
              <a:gd name="connsiteY15" fmla="*/ 524460 h 1928717"/>
              <a:gd name="connsiteX16" fmla="*/ 3592285 w 3641271"/>
              <a:gd name="connsiteY16" fmla="*/ 655088 h 1928717"/>
              <a:gd name="connsiteX17" fmla="*/ 3526971 w 3641271"/>
              <a:gd name="connsiteY17" fmla="*/ 753060 h 1928717"/>
              <a:gd name="connsiteX18" fmla="*/ 3526971 w 3641271"/>
              <a:gd name="connsiteY18" fmla="*/ 1046974 h 1928717"/>
              <a:gd name="connsiteX19" fmla="*/ 3559628 w 3641271"/>
              <a:gd name="connsiteY19" fmla="*/ 1210260 h 1928717"/>
              <a:gd name="connsiteX20" fmla="*/ 3592285 w 3641271"/>
              <a:gd name="connsiteY20" fmla="*/ 1259245 h 1928717"/>
              <a:gd name="connsiteX21" fmla="*/ 3575957 w 3641271"/>
              <a:gd name="connsiteY21" fmla="*/ 1389874 h 1928717"/>
              <a:gd name="connsiteX22" fmla="*/ 3526971 w 3641271"/>
              <a:gd name="connsiteY22" fmla="*/ 1438860 h 1928717"/>
              <a:gd name="connsiteX23" fmla="*/ 3380014 w 3641271"/>
              <a:gd name="connsiteY23" fmla="*/ 1487845 h 1928717"/>
              <a:gd name="connsiteX24" fmla="*/ 2988128 w 3641271"/>
              <a:gd name="connsiteY24" fmla="*/ 1471517 h 1928717"/>
              <a:gd name="connsiteX25" fmla="*/ 2939143 w 3641271"/>
              <a:gd name="connsiteY25" fmla="*/ 1455188 h 1928717"/>
              <a:gd name="connsiteX26" fmla="*/ 2841171 w 3641271"/>
              <a:gd name="connsiteY26" fmla="*/ 1438860 h 1928717"/>
              <a:gd name="connsiteX27" fmla="*/ 2661557 w 3641271"/>
              <a:gd name="connsiteY27" fmla="*/ 1406203 h 1928717"/>
              <a:gd name="connsiteX28" fmla="*/ 2547257 w 3641271"/>
              <a:gd name="connsiteY28" fmla="*/ 1389874 h 1928717"/>
              <a:gd name="connsiteX29" fmla="*/ 2188028 w 3641271"/>
              <a:gd name="connsiteY29" fmla="*/ 1406203 h 1928717"/>
              <a:gd name="connsiteX30" fmla="*/ 2090057 w 3641271"/>
              <a:gd name="connsiteY30" fmla="*/ 1455188 h 1928717"/>
              <a:gd name="connsiteX31" fmla="*/ 2041071 w 3641271"/>
              <a:gd name="connsiteY31" fmla="*/ 1471517 h 1928717"/>
              <a:gd name="connsiteX32" fmla="*/ 1975757 w 3641271"/>
              <a:gd name="connsiteY32" fmla="*/ 1487845 h 1928717"/>
              <a:gd name="connsiteX33" fmla="*/ 1926771 w 3641271"/>
              <a:gd name="connsiteY33" fmla="*/ 1504174 h 1928717"/>
              <a:gd name="connsiteX34" fmla="*/ 1763485 w 3641271"/>
              <a:gd name="connsiteY34" fmla="*/ 1553160 h 1928717"/>
              <a:gd name="connsiteX35" fmla="*/ 1649185 w 3641271"/>
              <a:gd name="connsiteY35" fmla="*/ 1602145 h 1928717"/>
              <a:gd name="connsiteX36" fmla="*/ 1551214 w 3641271"/>
              <a:gd name="connsiteY36" fmla="*/ 1618474 h 1928717"/>
              <a:gd name="connsiteX37" fmla="*/ 1028700 w 3641271"/>
              <a:gd name="connsiteY37" fmla="*/ 1602145 h 1928717"/>
              <a:gd name="connsiteX38" fmla="*/ 718457 w 3641271"/>
              <a:gd name="connsiteY38" fmla="*/ 1618474 h 1928717"/>
              <a:gd name="connsiteX39" fmla="*/ 620485 w 3641271"/>
              <a:gd name="connsiteY39" fmla="*/ 1683788 h 1928717"/>
              <a:gd name="connsiteX40" fmla="*/ 538843 w 3641271"/>
              <a:gd name="connsiteY40" fmla="*/ 1781760 h 1928717"/>
              <a:gd name="connsiteX41" fmla="*/ 424543 w 3641271"/>
              <a:gd name="connsiteY41" fmla="*/ 1912388 h 1928717"/>
              <a:gd name="connsiteX42" fmla="*/ 375557 w 3641271"/>
              <a:gd name="connsiteY42" fmla="*/ 1928717 h 1928717"/>
              <a:gd name="connsiteX43" fmla="*/ 179614 w 3641271"/>
              <a:gd name="connsiteY43" fmla="*/ 1912388 h 1928717"/>
              <a:gd name="connsiteX44" fmla="*/ 130628 w 3641271"/>
              <a:gd name="connsiteY44" fmla="*/ 1879731 h 1928717"/>
              <a:gd name="connsiteX45" fmla="*/ 97971 w 3641271"/>
              <a:gd name="connsiteY45" fmla="*/ 1781760 h 1928717"/>
              <a:gd name="connsiteX46" fmla="*/ 114300 w 3641271"/>
              <a:gd name="connsiteY46" fmla="*/ 1602145 h 1928717"/>
              <a:gd name="connsiteX47" fmla="*/ 146957 w 3641271"/>
              <a:gd name="connsiteY47" fmla="*/ 1504174 h 1928717"/>
              <a:gd name="connsiteX48" fmla="*/ 179614 w 3641271"/>
              <a:gd name="connsiteY48" fmla="*/ 1389874 h 1928717"/>
              <a:gd name="connsiteX49" fmla="*/ 130628 w 3641271"/>
              <a:gd name="connsiteY49" fmla="*/ 1144945 h 1928717"/>
              <a:gd name="connsiteX50" fmla="*/ 81643 w 3641271"/>
              <a:gd name="connsiteY50" fmla="*/ 1112288 h 1928717"/>
              <a:gd name="connsiteX51" fmla="*/ 0 w 3641271"/>
              <a:gd name="connsiteY51" fmla="*/ 1079631 h 1928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641271" h="1928717">
                <a:moveTo>
                  <a:pt x="65314" y="1030645"/>
                </a:moveTo>
                <a:cubicBezTo>
                  <a:pt x="76200" y="1003431"/>
                  <a:pt x="87679" y="976447"/>
                  <a:pt x="97971" y="949003"/>
                </a:cubicBezTo>
                <a:cubicBezTo>
                  <a:pt x="104015" y="932887"/>
                  <a:pt x="114914" y="917218"/>
                  <a:pt x="114300" y="900017"/>
                </a:cubicBezTo>
                <a:cubicBezTo>
                  <a:pt x="102101" y="558420"/>
                  <a:pt x="111094" y="609604"/>
                  <a:pt x="65314" y="426488"/>
                </a:cubicBezTo>
                <a:cubicBezTo>
                  <a:pt x="67865" y="393330"/>
                  <a:pt x="55272" y="207931"/>
                  <a:pt x="114300" y="148903"/>
                </a:cubicBezTo>
                <a:cubicBezTo>
                  <a:pt x="126470" y="136732"/>
                  <a:pt x="146957" y="138017"/>
                  <a:pt x="163285" y="132574"/>
                </a:cubicBezTo>
                <a:cubicBezTo>
                  <a:pt x="174171" y="121688"/>
                  <a:pt x="181793" y="105981"/>
                  <a:pt x="195943" y="99917"/>
                </a:cubicBezTo>
                <a:cubicBezTo>
                  <a:pt x="221452" y="88985"/>
                  <a:pt x="250030" y="86895"/>
                  <a:pt x="277585" y="83588"/>
                </a:cubicBezTo>
                <a:cubicBezTo>
                  <a:pt x="386206" y="70553"/>
                  <a:pt x="494762" y="51953"/>
                  <a:pt x="604157" y="50931"/>
                </a:cubicBezTo>
                <a:lnTo>
                  <a:pt x="2351314" y="34603"/>
                </a:lnTo>
                <a:cubicBezTo>
                  <a:pt x="2389414" y="29160"/>
                  <a:pt x="2427272" y="21608"/>
                  <a:pt x="2465614" y="18274"/>
                </a:cubicBezTo>
                <a:cubicBezTo>
                  <a:pt x="2869225" y="-16824"/>
                  <a:pt x="2994373" y="7518"/>
                  <a:pt x="3510643" y="18274"/>
                </a:cubicBezTo>
                <a:cubicBezTo>
                  <a:pt x="3526971" y="23717"/>
                  <a:pt x="3546188" y="23851"/>
                  <a:pt x="3559628" y="34603"/>
                </a:cubicBezTo>
                <a:cubicBezTo>
                  <a:pt x="3598624" y="65800"/>
                  <a:pt x="3588894" y="93133"/>
                  <a:pt x="3608614" y="132574"/>
                </a:cubicBezTo>
                <a:cubicBezTo>
                  <a:pt x="3617390" y="150127"/>
                  <a:pt x="3630385" y="165231"/>
                  <a:pt x="3641271" y="181560"/>
                </a:cubicBezTo>
                <a:cubicBezTo>
                  <a:pt x="3635828" y="295860"/>
                  <a:pt x="3636718" y="410638"/>
                  <a:pt x="3624943" y="524460"/>
                </a:cubicBezTo>
                <a:cubicBezTo>
                  <a:pt x="3620325" y="569105"/>
                  <a:pt x="3617181" y="617743"/>
                  <a:pt x="3592285" y="655088"/>
                </a:cubicBezTo>
                <a:lnTo>
                  <a:pt x="3526971" y="753060"/>
                </a:lnTo>
                <a:cubicBezTo>
                  <a:pt x="3485994" y="875995"/>
                  <a:pt x="3503673" y="802347"/>
                  <a:pt x="3526971" y="1046974"/>
                </a:cubicBezTo>
                <a:cubicBezTo>
                  <a:pt x="3528624" y="1064334"/>
                  <a:pt x="3547719" y="1182473"/>
                  <a:pt x="3559628" y="1210260"/>
                </a:cubicBezTo>
                <a:cubicBezTo>
                  <a:pt x="3567358" y="1228298"/>
                  <a:pt x="3581399" y="1242917"/>
                  <a:pt x="3592285" y="1259245"/>
                </a:cubicBezTo>
                <a:cubicBezTo>
                  <a:pt x="3586842" y="1302788"/>
                  <a:pt x="3590953" y="1348634"/>
                  <a:pt x="3575957" y="1389874"/>
                </a:cubicBezTo>
                <a:cubicBezTo>
                  <a:pt x="3568065" y="1411576"/>
                  <a:pt x="3544711" y="1424077"/>
                  <a:pt x="3526971" y="1438860"/>
                </a:cubicBezTo>
                <a:cubicBezTo>
                  <a:pt x="3469571" y="1486693"/>
                  <a:pt x="3465063" y="1473671"/>
                  <a:pt x="3380014" y="1487845"/>
                </a:cubicBezTo>
                <a:cubicBezTo>
                  <a:pt x="3249385" y="1482402"/>
                  <a:pt x="3118513" y="1481175"/>
                  <a:pt x="2988128" y="1471517"/>
                </a:cubicBezTo>
                <a:cubicBezTo>
                  <a:pt x="2970963" y="1470246"/>
                  <a:pt x="2955945" y="1458922"/>
                  <a:pt x="2939143" y="1455188"/>
                </a:cubicBezTo>
                <a:cubicBezTo>
                  <a:pt x="2906824" y="1448006"/>
                  <a:pt x="2873828" y="1444303"/>
                  <a:pt x="2841171" y="1438860"/>
                </a:cubicBezTo>
                <a:cubicBezTo>
                  <a:pt x="2748140" y="1407849"/>
                  <a:pt x="2815421" y="1426718"/>
                  <a:pt x="2661557" y="1406203"/>
                </a:cubicBezTo>
                <a:lnTo>
                  <a:pt x="2547257" y="1389874"/>
                </a:lnTo>
                <a:cubicBezTo>
                  <a:pt x="2427514" y="1395317"/>
                  <a:pt x="2307513" y="1396644"/>
                  <a:pt x="2188028" y="1406203"/>
                </a:cubicBezTo>
                <a:cubicBezTo>
                  <a:pt x="2139169" y="1410112"/>
                  <a:pt x="2131993" y="1434220"/>
                  <a:pt x="2090057" y="1455188"/>
                </a:cubicBezTo>
                <a:cubicBezTo>
                  <a:pt x="2074662" y="1462885"/>
                  <a:pt x="2057621" y="1466789"/>
                  <a:pt x="2041071" y="1471517"/>
                </a:cubicBezTo>
                <a:cubicBezTo>
                  <a:pt x="2019493" y="1477682"/>
                  <a:pt x="1997335" y="1481680"/>
                  <a:pt x="1975757" y="1487845"/>
                </a:cubicBezTo>
                <a:cubicBezTo>
                  <a:pt x="1959207" y="1492573"/>
                  <a:pt x="1943321" y="1499445"/>
                  <a:pt x="1926771" y="1504174"/>
                </a:cubicBezTo>
                <a:cubicBezTo>
                  <a:pt x="1872083" y="1519799"/>
                  <a:pt x="1815219" y="1527293"/>
                  <a:pt x="1763485" y="1553160"/>
                </a:cubicBezTo>
                <a:cubicBezTo>
                  <a:pt x="1723545" y="1573130"/>
                  <a:pt x="1692435" y="1592534"/>
                  <a:pt x="1649185" y="1602145"/>
                </a:cubicBezTo>
                <a:cubicBezTo>
                  <a:pt x="1616866" y="1609327"/>
                  <a:pt x="1583871" y="1613031"/>
                  <a:pt x="1551214" y="1618474"/>
                </a:cubicBezTo>
                <a:cubicBezTo>
                  <a:pt x="1377043" y="1613031"/>
                  <a:pt x="1202956" y="1602145"/>
                  <a:pt x="1028700" y="1602145"/>
                </a:cubicBezTo>
                <a:cubicBezTo>
                  <a:pt x="925143" y="1602145"/>
                  <a:pt x="820003" y="1598165"/>
                  <a:pt x="718457" y="1618474"/>
                </a:cubicBezTo>
                <a:cubicBezTo>
                  <a:pt x="679970" y="1626171"/>
                  <a:pt x="620485" y="1683788"/>
                  <a:pt x="620485" y="1683788"/>
                </a:cubicBezTo>
                <a:cubicBezTo>
                  <a:pt x="539412" y="1805399"/>
                  <a:pt x="643603" y="1656049"/>
                  <a:pt x="538843" y="1781760"/>
                </a:cubicBezTo>
                <a:cubicBezTo>
                  <a:pt x="503611" y="1824039"/>
                  <a:pt x="483241" y="1892821"/>
                  <a:pt x="424543" y="1912388"/>
                </a:cubicBezTo>
                <a:lnTo>
                  <a:pt x="375557" y="1928717"/>
                </a:lnTo>
                <a:cubicBezTo>
                  <a:pt x="310243" y="1923274"/>
                  <a:pt x="243882" y="1925242"/>
                  <a:pt x="179614" y="1912388"/>
                </a:cubicBezTo>
                <a:cubicBezTo>
                  <a:pt x="160371" y="1908539"/>
                  <a:pt x="141029" y="1896373"/>
                  <a:pt x="130628" y="1879731"/>
                </a:cubicBezTo>
                <a:cubicBezTo>
                  <a:pt x="112384" y="1850540"/>
                  <a:pt x="97971" y="1781760"/>
                  <a:pt x="97971" y="1781760"/>
                </a:cubicBezTo>
                <a:cubicBezTo>
                  <a:pt x="103414" y="1721888"/>
                  <a:pt x="103852" y="1661349"/>
                  <a:pt x="114300" y="1602145"/>
                </a:cubicBezTo>
                <a:cubicBezTo>
                  <a:pt x="120282" y="1568245"/>
                  <a:pt x="136071" y="1536831"/>
                  <a:pt x="146957" y="1504174"/>
                </a:cubicBezTo>
                <a:cubicBezTo>
                  <a:pt x="170379" y="1433906"/>
                  <a:pt x="159113" y="1471876"/>
                  <a:pt x="179614" y="1389874"/>
                </a:cubicBezTo>
                <a:cubicBezTo>
                  <a:pt x="168365" y="1243638"/>
                  <a:pt x="212107" y="1210129"/>
                  <a:pt x="130628" y="1144945"/>
                </a:cubicBezTo>
                <a:cubicBezTo>
                  <a:pt x="115304" y="1132686"/>
                  <a:pt x="98682" y="1122024"/>
                  <a:pt x="81643" y="1112288"/>
                </a:cubicBezTo>
                <a:cubicBezTo>
                  <a:pt x="20233" y="1077197"/>
                  <a:pt x="38708" y="1079631"/>
                  <a:pt x="0" y="10796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p:cNvPicPr>
            <a:picLocks noChangeAspect="1"/>
          </p:cNvPicPr>
          <p:nvPr/>
        </p:nvPicPr>
        <p:blipFill>
          <a:blip r:embed="rId3"/>
          <a:stretch>
            <a:fillRect/>
          </a:stretch>
        </p:blipFill>
        <p:spPr>
          <a:xfrm>
            <a:off x="26391" y="3466578"/>
            <a:ext cx="755449" cy="767833"/>
          </a:xfrm>
          <a:prstGeom prst="rect">
            <a:avLst/>
          </a:prstGeom>
        </p:spPr>
      </p:pic>
      <p:sp>
        <p:nvSpPr>
          <p:cNvPr id="5" name="TextBox 4"/>
          <p:cNvSpPr txBox="1"/>
          <p:nvPr/>
        </p:nvSpPr>
        <p:spPr>
          <a:xfrm>
            <a:off x="2237014" y="5858749"/>
            <a:ext cx="4240263" cy="461665"/>
          </a:xfrm>
          <a:prstGeom prst="rect">
            <a:avLst/>
          </a:prstGeom>
          <a:solidFill>
            <a:schemeClr val="accent1">
              <a:lumMod val="40000"/>
              <a:lumOff val="60000"/>
            </a:schemeClr>
          </a:solidFill>
        </p:spPr>
        <p:txBody>
          <a:bodyPr wrap="none" rtlCol="0">
            <a:spAutoFit/>
          </a:bodyPr>
          <a:lstStyle/>
          <a:p>
            <a:r>
              <a:rPr lang="en-GB" sz="2400" b="1" dirty="0">
                <a:latin typeface="Courier New" pitchFamily="49" charset="0"/>
                <a:cs typeface="Courier New" pitchFamily="49" charset="0"/>
              </a:rPr>
              <a:t>Let’s learn by example</a:t>
            </a:r>
          </a:p>
        </p:txBody>
      </p:sp>
    </p:spTree>
    <p:extLst>
      <p:ext uri="{BB962C8B-B14F-4D97-AF65-F5344CB8AC3E}">
        <p14:creationId xmlns:p14="http://schemas.microsoft.com/office/powerpoint/2010/main" val="368973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query the Lambda way</a:t>
            </a:r>
          </a:p>
        </p:txBody>
      </p:sp>
      <p:sp>
        <p:nvSpPr>
          <p:cNvPr id="3" name="Content Placeholder 2"/>
          <p:cNvSpPr>
            <a:spLocks noGrp="1"/>
          </p:cNvSpPr>
          <p:nvPr>
            <p:ph idx="1"/>
          </p:nvPr>
        </p:nvSpPr>
        <p:spPr/>
        <p:txBody>
          <a:bodyPr/>
          <a:lstStyle/>
          <a:p>
            <a:endParaRPr lang="en-GB" dirty="0"/>
          </a:p>
        </p:txBody>
      </p:sp>
      <p:sp>
        <p:nvSpPr>
          <p:cNvPr id="4" name="Rectangle 3"/>
          <p:cNvSpPr/>
          <p:nvPr/>
        </p:nvSpPr>
        <p:spPr>
          <a:xfrm>
            <a:off x="195599" y="962310"/>
            <a:ext cx="6803078" cy="2585323"/>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err="1">
                <a:solidFill>
                  <a:srgbClr val="0000FF"/>
                </a:solidFill>
                <a:highlight>
                  <a:srgbClr val="FFFFFF"/>
                </a:highlight>
                <a:latin typeface="Consolas" panose="020B0609020204030204" pitchFamily="49" charset="0"/>
              </a:rPr>
              <a:t>int</a:t>
            </a:r>
            <a:r>
              <a:rPr lang="en-GB" sz="1800" b="1" dirty="0">
                <a:solidFill>
                  <a:srgbClr val="000000"/>
                </a:solidFill>
                <a:highlight>
                  <a:srgbClr val="FFFFFF"/>
                </a:highlight>
                <a:latin typeface="Consolas" panose="020B0609020204030204" pitchFamily="49" charset="0"/>
              </a:rPr>
              <a:t>[] numbers = { 1, 9, 2, 8, 3, 7, 4, 6, 5 };</a:t>
            </a:r>
          </a:p>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r>
              <a:rPr lang="en-GB" sz="1800" b="1" dirty="0">
                <a:solidFill>
                  <a:srgbClr val="0000FF"/>
                </a:solidFill>
                <a:highlight>
                  <a:srgbClr val="FFFFFF"/>
                </a:highlight>
                <a:latin typeface="Consolas" panose="020B0609020204030204" pitchFamily="49" charset="0"/>
              </a:rPr>
              <a:t>from</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num</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numbers</a:t>
            </a:r>
            <a:br>
              <a:rPr lang="en-GB" sz="1800" b="1" dirty="0">
                <a:solidFill>
                  <a:srgbClr val="000000"/>
                </a:solidFill>
                <a:highlight>
                  <a:srgbClr val="FFFFFF"/>
                </a:highlight>
                <a:latin typeface="Consolas" panose="020B0609020204030204" pitchFamily="49" charset="0"/>
              </a:rPr>
            </a:br>
            <a:r>
              <a:rPr lang="pt-BR" sz="1800" b="1" dirty="0">
                <a:solidFill>
                  <a:srgbClr val="000000"/>
                </a:solidFill>
                <a:highlight>
                  <a:srgbClr val="FFFFFF"/>
                </a:highlight>
                <a:latin typeface="Consolas" panose="020B0609020204030204" pitchFamily="49" charset="0"/>
              </a:rPr>
              <a:t>             </a:t>
            </a:r>
            <a:r>
              <a:rPr lang="pt-BR" sz="1800" b="1" dirty="0">
                <a:solidFill>
                  <a:srgbClr val="0000FF"/>
                </a:solidFill>
                <a:highlight>
                  <a:srgbClr val="FFFFFF"/>
                </a:highlight>
                <a:latin typeface="Consolas" panose="020B0609020204030204" pitchFamily="49" charset="0"/>
              </a:rPr>
              <a:t>where</a:t>
            </a:r>
            <a:r>
              <a:rPr lang="pt-BR" sz="1800" b="1" dirty="0">
                <a:solidFill>
                  <a:srgbClr val="000000"/>
                </a:solidFill>
                <a:highlight>
                  <a:srgbClr val="FFFFFF"/>
                </a:highlight>
                <a:latin typeface="Consolas" panose="020B0609020204030204" pitchFamily="49" charset="0"/>
              </a:rPr>
              <a:t> num &gt; 3 &amp;&amp; num % 2 == 0</a:t>
            </a:r>
            <a:br>
              <a:rPr lang="pt-BR" sz="1800" b="1" dirty="0">
                <a:solidFill>
                  <a:srgbClr val="000000"/>
                </a:solidFill>
                <a:highlight>
                  <a:srgbClr val="FFFFFF"/>
                </a:highlight>
                <a:latin typeface="Consolas" panose="020B0609020204030204" pitchFamily="49" charset="0"/>
              </a:rPr>
            </a:b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select</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num</a:t>
            </a:r>
            <a:r>
              <a:rPr lang="en-GB" sz="1800" b="1" dirty="0">
                <a:solidFill>
                  <a:srgbClr val="000000"/>
                </a:solidFill>
                <a:highlight>
                  <a:srgbClr val="FFFFFF"/>
                </a:highlight>
                <a:latin typeface="Consolas" panose="020B0609020204030204" pitchFamily="49" charset="0"/>
              </a:rPr>
              <a:t>;</a:t>
            </a:r>
          </a:p>
          <a:p>
            <a:r>
              <a:rPr lang="en-GB" sz="1800" b="1" dirty="0" err="1">
                <a:solidFill>
                  <a:srgbClr val="0000FF"/>
                </a:solidFill>
                <a:highlight>
                  <a:srgbClr val="FFFFFF"/>
                </a:highlight>
                <a:latin typeface="Consolas" panose="020B0609020204030204" pitchFamily="49" charset="0"/>
              </a:rPr>
              <a:t>foreach</a:t>
            </a:r>
            <a:r>
              <a:rPr lang="en-GB" sz="1800" b="1" dirty="0">
                <a:solidFill>
                  <a:srgbClr val="000000"/>
                </a:solidFill>
                <a:highlight>
                  <a:srgbClr val="FFFFFF"/>
                </a:highlight>
                <a:latin typeface="Consolas" panose="020B0609020204030204" pitchFamily="49" charset="0"/>
              </a:rPr>
              <a:t> (</a:t>
            </a:r>
            <a:r>
              <a:rPr lang="en-GB" sz="1800" b="1" dirty="0" err="1">
                <a:solidFill>
                  <a:srgbClr val="0000FF"/>
                </a:solidFill>
                <a:highlight>
                  <a:srgbClr val="FFFFFF"/>
                </a:highlight>
                <a:latin typeface="Consolas" panose="020B0609020204030204" pitchFamily="49" charset="0"/>
              </a:rPr>
              <a:t>int</a:t>
            </a:r>
            <a:r>
              <a:rPr lang="en-GB" sz="1800" b="1" dirty="0">
                <a:solidFill>
                  <a:srgbClr val="000000"/>
                </a:solidFill>
                <a:highlight>
                  <a:srgbClr val="FFFFFF"/>
                </a:highlight>
                <a:latin typeface="Consolas" panose="020B0609020204030204" pitchFamily="49" charset="0"/>
              </a:rPr>
              <a:t> n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query) {</a:t>
            </a:r>
          </a:p>
          <a:p>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Console</a:t>
            </a:r>
            <a:r>
              <a:rPr lang="en-GB" sz="1800" b="1" dirty="0" err="1">
                <a:solidFill>
                  <a:srgbClr val="000000"/>
                </a:solidFill>
                <a:highlight>
                  <a:srgbClr val="FFFFFF"/>
                </a:highlight>
                <a:latin typeface="Consolas" panose="020B0609020204030204" pitchFamily="49" charset="0"/>
              </a:rPr>
              <a:t>.WriteLine</a:t>
            </a:r>
            <a:r>
              <a:rPr lang="en-GB" sz="1800" b="1" dirty="0">
                <a:solidFill>
                  <a:srgbClr val="000000"/>
                </a:solidFill>
                <a:highlight>
                  <a:srgbClr val="FFFFFF"/>
                </a:highlight>
                <a:latin typeface="Consolas" panose="020B0609020204030204" pitchFamily="49" charset="0"/>
              </a:rPr>
              <a:t>(n);</a:t>
            </a:r>
          </a:p>
          <a:p>
            <a:r>
              <a:rPr lang="en-GB" sz="1800" b="1" dirty="0">
                <a:solidFill>
                  <a:srgbClr val="000000"/>
                </a:solidFill>
                <a:highlight>
                  <a:srgbClr val="FFFFFF"/>
                </a:highlight>
                <a:latin typeface="Consolas" panose="020B0609020204030204" pitchFamily="49" charset="0"/>
              </a:rPr>
              <a:t>}</a:t>
            </a:r>
          </a:p>
        </p:txBody>
      </p:sp>
      <p:pic>
        <p:nvPicPr>
          <p:cNvPr id="5" name="Picture 4"/>
          <p:cNvPicPr>
            <a:picLocks noChangeAspect="1"/>
          </p:cNvPicPr>
          <p:nvPr/>
        </p:nvPicPr>
        <p:blipFill>
          <a:blip r:embed="rId3"/>
          <a:stretch>
            <a:fillRect/>
          </a:stretch>
        </p:blipFill>
        <p:spPr>
          <a:xfrm>
            <a:off x="4861571" y="4589129"/>
            <a:ext cx="4080773" cy="1530290"/>
          </a:xfrm>
          <a:prstGeom prst="rect">
            <a:avLst/>
          </a:prstGeom>
          <a:ln>
            <a:noFill/>
          </a:ln>
          <a:effectLst>
            <a:outerShdw blurRad="292100" dist="139700" dir="2700000" algn="tl" rotWithShape="0">
              <a:srgbClr val="333333">
                <a:alpha val="65000"/>
              </a:srgbClr>
            </a:outerShdw>
          </a:effectLst>
        </p:spPr>
      </p:pic>
      <p:sp>
        <p:nvSpPr>
          <p:cNvPr id="7" name="Rectangle 6"/>
          <p:cNvSpPr/>
          <p:nvPr/>
        </p:nvSpPr>
        <p:spPr>
          <a:xfrm>
            <a:off x="207631" y="3515575"/>
            <a:ext cx="8734119"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br>
              <a:rPr lang="en-GB" sz="1800" b="1" dirty="0">
                <a:solidFill>
                  <a:srgbClr val="000000"/>
                </a:solidFill>
                <a:highlight>
                  <a:srgbClr val="FFFFFF"/>
                </a:highlight>
                <a:latin typeface="Consolas" panose="020B0609020204030204" pitchFamily="49" charset="0"/>
              </a:rPr>
            </a:br>
            <a:r>
              <a:rPr lang="en-GB" sz="1800" b="1" dirty="0">
                <a:solidFill>
                  <a:srgbClr val="000000"/>
                </a:solidFill>
                <a:highlight>
                  <a:srgbClr val="FFFFFF"/>
                </a:highlight>
                <a:latin typeface="Consolas" panose="020B0609020204030204" pitchFamily="49" charset="0"/>
              </a:rPr>
              <a:t>            </a:t>
            </a:r>
            <a:r>
              <a:rPr lang="en-GB" sz="1800" dirty="0" err="1">
                <a:solidFill>
                  <a:srgbClr val="000000"/>
                </a:solidFill>
                <a:highlight>
                  <a:srgbClr val="FFFFFF"/>
                </a:highlight>
                <a:latin typeface="Consolas" panose="020B0609020204030204" pitchFamily="49" charset="0"/>
              </a:rPr>
              <a:t>numbers.Where</a:t>
            </a:r>
            <a:r>
              <a:rPr lang="en-GB" sz="1800" dirty="0">
                <a:solidFill>
                  <a:srgbClr val="000000"/>
                </a:solidFill>
                <a:highlight>
                  <a:srgbClr val="FFFFFF"/>
                </a:highlight>
                <a:latin typeface="Consolas" panose="020B0609020204030204" pitchFamily="49" charset="0"/>
              </a:rPr>
              <a:t>(</a:t>
            </a:r>
            <a:r>
              <a:rPr lang="en-GB" sz="1800" dirty="0" err="1">
                <a:solidFill>
                  <a:srgbClr val="000000"/>
                </a:solidFill>
                <a:highlight>
                  <a:srgbClr val="FFFFFF"/>
                </a:highlight>
                <a:latin typeface="Consolas" panose="020B0609020204030204" pitchFamily="49" charset="0"/>
              </a:rPr>
              <a:t>num</a:t>
            </a:r>
            <a:r>
              <a:rPr lang="en-GB" sz="1800" dirty="0">
                <a:solidFill>
                  <a:srgbClr val="000000"/>
                </a:solidFill>
                <a:highlight>
                  <a:srgbClr val="FFFFFF"/>
                </a:highlight>
                <a:latin typeface="Consolas" panose="020B0609020204030204" pitchFamily="49" charset="0"/>
              </a:rPr>
              <a:t> =&gt; </a:t>
            </a:r>
            <a:r>
              <a:rPr lang="en-GB" sz="1800" dirty="0" err="1">
                <a:solidFill>
                  <a:srgbClr val="000000"/>
                </a:solidFill>
                <a:highlight>
                  <a:srgbClr val="FFFFFF"/>
                </a:highlight>
                <a:latin typeface="Consolas" panose="020B0609020204030204" pitchFamily="49" charset="0"/>
              </a:rPr>
              <a:t>num</a:t>
            </a:r>
            <a:r>
              <a:rPr lang="en-GB" sz="1800" dirty="0">
                <a:solidFill>
                  <a:srgbClr val="000000"/>
                </a:solidFill>
                <a:highlight>
                  <a:srgbClr val="FFFFFF"/>
                </a:highlight>
                <a:latin typeface="Consolas" panose="020B0609020204030204" pitchFamily="49" charset="0"/>
              </a:rPr>
              <a:t> &gt; 3 &amp;&amp; </a:t>
            </a:r>
            <a:r>
              <a:rPr lang="en-GB" sz="1800" dirty="0" err="1">
                <a:solidFill>
                  <a:srgbClr val="000000"/>
                </a:solidFill>
                <a:highlight>
                  <a:srgbClr val="FFFFFF"/>
                </a:highlight>
                <a:latin typeface="Consolas" panose="020B0609020204030204" pitchFamily="49" charset="0"/>
              </a:rPr>
              <a:t>num</a:t>
            </a:r>
            <a:r>
              <a:rPr lang="en-GB" sz="1800" dirty="0">
                <a:solidFill>
                  <a:srgbClr val="000000"/>
                </a:solidFill>
                <a:highlight>
                  <a:srgbClr val="FFFFFF"/>
                </a:highlight>
                <a:latin typeface="Consolas" panose="020B0609020204030204" pitchFamily="49" charset="0"/>
              </a:rPr>
              <a:t> % 2 == 0);</a:t>
            </a:r>
            <a:br>
              <a:rPr lang="en-GB" sz="1800" dirty="0">
                <a:solidFill>
                  <a:srgbClr val="000000"/>
                </a:solidFill>
                <a:highlight>
                  <a:srgbClr val="FFFFFF"/>
                </a:highlight>
                <a:latin typeface="Consolas" panose="020B0609020204030204" pitchFamily="49" charset="0"/>
              </a:rPr>
            </a:br>
            <a:r>
              <a:rPr lang="en-GB" sz="1800" dirty="0">
                <a:solidFill>
                  <a:schemeClr val="accent6">
                    <a:lumMod val="50000"/>
                  </a:schemeClr>
                </a:solidFill>
                <a:highlight>
                  <a:srgbClr val="FFFFFF"/>
                </a:highlight>
                <a:latin typeface="Consolas" panose="020B0609020204030204" pitchFamily="49" charset="0"/>
              </a:rPr>
              <a:t>// then the </a:t>
            </a:r>
            <a:r>
              <a:rPr lang="en-GB" sz="1800" dirty="0" err="1">
                <a:solidFill>
                  <a:schemeClr val="accent6">
                    <a:lumMod val="50000"/>
                  </a:schemeClr>
                </a:solidFill>
                <a:highlight>
                  <a:srgbClr val="FFFFFF"/>
                </a:highlight>
                <a:latin typeface="Consolas" panose="020B0609020204030204" pitchFamily="49" charset="0"/>
              </a:rPr>
              <a:t>foreach</a:t>
            </a:r>
            <a:r>
              <a:rPr lang="en-GB" sz="1800" dirty="0">
                <a:solidFill>
                  <a:schemeClr val="accent6">
                    <a:lumMod val="50000"/>
                  </a:schemeClr>
                </a:solidFill>
                <a:highlight>
                  <a:srgbClr val="FFFFFF"/>
                </a:highlight>
                <a:latin typeface="Consolas" panose="020B0609020204030204" pitchFamily="49" charset="0"/>
              </a:rPr>
              <a:t> loop to display them</a:t>
            </a:r>
            <a:endParaRPr lang="en-GB" sz="1800" dirty="0">
              <a:solidFill>
                <a:schemeClr val="accent6">
                  <a:lumMod val="50000"/>
                </a:schemeClr>
              </a:solidFill>
            </a:endParaRPr>
          </a:p>
        </p:txBody>
      </p:sp>
    </p:spTree>
    <p:extLst>
      <p:ext uri="{BB962C8B-B14F-4D97-AF65-F5344CB8AC3E}">
        <p14:creationId xmlns:p14="http://schemas.microsoft.com/office/powerpoint/2010/main" val="350294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more complex filter</a:t>
            </a:r>
          </a:p>
        </p:txBody>
      </p:sp>
      <p:sp>
        <p:nvSpPr>
          <p:cNvPr id="3" name="Content Placeholder 2"/>
          <p:cNvSpPr>
            <a:spLocks noGrp="1"/>
          </p:cNvSpPr>
          <p:nvPr>
            <p:ph idx="1"/>
          </p:nvPr>
        </p:nvSpPr>
        <p:spPr/>
        <p:txBody>
          <a:bodyPr/>
          <a:lstStyle/>
          <a:p>
            <a:endParaRPr lang="en-GB"/>
          </a:p>
        </p:txBody>
      </p:sp>
      <p:sp>
        <p:nvSpPr>
          <p:cNvPr id="4" name="Rectangle 3"/>
          <p:cNvSpPr/>
          <p:nvPr/>
        </p:nvSpPr>
        <p:spPr>
          <a:xfrm>
            <a:off x="175848" y="941689"/>
            <a:ext cx="8753869" cy="4524315"/>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2B91AF"/>
                </a:solidFill>
                <a:highlight>
                  <a:srgbClr val="FFFFFF"/>
                </a:highlight>
                <a:latin typeface="Consolas" panose="020B0609020204030204" pitchFamily="49" charset="0"/>
              </a:rPr>
              <a:t>List</a:t>
            </a:r>
            <a:r>
              <a:rPr lang="en-GB" sz="1800" b="1" dirty="0">
                <a:solidFill>
                  <a:srgbClr val="000000"/>
                </a:solidFill>
                <a:highlight>
                  <a:srgbClr val="FFFFFF"/>
                </a:highlight>
                <a:latin typeface="Consolas" panose="020B0609020204030204" pitchFamily="49" charset="0"/>
              </a:rPr>
              <a:t>&lt;</a:t>
            </a:r>
            <a:r>
              <a:rPr lang="en-GB" sz="1800" b="1" dirty="0">
                <a:solidFill>
                  <a:srgbClr val="0000FF"/>
                </a:solidFill>
                <a:highlight>
                  <a:srgbClr val="FFFFFF"/>
                </a:highlight>
                <a:latin typeface="Consolas" panose="020B0609020204030204" pitchFamily="49" charset="0"/>
              </a:rPr>
              <a:t>string</a:t>
            </a:r>
            <a:r>
              <a:rPr lang="en-GB" sz="1800" b="1" dirty="0">
                <a:solidFill>
                  <a:srgbClr val="000000"/>
                </a:solidFill>
                <a:highlight>
                  <a:srgbClr val="FFFFFF"/>
                </a:highlight>
                <a:latin typeface="Consolas" panose="020B0609020204030204" pitchFamily="49" charset="0"/>
              </a:rPr>
              <a:t>&gt; names = </a:t>
            </a:r>
            <a:r>
              <a:rPr lang="en-GB" sz="1800" b="1" dirty="0">
                <a:solidFill>
                  <a:srgbClr val="0000FF"/>
                </a:solidFill>
                <a:highlight>
                  <a:srgbClr val="FFFFFF"/>
                </a:highlight>
                <a:latin typeface="Consolas" panose="020B0609020204030204" pitchFamily="49" charset="0"/>
              </a:rPr>
              <a:t>new</a:t>
            </a:r>
            <a:r>
              <a:rPr lang="en-GB" sz="1800" b="1" dirty="0">
                <a:solidFill>
                  <a:srgbClr val="000000"/>
                </a:solidFill>
                <a:highlight>
                  <a:srgbClr val="FFFFFF"/>
                </a:highlight>
                <a:latin typeface="Consolas" panose="020B0609020204030204" pitchFamily="49" charset="0"/>
              </a:rPr>
              <a:t> </a:t>
            </a:r>
            <a:r>
              <a:rPr lang="en-GB" sz="1800" b="1" dirty="0">
                <a:solidFill>
                  <a:srgbClr val="2B91AF"/>
                </a:solidFill>
                <a:highlight>
                  <a:srgbClr val="FFFFFF"/>
                </a:highlight>
                <a:latin typeface="Consolas" panose="020B0609020204030204" pitchFamily="49" charset="0"/>
              </a:rPr>
              <a:t>List</a:t>
            </a:r>
            <a:r>
              <a:rPr lang="en-GB" sz="1800" b="1" dirty="0">
                <a:solidFill>
                  <a:srgbClr val="000000"/>
                </a:solidFill>
                <a:highlight>
                  <a:srgbClr val="FFFFFF"/>
                </a:highlight>
                <a:latin typeface="Consolas" panose="020B0609020204030204" pitchFamily="49" charset="0"/>
              </a:rPr>
              <a:t>&lt;</a:t>
            </a:r>
            <a:r>
              <a:rPr lang="en-GB" sz="1800" b="1" dirty="0">
                <a:solidFill>
                  <a:srgbClr val="0000FF"/>
                </a:solidFill>
                <a:highlight>
                  <a:srgbClr val="FFFFFF"/>
                </a:highlight>
                <a:latin typeface="Consolas" panose="020B0609020204030204" pitchFamily="49" charset="0"/>
              </a:rPr>
              <a:t>string</a:t>
            </a:r>
            <a:r>
              <a:rPr lang="en-GB" sz="1800" b="1" dirty="0">
                <a:solidFill>
                  <a:srgbClr val="000000"/>
                </a:solidFill>
                <a:highlight>
                  <a:srgbClr val="FFFFFF"/>
                </a:highlight>
                <a:latin typeface="Consolas" panose="020B0609020204030204" pitchFamily="49" charset="0"/>
              </a:rPr>
              <a:t>&gt; { </a:t>
            </a:r>
          </a:p>
          <a:p>
            <a:r>
              <a:rPr lang="en-GB" sz="1800" b="1" dirty="0">
                <a:solidFill>
                  <a:srgbClr val="A31515"/>
                </a:solidFill>
                <a:highlight>
                  <a:srgbClr val="FFFFFF"/>
                </a:highlight>
                <a:latin typeface="Consolas" panose="020B0609020204030204" pitchFamily="49" charset="0"/>
              </a:rPr>
              <a:t>"</a:t>
            </a:r>
            <a:r>
              <a:rPr lang="en-GB" sz="1800" b="1" dirty="0" err="1">
                <a:solidFill>
                  <a:srgbClr val="A31515"/>
                </a:solidFill>
                <a:highlight>
                  <a:srgbClr val="FFFFFF"/>
                </a:highlight>
                <a:latin typeface="Consolas" panose="020B0609020204030204" pitchFamily="49" charset="0"/>
              </a:rPr>
              <a:t>Azzie</a:t>
            </a:r>
            <a:r>
              <a:rPr lang="en-GB" sz="1800" b="1" dirty="0">
                <a:solidFill>
                  <a:srgbClr val="A31515"/>
                </a:solidFill>
                <a:highlight>
                  <a:srgbClr val="FFFFFF"/>
                </a:highlight>
                <a:latin typeface="Consolas" panose="020B0609020204030204" pitchFamily="49" charset="0"/>
              </a:rPr>
              <a:t>"</a:t>
            </a:r>
            <a:r>
              <a:rPr lang="en-GB" sz="1800" b="1" dirty="0">
                <a:solidFill>
                  <a:srgbClr val="000000"/>
                </a:solidFill>
                <a:highlight>
                  <a:srgbClr val="FFFFFF"/>
                </a:highlight>
                <a:latin typeface="Consolas" panose="020B0609020204030204" pitchFamily="49" charset="0"/>
              </a:rPr>
              <a:t>, </a:t>
            </a:r>
            <a:r>
              <a:rPr lang="en-GB" sz="1800" b="1" dirty="0">
                <a:solidFill>
                  <a:srgbClr val="A31515"/>
                </a:solidFill>
                <a:highlight>
                  <a:srgbClr val="FFFFFF"/>
                </a:highlight>
                <a:latin typeface="Consolas" panose="020B0609020204030204" pitchFamily="49" charset="0"/>
              </a:rPr>
              <a:t>"Mariana"</a:t>
            </a:r>
            <a:r>
              <a:rPr lang="en-GB" sz="1800" b="1" dirty="0">
                <a:solidFill>
                  <a:srgbClr val="000000"/>
                </a:solidFill>
                <a:highlight>
                  <a:srgbClr val="FFFFFF"/>
                </a:highlight>
                <a:latin typeface="Consolas" panose="020B0609020204030204" pitchFamily="49" charset="0"/>
              </a:rPr>
              <a:t>, </a:t>
            </a:r>
            <a:r>
              <a:rPr lang="en-GB" sz="1800" b="1" dirty="0">
                <a:solidFill>
                  <a:srgbClr val="A31515"/>
                </a:solidFill>
                <a:highlight>
                  <a:srgbClr val="FFFFFF"/>
                </a:highlight>
                <a:latin typeface="Consolas" panose="020B0609020204030204" pitchFamily="49" charset="0"/>
              </a:rPr>
              <a:t>"</a:t>
            </a:r>
            <a:r>
              <a:rPr lang="en-GB" sz="1800" b="1" dirty="0" err="1">
                <a:solidFill>
                  <a:srgbClr val="A31515"/>
                </a:solidFill>
                <a:highlight>
                  <a:srgbClr val="FFFFFF"/>
                </a:highlight>
                <a:latin typeface="Consolas" panose="020B0609020204030204" pitchFamily="49" charset="0"/>
              </a:rPr>
              <a:t>Nancie</a:t>
            </a:r>
            <a:r>
              <a:rPr lang="en-GB" sz="1800" b="1" dirty="0">
                <a:solidFill>
                  <a:srgbClr val="A31515"/>
                </a:solidFill>
                <a:highlight>
                  <a:srgbClr val="FFFFFF"/>
                </a:highlight>
                <a:latin typeface="Consolas" panose="020B0609020204030204" pitchFamily="49" charset="0"/>
              </a:rPr>
              <a:t>"</a:t>
            </a:r>
            <a:r>
              <a:rPr lang="en-GB" sz="1800" b="1" dirty="0">
                <a:solidFill>
                  <a:srgbClr val="000000"/>
                </a:solidFill>
                <a:highlight>
                  <a:srgbClr val="FFFFFF"/>
                </a:highlight>
                <a:latin typeface="Consolas" panose="020B0609020204030204" pitchFamily="49" charset="0"/>
              </a:rPr>
              <a:t>, </a:t>
            </a:r>
            <a:r>
              <a:rPr lang="en-GB" sz="1800" b="1" dirty="0">
                <a:solidFill>
                  <a:srgbClr val="A31515"/>
                </a:solidFill>
                <a:highlight>
                  <a:srgbClr val="FFFFFF"/>
                </a:highlight>
                <a:latin typeface="Consolas" panose="020B0609020204030204" pitchFamily="49" charset="0"/>
              </a:rPr>
              <a:t>"Bob"</a:t>
            </a:r>
            <a:r>
              <a:rPr lang="en-GB" sz="1800" b="1" dirty="0">
                <a:solidFill>
                  <a:srgbClr val="000000"/>
                </a:solidFill>
                <a:highlight>
                  <a:srgbClr val="FFFFFF"/>
                </a:highlight>
                <a:latin typeface="Consolas" panose="020B0609020204030204" pitchFamily="49" charset="0"/>
              </a:rPr>
              <a:t>,</a:t>
            </a:r>
          </a:p>
          <a:p>
            <a:r>
              <a:rPr lang="it-IT" sz="1800" b="1" dirty="0">
                <a:solidFill>
                  <a:srgbClr val="A31515"/>
                </a:solidFill>
                <a:highlight>
                  <a:srgbClr val="FFFFFF"/>
                </a:highlight>
                <a:latin typeface="Consolas" panose="020B0609020204030204" pitchFamily="49" charset="0"/>
              </a:rPr>
              <a:t>"Anna"</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"Freddie"</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"Donna"</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"Lenna"</a:t>
            </a:r>
            <a:r>
              <a:rPr lang="it-IT" sz="1800" b="1" dirty="0">
                <a:solidFill>
                  <a:srgbClr val="000000"/>
                </a:solidFill>
                <a:highlight>
                  <a:srgbClr val="FFFFFF"/>
                </a:highlight>
                <a:latin typeface="Consolas" panose="020B0609020204030204" pitchFamily="49" charset="0"/>
              </a:rPr>
              <a:t>, </a:t>
            </a:r>
            <a:r>
              <a:rPr lang="it-IT" sz="1800" b="1" dirty="0">
                <a:solidFill>
                  <a:srgbClr val="A31515"/>
                </a:solidFill>
                <a:highlight>
                  <a:srgbClr val="FFFFFF"/>
                </a:highlight>
                <a:latin typeface="Consolas" panose="020B0609020204030204" pitchFamily="49" charset="0"/>
              </a:rPr>
              <a:t>"David"</a:t>
            </a:r>
            <a:r>
              <a:rPr lang="it-IT" sz="1800" b="1" dirty="0">
                <a:solidFill>
                  <a:srgbClr val="000000"/>
                </a:solidFill>
                <a:highlight>
                  <a:srgbClr val="FFFFFF"/>
                </a:highlight>
                <a:latin typeface="Consolas" panose="020B0609020204030204" pitchFamily="49" charset="0"/>
              </a:rPr>
              <a:t> };</a:t>
            </a:r>
          </a:p>
          <a:p>
            <a:endParaRPr lang="en-GB" sz="1800" b="1" dirty="0">
              <a:solidFill>
                <a:srgbClr val="000000"/>
              </a:solidFill>
              <a:highlight>
                <a:srgbClr val="FFFFFF"/>
              </a:highlight>
              <a:latin typeface="Consolas" panose="020B0609020204030204" pitchFamily="49" charset="0"/>
            </a:endParaRPr>
          </a:p>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r>
              <a:rPr lang="en-GB" sz="1800" b="1" dirty="0">
                <a:solidFill>
                  <a:srgbClr val="0000FF"/>
                </a:solidFill>
                <a:highlight>
                  <a:srgbClr val="FFFFFF"/>
                </a:highlight>
                <a:latin typeface="Consolas" panose="020B0609020204030204" pitchFamily="49" charset="0"/>
              </a:rPr>
              <a:t>from</a:t>
            </a:r>
            <a:r>
              <a:rPr lang="en-GB" sz="1800" b="1" dirty="0">
                <a:solidFill>
                  <a:srgbClr val="000000"/>
                </a:solidFill>
                <a:highlight>
                  <a:srgbClr val="FFFFFF"/>
                </a:highlight>
                <a:latin typeface="Consolas" panose="020B0609020204030204" pitchFamily="49" charset="0"/>
              </a:rPr>
              <a:t> name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names</a:t>
            </a: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where</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name.Length</a:t>
            </a:r>
            <a:r>
              <a:rPr lang="en-GB" sz="1800" b="1" dirty="0">
                <a:solidFill>
                  <a:srgbClr val="000000"/>
                </a:solidFill>
                <a:highlight>
                  <a:srgbClr val="FFFFFF"/>
                </a:highlight>
                <a:latin typeface="Consolas" panose="020B0609020204030204" pitchFamily="49" charset="0"/>
              </a:rPr>
              <a:t> &gt; 4 &amp;&amp; </a:t>
            </a:r>
            <a:r>
              <a:rPr lang="en-GB" sz="1800" b="1" dirty="0" err="1">
                <a:solidFill>
                  <a:srgbClr val="000000"/>
                </a:solidFill>
                <a:highlight>
                  <a:srgbClr val="FFFFFF"/>
                </a:highlight>
                <a:latin typeface="Consolas" panose="020B0609020204030204" pitchFamily="49" charset="0"/>
              </a:rPr>
              <a:t>name.EndsWith</a:t>
            </a:r>
            <a:r>
              <a:rPr lang="en-GB" sz="1800" b="1" dirty="0">
                <a:solidFill>
                  <a:srgbClr val="000000"/>
                </a:solidFill>
                <a:highlight>
                  <a:srgbClr val="FFFFFF"/>
                </a:highlight>
                <a:latin typeface="Consolas" panose="020B0609020204030204" pitchFamily="49" charset="0"/>
              </a:rPr>
              <a:t>(</a:t>
            </a:r>
            <a:r>
              <a:rPr lang="en-GB" sz="1800" b="1" dirty="0">
                <a:solidFill>
                  <a:srgbClr val="A31515"/>
                </a:solidFill>
                <a:highlight>
                  <a:srgbClr val="FFFFFF"/>
                </a:highlight>
                <a:latin typeface="Consolas" panose="020B0609020204030204" pitchFamily="49" charset="0"/>
              </a:rPr>
              <a:t>"</a:t>
            </a:r>
            <a:r>
              <a:rPr lang="en-GB" sz="1800" b="1" dirty="0" err="1">
                <a:solidFill>
                  <a:srgbClr val="A31515"/>
                </a:solidFill>
                <a:highlight>
                  <a:srgbClr val="FFFFFF"/>
                </a:highlight>
                <a:latin typeface="Consolas" panose="020B0609020204030204" pitchFamily="49" charset="0"/>
              </a:rPr>
              <a:t>na</a:t>
            </a:r>
            <a:r>
              <a:rPr lang="en-GB" sz="1800" b="1" dirty="0">
                <a:solidFill>
                  <a:srgbClr val="A31515"/>
                </a:solidFill>
                <a:highlight>
                  <a:srgbClr val="FFFFFF"/>
                </a:highlight>
                <a:latin typeface="Consolas" panose="020B0609020204030204" pitchFamily="49" charset="0"/>
              </a:rPr>
              <a:t>"</a:t>
            </a:r>
            <a:r>
              <a:rPr lang="en-GB" sz="1800" b="1" dirty="0">
                <a:solidFill>
                  <a:srgbClr val="000000"/>
                </a:solidFill>
                <a:highlight>
                  <a:srgbClr val="FFFFFF"/>
                </a:highlight>
                <a:latin typeface="Consolas" panose="020B0609020204030204" pitchFamily="49" charset="0"/>
              </a:rPr>
              <a:t>)</a:t>
            </a: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select</a:t>
            </a:r>
            <a:r>
              <a:rPr lang="en-GB" sz="1800" b="1" dirty="0">
                <a:solidFill>
                  <a:srgbClr val="000000"/>
                </a:solidFill>
                <a:highlight>
                  <a:srgbClr val="FFFFFF"/>
                </a:highlight>
                <a:latin typeface="Consolas" panose="020B0609020204030204" pitchFamily="49" charset="0"/>
              </a:rPr>
              <a:t> name;</a:t>
            </a:r>
          </a:p>
          <a:p>
            <a:endParaRPr lang="en-GB" sz="1800" b="1" dirty="0">
              <a:solidFill>
                <a:srgbClr val="000000"/>
              </a:solidFill>
              <a:highlight>
                <a:srgbClr val="FFFFFF"/>
              </a:highlight>
              <a:latin typeface="Consolas" panose="020B0609020204030204" pitchFamily="49" charset="0"/>
            </a:endParaRPr>
          </a:p>
          <a:p>
            <a:r>
              <a:rPr lang="en-GB" sz="1800" b="1" dirty="0" err="1">
                <a:solidFill>
                  <a:srgbClr val="0000FF"/>
                </a:solidFill>
                <a:highlight>
                  <a:srgbClr val="FFFFFF"/>
                </a:highlight>
                <a:latin typeface="Consolas" panose="020B0609020204030204" pitchFamily="49" charset="0"/>
              </a:rPr>
              <a:t>foreach</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string</a:t>
            </a:r>
            <a:r>
              <a:rPr lang="en-GB" sz="1800" b="1" dirty="0">
                <a:solidFill>
                  <a:srgbClr val="000000"/>
                </a:solidFill>
                <a:highlight>
                  <a:srgbClr val="FFFFFF"/>
                </a:highlight>
                <a:latin typeface="Consolas" panose="020B0609020204030204" pitchFamily="49" charset="0"/>
              </a:rPr>
              <a:t> n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query) {</a:t>
            </a:r>
          </a:p>
          <a:p>
            <a:r>
              <a:rPr lang="en-GB" sz="1800" b="1" dirty="0">
                <a:solidFill>
                  <a:srgbClr val="000000"/>
                </a:solidFill>
                <a:highlight>
                  <a:srgbClr val="FFFFFF"/>
                </a:highlight>
                <a:latin typeface="Consolas" panose="020B0609020204030204" pitchFamily="49" charset="0"/>
              </a:rPr>
              <a:t>    </a:t>
            </a:r>
            <a:r>
              <a:rPr lang="en-GB" sz="1800" b="1" dirty="0" err="1">
                <a:solidFill>
                  <a:srgbClr val="2B91AF"/>
                </a:solidFill>
                <a:highlight>
                  <a:srgbClr val="FFFFFF"/>
                </a:highlight>
                <a:latin typeface="Consolas" panose="020B0609020204030204" pitchFamily="49" charset="0"/>
              </a:rPr>
              <a:t>Console</a:t>
            </a:r>
            <a:r>
              <a:rPr lang="en-GB" sz="1800" b="1" dirty="0" err="1">
                <a:solidFill>
                  <a:srgbClr val="000000"/>
                </a:solidFill>
                <a:highlight>
                  <a:srgbClr val="FFFFFF"/>
                </a:highlight>
                <a:latin typeface="Consolas" panose="020B0609020204030204" pitchFamily="49" charset="0"/>
              </a:rPr>
              <a:t>.WriteLine</a:t>
            </a:r>
            <a:r>
              <a:rPr lang="en-GB" sz="1800" b="1" dirty="0">
                <a:solidFill>
                  <a:srgbClr val="000000"/>
                </a:solidFill>
                <a:highlight>
                  <a:srgbClr val="FFFFFF"/>
                </a:highlight>
                <a:latin typeface="Consolas" panose="020B0609020204030204" pitchFamily="49" charset="0"/>
              </a:rPr>
              <a:t>(n);</a:t>
            </a:r>
          </a:p>
          <a:p>
            <a:r>
              <a:rPr lang="en-GB" sz="1800" b="1" dirty="0">
                <a:solidFill>
                  <a:srgbClr val="000000"/>
                </a:solidFill>
                <a:highlight>
                  <a:srgbClr val="FFFFFF"/>
                </a:highlight>
                <a:latin typeface="Consolas" panose="020B0609020204030204" pitchFamily="49" charset="0"/>
              </a:rPr>
              <a:t>}</a:t>
            </a:r>
          </a:p>
        </p:txBody>
      </p:sp>
      <p:pic>
        <p:nvPicPr>
          <p:cNvPr id="5" name="Picture 4"/>
          <p:cNvPicPr>
            <a:picLocks noChangeAspect="1"/>
          </p:cNvPicPr>
          <p:nvPr/>
        </p:nvPicPr>
        <p:blipFill>
          <a:blip r:embed="rId2"/>
          <a:stretch>
            <a:fillRect/>
          </a:stretch>
        </p:blipFill>
        <p:spPr>
          <a:xfrm>
            <a:off x="4833944" y="4558075"/>
            <a:ext cx="4116630" cy="1611492"/>
          </a:xfrm>
          <a:prstGeom prst="rect">
            <a:avLst/>
          </a:prstGeom>
          <a:ln>
            <a:noFill/>
          </a:ln>
          <a:effectLst>
            <a:outerShdw blurRad="292100" dist="139700" dir="2700000" algn="tl" rotWithShape="0">
              <a:srgbClr val="333333">
                <a:alpha val="65000"/>
              </a:srgbClr>
            </a:outerShdw>
          </a:effectLst>
        </p:spPr>
      </p:pic>
      <p:sp>
        <p:nvSpPr>
          <p:cNvPr id="6" name="Rectangle 5"/>
          <p:cNvSpPr/>
          <p:nvPr/>
        </p:nvSpPr>
        <p:spPr>
          <a:xfrm>
            <a:off x="110537" y="4183159"/>
            <a:ext cx="8984481"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a:t>
            </a:r>
            <a:r>
              <a:rPr lang="en-GB" sz="1800" dirty="0">
                <a:solidFill>
                  <a:srgbClr val="000000"/>
                </a:solidFill>
                <a:highlight>
                  <a:srgbClr val="FFFFFF"/>
                </a:highlight>
                <a:latin typeface="Consolas" panose="020B0609020204030204" pitchFamily="49" charset="0"/>
              </a:rPr>
              <a:t/>
            </a:r>
            <a:br>
              <a:rPr lang="en-GB" sz="1800" dirty="0">
                <a:solidFill>
                  <a:srgbClr val="000000"/>
                </a:solidFill>
                <a:highlight>
                  <a:srgbClr val="FFFFFF"/>
                </a:highlight>
                <a:latin typeface="Consolas" panose="020B0609020204030204" pitchFamily="49" charset="0"/>
              </a:rPr>
            </a:br>
            <a:r>
              <a:rPr lang="en-GB" sz="1800" dirty="0">
                <a:solidFill>
                  <a:srgbClr val="000000"/>
                </a:solidFill>
                <a:highlight>
                  <a:srgbClr val="FFFFFF"/>
                </a:highlight>
                <a:latin typeface="Consolas" panose="020B0609020204030204" pitchFamily="49" charset="0"/>
              </a:rPr>
              <a:t>	</a:t>
            </a:r>
            <a:r>
              <a:rPr lang="en-GB" sz="1800" dirty="0" err="1">
                <a:solidFill>
                  <a:srgbClr val="000000"/>
                </a:solidFill>
                <a:highlight>
                  <a:srgbClr val="FFFFFF"/>
                </a:highlight>
                <a:latin typeface="Consolas" panose="020B0609020204030204" pitchFamily="49" charset="0"/>
              </a:rPr>
              <a:t>names.Where</a:t>
            </a:r>
            <a:r>
              <a:rPr lang="en-GB" sz="1800" dirty="0">
                <a:solidFill>
                  <a:srgbClr val="000000"/>
                </a:solidFill>
                <a:highlight>
                  <a:srgbClr val="FFFFFF"/>
                </a:highlight>
                <a:latin typeface="Consolas" panose="020B0609020204030204" pitchFamily="49" charset="0"/>
              </a:rPr>
              <a:t>(name=&gt; </a:t>
            </a:r>
            <a:r>
              <a:rPr lang="en-GB" sz="1800" dirty="0" err="1">
                <a:solidFill>
                  <a:srgbClr val="000000"/>
                </a:solidFill>
                <a:highlight>
                  <a:srgbClr val="FFFFFF"/>
                </a:highlight>
                <a:latin typeface="Consolas" panose="020B0609020204030204" pitchFamily="49" charset="0"/>
              </a:rPr>
              <a:t>name.Length</a:t>
            </a:r>
            <a:r>
              <a:rPr lang="en-GB" sz="1800" dirty="0">
                <a:solidFill>
                  <a:srgbClr val="000000"/>
                </a:solidFill>
                <a:highlight>
                  <a:srgbClr val="FFFFFF"/>
                </a:highlight>
                <a:latin typeface="Consolas" panose="020B0609020204030204" pitchFamily="49" charset="0"/>
              </a:rPr>
              <a:t> &gt; 4 &amp;&amp; </a:t>
            </a:r>
            <a:r>
              <a:rPr lang="en-GB" sz="1800" dirty="0" err="1">
                <a:solidFill>
                  <a:srgbClr val="000000"/>
                </a:solidFill>
                <a:highlight>
                  <a:srgbClr val="FFFFFF"/>
                </a:highlight>
                <a:latin typeface="Consolas" panose="020B0609020204030204" pitchFamily="49" charset="0"/>
              </a:rPr>
              <a:t>name.EndsWith</a:t>
            </a:r>
            <a:r>
              <a:rPr lang="en-GB" sz="1800" dirty="0">
                <a:solidFill>
                  <a:srgbClr val="000000"/>
                </a:solidFill>
                <a:highlight>
                  <a:srgbClr val="FFFFFF"/>
                </a:highlight>
                <a:latin typeface="Consolas" panose="020B0609020204030204" pitchFamily="49" charset="0"/>
              </a:rPr>
              <a:t>(</a:t>
            </a:r>
            <a:r>
              <a:rPr lang="en-GB" sz="1800" dirty="0">
                <a:solidFill>
                  <a:srgbClr val="A31515"/>
                </a:solidFill>
                <a:highlight>
                  <a:srgbClr val="FFFFFF"/>
                </a:highlight>
                <a:latin typeface="Consolas" panose="020B0609020204030204" pitchFamily="49" charset="0"/>
              </a:rPr>
              <a:t>"</a:t>
            </a:r>
            <a:r>
              <a:rPr lang="en-GB" sz="1800" dirty="0" err="1">
                <a:solidFill>
                  <a:srgbClr val="A31515"/>
                </a:solidFill>
                <a:highlight>
                  <a:srgbClr val="FFFFFF"/>
                </a:highlight>
                <a:latin typeface="Consolas" panose="020B0609020204030204" pitchFamily="49" charset="0"/>
              </a:rPr>
              <a:t>na</a:t>
            </a:r>
            <a:r>
              <a:rPr lang="en-GB" sz="1800" dirty="0">
                <a:solidFill>
                  <a:srgbClr val="A31515"/>
                </a:solidFill>
                <a:highlight>
                  <a:srgbClr val="FFFFFF"/>
                </a:highlight>
                <a:latin typeface="Consolas" panose="020B0609020204030204" pitchFamily="49" charset="0"/>
              </a:rPr>
              <a:t>"</a:t>
            </a:r>
            <a:r>
              <a:rPr lang="en-GB" sz="1800" dirty="0">
                <a:solidFill>
                  <a:srgbClr val="000000"/>
                </a:solidFill>
                <a:highlight>
                  <a:srgbClr val="FFFFFF"/>
                </a:highlight>
                <a:latin typeface="Consolas" panose="020B0609020204030204" pitchFamily="49" charset="0"/>
              </a:rPr>
              <a:t>)); </a:t>
            </a:r>
          </a:p>
          <a:p>
            <a:endParaRPr lang="en-GB" sz="1800" dirty="0">
              <a:solidFill>
                <a:srgbClr val="000000"/>
              </a:solidFill>
              <a:highlight>
                <a:srgbClr val="FFFFFF"/>
              </a:highlight>
              <a:latin typeface="Consolas" panose="020B0609020204030204" pitchFamily="49" charset="0"/>
            </a:endParaRPr>
          </a:p>
          <a:p>
            <a:endParaRPr lang="en-GB" sz="1800" dirty="0">
              <a:solidFill>
                <a:srgbClr val="000000"/>
              </a:solidFill>
              <a:highlight>
                <a:srgbClr val="FFFFFF"/>
              </a:highlight>
              <a:latin typeface="Consolas" panose="020B0609020204030204" pitchFamily="49" charset="0"/>
            </a:endParaRPr>
          </a:p>
          <a:p>
            <a:endParaRPr lang="en-GB" sz="1800" dirty="0">
              <a:solidFill>
                <a:srgbClr val="000000"/>
              </a:solidFill>
              <a:highlight>
                <a:srgbClr val="FFFFFF"/>
              </a:highlight>
              <a:latin typeface="Consolas" panose="020B0609020204030204" pitchFamily="49" charset="0"/>
            </a:endParaRPr>
          </a:p>
          <a:p>
            <a:endParaRPr lang="en-GB" sz="18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256060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Ordering the result –  </a:t>
            </a:r>
            <a:r>
              <a:rPr lang="en-GB" dirty="0" err="1"/>
              <a:t>orderby</a:t>
            </a:r>
            <a:endParaRPr lang="en-GB" dirty="0"/>
          </a:p>
        </p:txBody>
      </p:sp>
      <p:sp>
        <p:nvSpPr>
          <p:cNvPr id="4" name="Rectangle 3"/>
          <p:cNvSpPr/>
          <p:nvPr/>
        </p:nvSpPr>
        <p:spPr>
          <a:xfrm>
            <a:off x="457202" y="1015065"/>
            <a:ext cx="6188527" cy="483209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2B91AF"/>
                </a:solidFill>
                <a:highlight>
                  <a:srgbClr val="FFFFFF"/>
                </a:highlight>
                <a:latin typeface="Consolas" panose="020B0609020204030204" pitchFamily="49" charset="0"/>
              </a:rPr>
              <a:t>List</a:t>
            </a:r>
            <a:r>
              <a:rPr lang="en-GB" sz="1600" b="1" dirty="0">
                <a:solidFill>
                  <a:srgbClr val="000000"/>
                </a:solidFill>
                <a:highlight>
                  <a:srgbClr val="FFFFFF"/>
                </a:highlight>
                <a:latin typeface="Consolas" panose="020B0609020204030204" pitchFamily="49" charset="0"/>
              </a:rPr>
              <a:t>&lt;</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&gt; students =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List</a:t>
            </a:r>
            <a:r>
              <a:rPr lang="en-GB" sz="1600" b="1" dirty="0">
                <a:solidFill>
                  <a:srgbClr val="000000"/>
                </a:solidFill>
                <a:highlight>
                  <a:srgbClr val="FFFFFF"/>
                </a:highlight>
                <a:latin typeface="Consolas" panose="020B0609020204030204" pitchFamily="49" charset="0"/>
              </a:rPr>
              <a:t>&lt;</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&gt; {</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{Age=18,Name=</a:t>
            </a:r>
            <a:r>
              <a:rPr lang="en-GB" sz="1600" b="1" dirty="0">
                <a:solidFill>
                  <a:srgbClr val="A31515"/>
                </a:solidFill>
                <a:highlight>
                  <a:srgbClr val="FFFFFF"/>
                </a:highlight>
                <a:latin typeface="Consolas" panose="020B0609020204030204" pitchFamily="49" charset="0"/>
              </a:rPr>
              <a:t>"Sam"</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{Age=20,Name=</a:t>
            </a:r>
            <a:r>
              <a:rPr lang="en-GB" sz="1600" b="1" dirty="0">
                <a:solidFill>
                  <a:srgbClr val="A31515"/>
                </a:solidFill>
                <a:highlight>
                  <a:srgbClr val="FFFFFF"/>
                </a:highlight>
                <a:latin typeface="Consolas" panose="020B0609020204030204" pitchFamily="49" charset="0"/>
              </a:rPr>
              <a:t>"Mike"</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 {Age=19,Name=</a:t>
            </a:r>
            <a:r>
              <a:rPr lang="en-GB" sz="1600" b="1" dirty="0">
                <a:solidFill>
                  <a:srgbClr val="A31515"/>
                </a:solidFill>
                <a:highlight>
                  <a:srgbClr val="FFFFFF"/>
                </a:highlight>
                <a:latin typeface="Consolas" panose="020B0609020204030204" pitchFamily="49" charset="0"/>
              </a:rPr>
              <a:t>"Bob"</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new</a:t>
            </a:r>
            <a:r>
              <a:rPr lang="en-GB" sz="1600" b="1" dirty="0">
                <a:solidFill>
                  <a:srgbClr val="000000"/>
                </a:solidFill>
                <a:highlight>
                  <a:srgbClr val="FFFFFF"/>
                </a:highlight>
                <a:latin typeface="Consolas" panose="020B0609020204030204" pitchFamily="49" charset="0"/>
              </a:rPr>
              <a:t> </a:t>
            </a:r>
            <a:r>
              <a:rPr lang="en-GB" sz="1600" b="1" dirty="0">
                <a:solidFill>
                  <a:srgbClr val="2B91AF"/>
                </a:solidFill>
                <a:highlight>
                  <a:srgbClr val="FFFFFF"/>
                </a:highlight>
                <a:latin typeface="Consolas" panose="020B0609020204030204" pitchFamily="49" charset="0"/>
              </a:rPr>
              <a:t>Student</a:t>
            </a:r>
            <a:r>
              <a:rPr lang="en-GB" sz="1600" b="1" dirty="0">
                <a:solidFill>
                  <a:srgbClr val="000000"/>
                </a:solidFill>
                <a:highlight>
                  <a:srgbClr val="FFFFFF"/>
                </a:highlight>
                <a:latin typeface="Consolas" panose="020B0609020204030204" pitchFamily="49" charset="0"/>
              </a:rPr>
              <a:t>(){Age=21,Name=</a:t>
            </a:r>
            <a:r>
              <a:rPr lang="en-GB" sz="1600" b="1" dirty="0">
                <a:solidFill>
                  <a:srgbClr val="A31515"/>
                </a:solidFill>
                <a:highlight>
                  <a:srgbClr val="FFFFFF"/>
                </a:highlight>
                <a:latin typeface="Consolas" panose="020B0609020204030204" pitchFamily="49" charset="0"/>
              </a:rPr>
              <a:t>"Jonathan"</a:t>
            </a:r>
            <a:r>
              <a:rPr lang="en-GB" sz="1600" b="1" dirty="0">
                <a:solidFill>
                  <a:srgbClr val="000000"/>
                </a:solidFill>
                <a:highlight>
                  <a:srgbClr val="FFFFFF"/>
                </a:highlight>
                <a:latin typeface="Consolas" panose="020B0609020204030204" pitchFamily="49" charset="0"/>
              </a:rPr>
              <a:t>}</a:t>
            </a:r>
            <a:br>
              <a:rPr lang="en-GB" sz="1600" b="1" dirty="0">
                <a:solidFill>
                  <a:srgbClr val="000000"/>
                </a:solidFill>
                <a:highlight>
                  <a:srgbClr val="FFFFFF"/>
                </a:highlight>
                <a:latin typeface="Consolas" panose="020B0609020204030204" pitchFamily="49" charset="0"/>
              </a:rPr>
            </a:br>
            <a:r>
              <a:rPr lang="en-GB" sz="1600" b="1" dirty="0">
                <a:solidFill>
                  <a:srgbClr val="000000"/>
                </a:solidFill>
                <a:highlight>
                  <a:srgbClr val="FFFFFF"/>
                </a:highlight>
                <a:latin typeface="Consolas" panose="020B0609020204030204" pitchFamily="49" charset="0"/>
              </a:rPr>
              <a:t>};</a:t>
            </a:r>
          </a:p>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 </a:t>
            </a:r>
            <a:r>
              <a:rPr lang="en-GB" sz="1800" b="1" dirty="0">
                <a:solidFill>
                  <a:srgbClr val="0000FF"/>
                </a:solidFill>
                <a:highlight>
                  <a:srgbClr val="FFFFFF"/>
                </a:highlight>
                <a:latin typeface="Consolas" panose="020B0609020204030204" pitchFamily="49" charset="0"/>
              </a:rPr>
              <a:t>from</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in</a:t>
            </a:r>
            <a:r>
              <a:rPr lang="en-GB" sz="1800" b="1" dirty="0">
                <a:solidFill>
                  <a:srgbClr val="000000"/>
                </a:solidFill>
                <a:highlight>
                  <a:srgbClr val="FFFFFF"/>
                </a:highlight>
                <a:latin typeface="Consolas" panose="020B0609020204030204" pitchFamily="49" charset="0"/>
              </a:rPr>
              <a:t> students</a:t>
            </a: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where</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stu.Age</a:t>
            </a:r>
            <a:r>
              <a:rPr lang="en-GB" sz="1800" b="1" dirty="0">
                <a:solidFill>
                  <a:srgbClr val="000000"/>
                </a:solidFill>
                <a:highlight>
                  <a:srgbClr val="FFFFFF"/>
                </a:highlight>
                <a:latin typeface="Consolas" panose="020B0609020204030204" pitchFamily="49" charset="0"/>
              </a:rPr>
              <a:t> &gt; 17</a:t>
            </a:r>
          </a:p>
          <a:p>
            <a:r>
              <a:rPr lang="en-GB" sz="1800" b="1" dirty="0">
                <a:solidFill>
                  <a:srgbClr val="000000"/>
                </a:solidFill>
                <a:highlight>
                  <a:srgbClr val="FFFFFF"/>
                </a:highlight>
                <a:latin typeface="Consolas" panose="020B0609020204030204" pitchFamily="49" charset="0"/>
              </a:rPr>
              <a:t>            </a:t>
            </a:r>
            <a:r>
              <a:rPr lang="en-GB" sz="1800" b="1" dirty="0" err="1">
                <a:solidFill>
                  <a:srgbClr val="0000FF"/>
                </a:solidFill>
                <a:highlight>
                  <a:srgbClr val="FFFFFF"/>
                </a:highlight>
                <a:latin typeface="Consolas" panose="020B0609020204030204" pitchFamily="49" charset="0"/>
              </a:rPr>
              <a:t>orderby</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stu.Name</a:t>
            </a:r>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ascending</a:t>
            </a:r>
            <a:endParaRPr lang="en-GB" sz="1800" b="1" dirty="0">
              <a:solidFill>
                <a:srgbClr val="000000"/>
              </a:solidFill>
              <a:highlight>
                <a:srgbClr val="FFFFFF"/>
              </a:highlight>
              <a:latin typeface="Consolas" panose="020B0609020204030204" pitchFamily="49" charset="0"/>
            </a:endParaRPr>
          </a:p>
          <a:p>
            <a:r>
              <a:rPr lang="en-GB" sz="1800" b="1" dirty="0">
                <a:solidFill>
                  <a:srgbClr val="000000"/>
                </a:solidFill>
                <a:highlight>
                  <a:srgbClr val="FFFFFF"/>
                </a:highlight>
                <a:latin typeface="Consolas" panose="020B0609020204030204" pitchFamily="49" charset="0"/>
              </a:rPr>
              <a:t>            </a:t>
            </a:r>
            <a:r>
              <a:rPr lang="en-GB" sz="1800" b="1" dirty="0">
                <a:solidFill>
                  <a:srgbClr val="0000FF"/>
                </a:solidFill>
                <a:highlight>
                  <a:srgbClr val="FFFFFF"/>
                </a:highlight>
                <a:latin typeface="Consolas" panose="020B0609020204030204" pitchFamily="49" charset="0"/>
              </a:rPr>
              <a:t>select</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stu.Name</a:t>
            </a:r>
            <a:r>
              <a:rPr lang="en-GB" sz="1800" b="1" dirty="0">
                <a:solidFill>
                  <a:srgbClr val="000000"/>
                </a:solidFill>
                <a:highlight>
                  <a:srgbClr val="FFFFFF"/>
                </a:highlight>
                <a:latin typeface="Consolas" panose="020B0609020204030204" pitchFamily="49" charset="0"/>
              </a:rPr>
              <a:t>;</a:t>
            </a:r>
          </a:p>
          <a:p>
            <a:endParaRPr lang="en-GB" sz="1600" b="1" dirty="0">
              <a:solidFill>
                <a:srgbClr val="000000"/>
              </a:solidFill>
              <a:highlight>
                <a:srgbClr val="FFFFFF"/>
              </a:highlight>
              <a:latin typeface="Consolas" panose="020B0609020204030204" pitchFamily="49" charset="0"/>
            </a:endParaRPr>
          </a:p>
          <a:p>
            <a:r>
              <a:rPr lang="en-GB" sz="1600" b="1" dirty="0" err="1">
                <a:solidFill>
                  <a:srgbClr val="0000FF"/>
                </a:solidFill>
                <a:highlight>
                  <a:srgbClr val="FFFFFF"/>
                </a:highlight>
                <a:latin typeface="Consolas" panose="020B0609020204030204" pitchFamily="49" charset="0"/>
              </a:rPr>
              <a:t>foreach</a:t>
            </a: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string</a:t>
            </a:r>
            <a:r>
              <a:rPr lang="en-GB" sz="1600" b="1" dirty="0">
                <a:solidFill>
                  <a:srgbClr val="000000"/>
                </a:solidFill>
                <a:highlight>
                  <a:srgbClr val="FFFFFF"/>
                </a:highlight>
                <a:latin typeface="Consolas" panose="020B0609020204030204" pitchFamily="49" charset="0"/>
              </a:rPr>
              <a:t> name </a:t>
            </a:r>
            <a:r>
              <a:rPr lang="en-GB" sz="1600" b="1" dirty="0">
                <a:solidFill>
                  <a:srgbClr val="0000FF"/>
                </a:solidFill>
                <a:highlight>
                  <a:srgbClr val="FFFFFF"/>
                </a:highlight>
                <a:latin typeface="Consolas" panose="020B0609020204030204" pitchFamily="49" charset="0"/>
              </a:rPr>
              <a:t>in</a:t>
            </a:r>
            <a:r>
              <a:rPr lang="en-GB" sz="1600" b="1" dirty="0">
                <a:solidFill>
                  <a:srgbClr val="000000"/>
                </a:solidFill>
                <a:highlight>
                  <a:srgbClr val="FFFFFF"/>
                </a:highlight>
                <a:latin typeface="Consolas" panose="020B0609020204030204" pitchFamily="49" charset="0"/>
              </a:rPr>
              <a:t> query) {</a:t>
            </a:r>
          </a:p>
          <a:p>
            <a:r>
              <a:rPr lang="en-GB" sz="1600" b="1" dirty="0">
                <a:solidFill>
                  <a:srgbClr val="000000"/>
                </a:solidFill>
                <a:highlight>
                  <a:srgbClr val="FFFFFF"/>
                </a:highlight>
                <a:latin typeface="Consolas" panose="020B0609020204030204" pitchFamily="49" charset="0"/>
              </a:rPr>
              <a:t>    </a:t>
            </a:r>
            <a:r>
              <a:rPr lang="en-GB" sz="1600" b="1" dirty="0" err="1">
                <a:solidFill>
                  <a:srgbClr val="2B91AF"/>
                </a:solidFill>
                <a:highlight>
                  <a:srgbClr val="FFFFFF"/>
                </a:highlight>
                <a:latin typeface="Consolas" panose="020B0609020204030204" pitchFamily="49" charset="0"/>
              </a:rPr>
              <a:t>Console</a:t>
            </a:r>
            <a:r>
              <a:rPr lang="en-GB" sz="1600" b="1" dirty="0" err="1">
                <a:solidFill>
                  <a:srgbClr val="000000"/>
                </a:solidFill>
                <a:highlight>
                  <a:srgbClr val="FFFFFF"/>
                </a:highlight>
                <a:latin typeface="Consolas" panose="020B0609020204030204" pitchFamily="49" charset="0"/>
              </a:rPr>
              <a:t>.WriteLine</a:t>
            </a:r>
            <a:r>
              <a:rPr lang="en-GB" sz="1600" b="1" dirty="0">
                <a:solidFill>
                  <a:srgbClr val="000000"/>
                </a:solidFill>
                <a:highlight>
                  <a:srgbClr val="FFFFFF"/>
                </a:highlight>
                <a:latin typeface="Consolas" panose="020B0609020204030204" pitchFamily="49" charset="0"/>
              </a:rPr>
              <a:t>(name);</a:t>
            </a:r>
          </a:p>
          <a:p>
            <a:r>
              <a:rPr lang="en-GB" sz="1600" b="1" dirty="0">
                <a:solidFill>
                  <a:srgbClr val="000000"/>
                </a:solidFill>
                <a:highlight>
                  <a:srgbClr val="FFFFFF"/>
                </a:highlight>
                <a:latin typeface="Consolas" panose="020B0609020204030204" pitchFamily="49" charset="0"/>
              </a:rPr>
              <a:t>} </a:t>
            </a:r>
          </a:p>
        </p:txBody>
      </p:sp>
      <p:pic>
        <p:nvPicPr>
          <p:cNvPr id="5" name="Picture 4"/>
          <p:cNvPicPr>
            <a:picLocks noChangeAspect="1"/>
          </p:cNvPicPr>
          <p:nvPr/>
        </p:nvPicPr>
        <p:blipFill>
          <a:blip r:embed="rId3"/>
          <a:stretch>
            <a:fillRect/>
          </a:stretch>
        </p:blipFill>
        <p:spPr>
          <a:xfrm>
            <a:off x="6154613" y="4320063"/>
            <a:ext cx="2057402" cy="1814514"/>
          </a:xfrm>
          <a:prstGeom prst="rect">
            <a:avLst/>
          </a:prstGeom>
          <a:ln>
            <a:noFill/>
          </a:ln>
          <a:effectLst>
            <a:outerShdw blurRad="292100" dist="139700" dir="2700000" algn="tl" rotWithShape="0">
              <a:srgbClr val="333333">
                <a:alpha val="65000"/>
              </a:srgbClr>
            </a:outerShdw>
          </a:effectLst>
        </p:spPr>
      </p:pic>
      <p:cxnSp>
        <p:nvCxnSpPr>
          <p:cNvPr id="7" name="Straight Arrow Connector 6"/>
          <p:cNvCxnSpPr/>
          <p:nvPr/>
        </p:nvCxnSpPr>
        <p:spPr>
          <a:xfrm flipH="1">
            <a:off x="2311827" y="4163786"/>
            <a:ext cx="1239638" cy="458123"/>
          </a:xfrm>
          <a:prstGeom prst="straightConnector1">
            <a:avLst/>
          </a:prstGeom>
          <a:ln w="38100">
            <a:solidFill>
              <a:srgbClr val="C8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59194" y="4326381"/>
            <a:ext cx="9001156"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err="1">
                <a:solidFill>
                  <a:srgbClr val="0000FF"/>
                </a:solidFill>
                <a:highlight>
                  <a:srgbClr val="FFFFFF"/>
                </a:highlight>
                <a:latin typeface="Consolas" panose="020B0609020204030204" pitchFamily="49" charset="0"/>
              </a:rPr>
              <a:t>var</a:t>
            </a:r>
            <a:r>
              <a:rPr lang="en-GB" sz="1800" b="1" dirty="0">
                <a:solidFill>
                  <a:srgbClr val="000000"/>
                </a:solidFill>
                <a:highlight>
                  <a:srgbClr val="FFFFFF"/>
                </a:highlight>
                <a:latin typeface="Consolas" panose="020B0609020204030204" pitchFamily="49" charset="0"/>
              </a:rPr>
              <a:t> query =</a:t>
            </a:r>
            <a:r>
              <a:rPr lang="en-GB" sz="1800" dirty="0">
                <a:solidFill>
                  <a:srgbClr val="000000"/>
                </a:solidFill>
                <a:highlight>
                  <a:srgbClr val="FFFFFF"/>
                </a:highlight>
                <a:latin typeface="Consolas" panose="020B0609020204030204" pitchFamily="49" charset="0"/>
              </a:rPr>
              <a:t>  </a:t>
            </a:r>
          </a:p>
          <a:p>
            <a:r>
              <a:rPr lang="en-GB" sz="1800" dirty="0">
                <a:solidFill>
                  <a:srgbClr val="000000"/>
                </a:solidFill>
                <a:highlight>
                  <a:srgbClr val="FFFFFF"/>
                </a:highlight>
                <a:latin typeface="Consolas" panose="020B0609020204030204" pitchFamily="49" charset="0"/>
              </a:rPr>
              <a:t>	</a:t>
            </a:r>
            <a:r>
              <a:rPr lang="en-GB" sz="1800" dirty="0" err="1">
                <a:solidFill>
                  <a:srgbClr val="000000"/>
                </a:solidFill>
                <a:highlight>
                  <a:srgbClr val="FFFFFF"/>
                </a:highlight>
                <a:latin typeface="Consolas" panose="020B0609020204030204" pitchFamily="49" charset="0"/>
              </a:rPr>
              <a:t>students.Where</a:t>
            </a:r>
            <a:r>
              <a:rPr lang="en-GB" sz="1800" dirty="0">
                <a:solidFill>
                  <a:srgbClr val="000000"/>
                </a:solidFill>
                <a:highlight>
                  <a:srgbClr val="FFFFFF"/>
                </a:highlight>
                <a:latin typeface="Consolas" panose="020B0609020204030204" pitchFamily="49" charset="0"/>
              </a:rPr>
              <a:t>(</a:t>
            </a:r>
            <a:r>
              <a:rPr lang="en-GB" sz="1800" dirty="0" err="1">
                <a:solidFill>
                  <a:srgbClr val="000000"/>
                </a:solidFill>
                <a:highlight>
                  <a:srgbClr val="FFFFFF"/>
                </a:highlight>
                <a:latin typeface="Consolas" panose="020B0609020204030204" pitchFamily="49" charset="0"/>
              </a:rPr>
              <a:t>stu</a:t>
            </a:r>
            <a:r>
              <a:rPr lang="en-GB" sz="1800" dirty="0">
                <a:solidFill>
                  <a:srgbClr val="000000"/>
                </a:solidFill>
                <a:highlight>
                  <a:srgbClr val="FFFFFF"/>
                </a:highlight>
                <a:latin typeface="Consolas" panose="020B0609020204030204" pitchFamily="49" charset="0"/>
              </a:rPr>
              <a:t> =&gt; </a:t>
            </a:r>
            <a:r>
              <a:rPr lang="en-GB" sz="1800" dirty="0" err="1">
                <a:solidFill>
                  <a:srgbClr val="000000"/>
                </a:solidFill>
                <a:highlight>
                  <a:srgbClr val="FFFFFF"/>
                </a:highlight>
                <a:latin typeface="Consolas" panose="020B0609020204030204" pitchFamily="49" charset="0"/>
              </a:rPr>
              <a:t>stu.Age</a:t>
            </a:r>
            <a:r>
              <a:rPr lang="en-GB" sz="1800" dirty="0">
                <a:solidFill>
                  <a:srgbClr val="000000"/>
                </a:solidFill>
                <a:highlight>
                  <a:srgbClr val="FFFFFF"/>
                </a:highlight>
                <a:latin typeface="Consolas" panose="020B0609020204030204" pitchFamily="49" charset="0"/>
              </a:rPr>
              <a:t> &gt; 17).</a:t>
            </a:r>
            <a:r>
              <a:rPr lang="en-GB" sz="1800" b="1" dirty="0" err="1">
                <a:solidFill>
                  <a:srgbClr val="0000FF"/>
                </a:solidFill>
                <a:highlight>
                  <a:srgbClr val="FFFFFF"/>
                </a:highlight>
                <a:latin typeface="Consolas" panose="020B0609020204030204" pitchFamily="49" charset="0"/>
              </a:rPr>
              <a:t>OrderBy</a:t>
            </a:r>
            <a:r>
              <a:rPr lang="en-GB" sz="1800" dirty="0">
                <a:solidFill>
                  <a:srgbClr val="000000"/>
                </a:solidFill>
                <a:highlight>
                  <a:srgbClr val="FFFFFF"/>
                </a:highlight>
                <a:latin typeface="Consolas" panose="020B0609020204030204" pitchFamily="49" charset="0"/>
              </a:rPr>
              <a:t>(</a:t>
            </a:r>
            <a:r>
              <a:rPr lang="en-GB" sz="1800" dirty="0" err="1">
                <a:solidFill>
                  <a:srgbClr val="000000"/>
                </a:solidFill>
                <a:highlight>
                  <a:srgbClr val="FFFFFF"/>
                </a:highlight>
                <a:latin typeface="Consolas" panose="020B0609020204030204" pitchFamily="49" charset="0"/>
              </a:rPr>
              <a:t>stu</a:t>
            </a:r>
            <a:r>
              <a:rPr lang="en-GB" sz="1800" dirty="0">
                <a:solidFill>
                  <a:srgbClr val="000000"/>
                </a:solidFill>
                <a:highlight>
                  <a:srgbClr val="FFFFFF"/>
                </a:highlight>
                <a:latin typeface="Consolas" panose="020B0609020204030204" pitchFamily="49" charset="0"/>
              </a:rPr>
              <a:t> =&gt; </a:t>
            </a:r>
            <a:r>
              <a:rPr lang="en-GB" sz="1800" dirty="0" err="1">
                <a:solidFill>
                  <a:srgbClr val="000000"/>
                </a:solidFill>
                <a:highlight>
                  <a:srgbClr val="FFFFFF"/>
                </a:highlight>
                <a:latin typeface="Consolas" panose="020B0609020204030204" pitchFamily="49" charset="0"/>
              </a:rPr>
              <a:t>stu.Name</a:t>
            </a:r>
            <a:r>
              <a:rPr lang="en-GB" sz="1800" dirty="0">
                <a:solidFill>
                  <a:srgbClr val="000000"/>
                </a:solidFill>
                <a:highlight>
                  <a:srgbClr val="FFFFFF"/>
                </a:highlight>
                <a:latin typeface="Consolas" panose="020B0609020204030204" pitchFamily="49" charset="0"/>
              </a:rPr>
              <a:t>);</a:t>
            </a:r>
          </a:p>
          <a:p>
            <a:endParaRPr lang="en-GB" sz="1800" dirty="0">
              <a:solidFill>
                <a:srgbClr val="000000"/>
              </a:solidFill>
              <a:highlight>
                <a:srgbClr val="FFFFFF"/>
              </a:highlight>
              <a:latin typeface="Consolas" panose="020B0609020204030204" pitchFamily="49" charset="0"/>
            </a:endParaRPr>
          </a:p>
          <a:p>
            <a:endParaRPr lang="en-GB" sz="1800" dirty="0">
              <a:solidFill>
                <a:srgbClr val="000000"/>
              </a:solidFill>
              <a:highlight>
                <a:srgbClr val="FFFFFF"/>
              </a:highlight>
              <a:latin typeface="Consolas" panose="020B0609020204030204" pitchFamily="49" charset="0"/>
            </a:endParaRPr>
          </a:p>
          <a:p>
            <a:endParaRPr lang="en-GB" sz="18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120633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5"/>
          <p:cNvSpPr>
            <a:spLocks noGrp="1" noChangeArrowheads="1"/>
          </p:cNvSpPr>
          <p:nvPr>
            <p:ph type="title"/>
          </p:nvPr>
        </p:nvSpPr>
        <p:spPr/>
        <p:txBody>
          <a:bodyPr/>
          <a:lstStyle/>
          <a:p>
            <a:pPr eaLnBrk="1" hangingPunct="1"/>
            <a:r>
              <a:rPr lang="en-GB"/>
              <a:t>LINQ – Aggregation Operators</a:t>
            </a:r>
          </a:p>
        </p:txBody>
      </p:sp>
      <p:sp>
        <p:nvSpPr>
          <p:cNvPr id="25605" name="Rectangle 7"/>
          <p:cNvSpPr>
            <a:spLocks noGrp="1" noChangeArrowheads="1"/>
          </p:cNvSpPr>
          <p:nvPr>
            <p:ph idx="1"/>
          </p:nvPr>
        </p:nvSpPr>
        <p:spPr>
          <a:xfrm>
            <a:off x="215900" y="1020763"/>
            <a:ext cx="8928100" cy="1301813"/>
          </a:xfrm>
        </p:spPr>
        <p:txBody>
          <a:bodyPr>
            <a:normAutofit/>
          </a:bodyPr>
          <a:lstStyle/>
          <a:p>
            <a:pPr>
              <a:lnSpc>
                <a:spcPct val="100000"/>
              </a:lnSpc>
            </a:pPr>
            <a:r>
              <a:rPr lang="en-US" sz="2400" dirty="0">
                <a:solidFill>
                  <a:srgbClr val="000000"/>
                </a:solidFill>
                <a:cs typeface="Times New Roman" pitchFamily="18" charset="0"/>
              </a:rPr>
              <a:t>General purpose </a:t>
            </a:r>
            <a:r>
              <a:rPr lang="en-US" sz="2400" dirty="0">
                <a:solidFill>
                  <a:srgbClr val="000000"/>
                </a:solidFill>
                <a:latin typeface="Courier New" pitchFamily="49" charset="0"/>
                <a:cs typeface="Times New Roman" pitchFamily="18" charset="0"/>
              </a:rPr>
              <a:t>Count</a:t>
            </a:r>
            <a:r>
              <a:rPr lang="en-US" sz="2400" dirty="0">
                <a:solidFill>
                  <a:srgbClr val="000000"/>
                </a:solidFill>
                <a:cs typeface="Times New Roman" pitchFamily="18" charset="0"/>
              </a:rPr>
              <a:t> operator (useful with Grouping)</a:t>
            </a:r>
          </a:p>
          <a:p>
            <a:pPr>
              <a:lnSpc>
                <a:spcPct val="100000"/>
              </a:lnSpc>
            </a:pPr>
            <a:r>
              <a:rPr lang="en-US" sz="2400" dirty="0">
                <a:solidFill>
                  <a:srgbClr val="000000"/>
                </a:solidFill>
                <a:cs typeface="Times New Roman" pitchFamily="18" charset="0"/>
              </a:rPr>
              <a:t>4 common numerical aggregation methods </a:t>
            </a:r>
          </a:p>
          <a:p>
            <a:pPr lvl="1">
              <a:lnSpc>
                <a:spcPct val="90000"/>
              </a:lnSpc>
            </a:pPr>
            <a:r>
              <a:rPr lang="en-US" sz="2400" dirty="0">
                <a:solidFill>
                  <a:srgbClr val="000000"/>
                </a:solidFill>
                <a:latin typeface="Courier New" pitchFamily="49" charset="0"/>
                <a:cs typeface="Times New Roman" pitchFamily="18" charset="0"/>
              </a:rPr>
              <a:t>Sum, Min, Max, Average</a:t>
            </a:r>
            <a:endParaRPr lang="en-US" sz="2400" dirty="0">
              <a:solidFill>
                <a:srgbClr val="000000"/>
              </a:solidFill>
              <a:cs typeface="Times New Roman" pitchFamily="18" charset="0"/>
            </a:endParaRPr>
          </a:p>
        </p:txBody>
      </p:sp>
      <p:sp>
        <p:nvSpPr>
          <p:cNvPr id="2" name="Rectangle 1"/>
          <p:cNvSpPr/>
          <p:nvPr/>
        </p:nvSpPr>
        <p:spPr>
          <a:xfrm>
            <a:off x="381000" y="2432745"/>
            <a:ext cx="6598920" cy="1938992"/>
          </a:xfrm>
          <a:prstGeom prst="rect">
            <a:avLst/>
          </a:prstGeom>
        </p:spPr>
        <p:txBody>
          <a:bodyPr wrap="square">
            <a:spAutoFit/>
          </a:bodyPr>
          <a:lstStyle/>
          <a:p>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numbers = { 3, 5, 7, 9 };</a:t>
            </a:r>
          </a:p>
          <a:p>
            <a:r>
              <a:rPr lang="en-GB" sz="1600" dirty="0">
                <a:solidFill>
                  <a:srgbClr val="0000FF"/>
                </a:solidFill>
                <a:highlight>
                  <a:srgbClr val="FFFFFF"/>
                </a:highlight>
                <a:latin typeface="Consolas" panose="020B0609020204030204" pitchFamily="49" charset="0"/>
              </a:rPr>
              <a:t>string</a:t>
            </a:r>
            <a:r>
              <a:rPr lang="en-GB" sz="1600" dirty="0">
                <a:solidFill>
                  <a:srgbClr val="000000"/>
                </a:solidFill>
                <a:highlight>
                  <a:srgbClr val="FFFFFF"/>
                </a:highlight>
                <a:latin typeface="Consolas" panose="020B0609020204030204" pitchFamily="49" charset="0"/>
              </a:rPr>
              <a:t>[] names = {</a:t>
            </a:r>
            <a:r>
              <a:rPr lang="en-GB" sz="1600" dirty="0">
                <a:solidFill>
                  <a:srgbClr val="A31515"/>
                </a:solidFill>
                <a:highlight>
                  <a:srgbClr val="FFFFFF"/>
                </a:highlight>
                <a:latin typeface="Consolas" panose="020B0609020204030204" pitchFamily="49" charset="0"/>
              </a:rPr>
              <a:t>"Paul"</a:t>
            </a:r>
            <a:r>
              <a:rPr lang="en-GB" sz="1600" dirty="0">
                <a:solidFill>
                  <a:srgbClr val="000000"/>
                </a:solidFill>
                <a:highlight>
                  <a:srgbClr val="FFFFFF"/>
                </a:highlight>
                <a:latin typeface="Consolas" panose="020B0609020204030204" pitchFamily="49" charset="0"/>
              </a:rPr>
              <a:t>, </a:t>
            </a:r>
            <a:r>
              <a:rPr lang="en-GB" sz="1600" dirty="0">
                <a:solidFill>
                  <a:srgbClr val="A31515"/>
                </a:solidFill>
                <a:highlight>
                  <a:srgbClr val="FFFFFF"/>
                </a:highlight>
                <a:latin typeface="Consolas" panose="020B0609020204030204" pitchFamily="49" charset="0"/>
              </a:rPr>
              <a:t>"Steve"</a:t>
            </a:r>
            <a:r>
              <a:rPr lang="en-GB" sz="1600" dirty="0">
                <a:solidFill>
                  <a:srgbClr val="000000"/>
                </a:solidFill>
                <a:highlight>
                  <a:srgbClr val="FFFFFF"/>
                </a:highlight>
                <a:latin typeface="Consolas" panose="020B0609020204030204" pitchFamily="49" charset="0"/>
              </a:rPr>
              <a:t>, </a:t>
            </a:r>
            <a:r>
              <a:rPr lang="en-GB" sz="1600" dirty="0">
                <a:solidFill>
                  <a:srgbClr val="A31515"/>
                </a:solidFill>
                <a:highlight>
                  <a:srgbClr val="FFFFFF"/>
                </a:highlight>
                <a:latin typeface="Consolas" panose="020B0609020204030204" pitchFamily="49" charset="0"/>
              </a:rPr>
              <a:t>"Peter"</a:t>
            </a:r>
            <a:r>
              <a:rPr lang="en-GB" sz="1600" dirty="0">
                <a:solidFill>
                  <a:srgbClr val="000000"/>
                </a:solidFill>
                <a:highlight>
                  <a:srgbClr val="FFFFFF"/>
                </a:highlight>
                <a:latin typeface="Consolas" panose="020B0609020204030204" pitchFamily="49" charset="0"/>
              </a:rPr>
              <a:t>, </a:t>
            </a:r>
            <a:r>
              <a:rPr lang="en-GB" sz="1600" dirty="0">
                <a:solidFill>
                  <a:srgbClr val="A31515"/>
                </a:solidFill>
                <a:highlight>
                  <a:srgbClr val="FFFFFF"/>
                </a:highlight>
                <a:latin typeface="Consolas" panose="020B0609020204030204" pitchFamily="49" charset="0"/>
              </a:rPr>
              <a:t>"Laurence"</a:t>
            </a:r>
            <a:r>
              <a:rPr lang="en-GB" sz="1600" dirty="0">
                <a:solidFill>
                  <a:srgbClr val="000000"/>
                </a:solidFill>
                <a:highlight>
                  <a:srgbClr val="FFFFFF"/>
                </a:highlight>
                <a:latin typeface="Consolas" panose="020B0609020204030204" pitchFamily="49" charset="0"/>
              </a:rPr>
              <a:t>};</a:t>
            </a:r>
            <a:br>
              <a:rPr lang="en-GB" sz="1600" dirty="0">
                <a:solidFill>
                  <a:srgbClr val="000000"/>
                </a:solidFill>
                <a:highlight>
                  <a:srgbClr val="FFFFFF"/>
                </a:highlight>
                <a:latin typeface="Consolas" panose="020B0609020204030204" pitchFamily="49" charset="0"/>
              </a:rPr>
            </a:br>
            <a:endParaRPr lang="en-GB" sz="1600" dirty="0">
              <a:solidFill>
                <a:srgbClr val="000000"/>
              </a:solidFill>
              <a:highlight>
                <a:srgbClr val="FFFFFF"/>
              </a:highlight>
              <a:latin typeface="Consolas" panose="020B0609020204030204" pitchFamily="49" charset="0"/>
            </a:endParaRPr>
          </a:p>
          <a:p>
            <a:r>
              <a:rPr lang="en-GB" sz="1600" dirty="0">
                <a:solidFill>
                  <a:srgbClr val="000000"/>
                </a:solidFill>
                <a:highlight>
                  <a:srgbClr val="FFFFFF"/>
                </a:highlight>
                <a:latin typeface="Consolas" panose="020B0609020204030204" pitchFamily="49" charset="0"/>
              </a:rPr>
              <a:t/>
            </a:r>
            <a:br>
              <a:rPr lang="en-GB" sz="1600" dirty="0">
                <a:solidFill>
                  <a:srgbClr val="000000"/>
                </a:solidFill>
                <a:highlight>
                  <a:srgbClr val="FFFFFF"/>
                </a:highlight>
                <a:latin typeface="Consolas" panose="020B0609020204030204" pitchFamily="49" charset="0"/>
              </a:rPr>
            </a:br>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totalOfNumbers</a:t>
            </a:r>
            <a:r>
              <a:rPr lang="en-GB" sz="1600" dirty="0">
                <a:solidFill>
                  <a:srgbClr val="000000"/>
                </a:solidFill>
                <a:highlight>
                  <a:srgbClr val="FFFFFF"/>
                </a:highlight>
                <a:latin typeface="Consolas" panose="020B0609020204030204" pitchFamily="49" charset="0"/>
              </a:rPr>
              <a:t> = </a:t>
            </a:r>
            <a:r>
              <a:rPr lang="en-GB" sz="1600" dirty="0" err="1">
                <a:solidFill>
                  <a:srgbClr val="000000"/>
                </a:solidFill>
                <a:highlight>
                  <a:srgbClr val="FFFFFF"/>
                </a:highlight>
                <a:latin typeface="Consolas" panose="020B0609020204030204" pitchFamily="49" charset="0"/>
              </a:rPr>
              <a:t>numbers.Sum</a:t>
            </a:r>
            <a:r>
              <a:rPr lang="en-GB" sz="1600" dirty="0">
                <a:solidFill>
                  <a:srgbClr val="000000"/>
                </a:solidFill>
                <a:highlight>
                  <a:srgbClr val="FFFFFF"/>
                </a:highlight>
                <a:latin typeface="Consolas" panose="020B0609020204030204" pitchFamily="49" charset="0"/>
              </a:rPr>
              <a:t>();</a:t>
            </a:r>
          </a:p>
          <a:p>
            <a:r>
              <a:rPr lang="en-GB" sz="1600" dirty="0" err="1">
                <a:solidFill>
                  <a:srgbClr val="0000FF"/>
                </a:solidFill>
                <a:highlight>
                  <a:srgbClr val="FFFFFF"/>
                </a:highlight>
                <a:latin typeface="Consolas" panose="020B0609020204030204" pitchFamily="49" charset="0"/>
              </a:rPr>
              <a:t>int</a:t>
            </a:r>
            <a:r>
              <a:rPr lang="en-GB" sz="1600" dirty="0">
                <a:solidFill>
                  <a:srgbClr val="000000"/>
                </a:solidFill>
                <a:highlight>
                  <a:srgbClr val="FFFFFF"/>
                </a:highlight>
                <a:latin typeface="Consolas" panose="020B0609020204030204" pitchFamily="49" charset="0"/>
              </a:rPr>
              <a:t> </a:t>
            </a:r>
            <a:r>
              <a:rPr lang="en-GB" sz="1600" dirty="0" err="1">
                <a:solidFill>
                  <a:srgbClr val="000000"/>
                </a:solidFill>
                <a:highlight>
                  <a:srgbClr val="FFFFFF"/>
                </a:highlight>
                <a:latin typeface="Consolas" panose="020B0609020204030204" pitchFamily="49" charset="0"/>
              </a:rPr>
              <a:t>totalLengthOfNames</a:t>
            </a:r>
            <a:r>
              <a:rPr lang="en-GB" sz="1600" dirty="0">
                <a:solidFill>
                  <a:srgbClr val="000000"/>
                </a:solidFill>
                <a:highlight>
                  <a:srgbClr val="FFFFFF"/>
                </a:highlight>
                <a:latin typeface="Consolas" panose="020B0609020204030204" pitchFamily="49" charset="0"/>
              </a:rPr>
              <a:t> = </a:t>
            </a:r>
            <a:r>
              <a:rPr lang="en-GB" sz="1600" dirty="0" err="1">
                <a:solidFill>
                  <a:srgbClr val="000000"/>
                </a:solidFill>
                <a:highlight>
                  <a:srgbClr val="FFFFFF"/>
                </a:highlight>
                <a:latin typeface="Consolas" panose="020B0609020204030204" pitchFamily="49" charset="0"/>
              </a:rPr>
              <a:t>names.Sum</a:t>
            </a:r>
            <a:r>
              <a:rPr lang="en-GB" sz="1600" dirty="0">
                <a:solidFill>
                  <a:srgbClr val="000000"/>
                </a:solidFill>
                <a:highlight>
                  <a:srgbClr val="FFFFFF"/>
                </a:highlight>
                <a:latin typeface="Consolas" panose="020B0609020204030204" pitchFamily="49" charset="0"/>
              </a:rPr>
              <a:t>(s =&gt; </a:t>
            </a:r>
            <a:r>
              <a:rPr lang="en-GB" sz="1600" dirty="0" err="1">
                <a:solidFill>
                  <a:srgbClr val="000000"/>
                </a:solidFill>
                <a:highlight>
                  <a:srgbClr val="FFFFFF"/>
                </a:highlight>
                <a:latin typeface="Consolas" panose="020B0609020204030204" pitchFamily="49" charset="0"/>
              </a:rPr>
              <a:t>s.Length</a:t>
            </a:r>
            <a:r>
              <a:rPr lang="en-GB" sz="16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201149443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List&lt;&gt; </a:t>
            </a:r>
            <a:r>
              <a:rPr lang="en-GB" dirty="0" err="1"/>
              <a:t>FindAll</a:t>
            </a:r>
            <a:r>
              <a:rPr lang="en-GB" dirty="0"/>
              <a:t> method</a:t>
            </a:r>
          </a:p>
        </p:txBody>
      </p:sp>
      <p:sp>
        <p:nvSpPr>
          <p:cNvPr id="3" name="Content Placeholder 2"/>
          <p:cNvSpPr>
            <a:spLocks noGrp="1"/>
          </p:cNvSpPr>
          <p:nvPr>
            <p:ph idx="1"/>
          </p:nvPr>
        </p:nvSpPr>
        <p:spPr/>
        <p:txBody>
          <a:bodyPr>
            <a:normAutofit/>
          </a:bodyPr>
          <a:lstStyle/>
          <a:p>
            <a:pPr marL="0" indent="0">
              <a:buNone/>
            </a:pPr>
            <a:r>
              <a:rPr lang="en-GB" dirty="0"/>
              <a:t>See if you can figure out what these statements do:</a:t>
            </a:r>
          </a:p>
        </p:txBody>
      </p:sp>
      <p:sp>
        <p:nvSpPr>
          <p:cNvPr id="5" name="Rectangle 4"/>
          <p:cNvSpPr/>
          <p:nvPr/>
        </p:nvSpPr>
        <p:spPr>
          <a:xfrm>
            <a:off x="452128" y="1938658"/>
            <a:ext cx="8477590" cy="1200329"/>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r>
              <a:rPr lang="en-GB" sz="1800" dirty="0">
                <a:solidFill>
                  <a:srgbClr val="2B91AF"/>
                </a:solidFill>
                <a:highlight>
                  <a:srgbClr val="FFFFFF"/>
                </a:highlight>
                <a:latin typeface="Consolas" panose="020B0609020204030204" pitchFamily="49" charset="0"/>
              </a:rPr>
              <a:t>List</a:t>
            </a:r>
            <a:r>
              <a:rPr lang="en-GB" sz="1800" dirty="0">
                <a:solidFill>
                  <a:srgbClr val="000000"/>
                </a:solidFill>
                <a:highlight>
                  <a:srgbClr val="FFFFFF"/>
                </a:highlight>
                <a:latin typeface="Consolas" panose="020B0609020204030204" pitchFamily="49" charset="0"/>
              </a:rPr>
              <a:t>&lt;</a:t>
            </a:r>
            <a:r>
              <a:rPr lang="en-GB" sz="1800" dirty="0" err="1">
                <a:solidFill>
                  <a:srgbClr val="0000FF"/>
                </a:solidFill>
                <a:highlight>
                  <a:srgbClr val="FFFFFF"/>
                </a:highlight>
                <a:latin typeface="Consolas" panose="020B0609020204030204" pitchFamily="49" charset="0"/>
              </a:rPr>
              <a:t>int</a:t>
            </a:r>
            <a:r>
              <a:rPr lang="en-GB" sz="1800" dirty="0">
                <a:solidFill>
                  <a:srgbClr val="000000"/>
                </a:solidFill>
                <a:highlight>
                  <a:srgbClr val="FFFFFF"/>
                </a:highlight>
                <a:latin typeface="Consolas" panose="020B0609020204030204" pitchFamily="49" charset="0"/>
              </a:rPr>
              <a:t>&gt; numbers = </a:t>
            </a:r>
            <a:r>
              <a:rPr lang="en-GB" sz="1800" dirty="0">
                <a:solidFill>
                  <a:srgbClr val="0000FF"/>
                </a:solidFill>
                <a:highlight>
                  <a:srgbClr val="FFFFFF"/>
                </a:highlight>
                <a:latin typeface="Consolas" panose="020B0609020204030204" pitchFamily="49" charset="0"/>
              </a:rPr>
              <a:t>new</a:t>
            </a:r>
            <a:r>
              <a:rPr lang="en-GB" sz="1800" dirty="0">
                <a:solidFill>
                  <a:srgbClr val="000000"/>
                </a:solidFill>
                <a:highlight>
                  <a:srgbClr val="FFFFFF"/>
                </a:highlight>
                <a:latin typeface="Consolas" panose="020B0609020204030204" pitchFamily="49" charset="0"/>
              </a:rPr>
              <a:t> </a:t>
            </a:r>
            <a:r>
              <a:rPr lang="en-GB" sz="1800" dirty="0">
                <a:solidFill>
                  <a:srgbClr val="2B91AF"/>
                </a:solidFill>
                <a:highlight>
                  <a:srgbClr val="FFFFFF"/>
                </a:highlight>
                <a:latin typeface="Consolas" panose="020B0609020204030204" pitchFamily="49" charset="0"/>
              </a:rPr>
              <a:t>List</a:t>
            </a:r>
            <a:r>
              <a:rPr lang="en-GB" sz="1800" dirty="0">
                <a:solidFill>
                  <a:srgbClr val="000000"/>
                </a:solidFill>
                <a:highlight>
                  <a:srgbClr val="FFFFFF"/>
                </a:highlight>
                <a:latin typeface="Consolas" panose="020B0609020204030204" pitchFamily="49" charset="0"/>
              </a:rPr>
              <a:t>&lt;</a:t>
            </a:r>
            <a:r>
              <a:rPr lang="en-GB" sz="1800" dirty="0" err="1">
                <a:solidFill>
                  <a:srgbClr val="0000FF"/>
                </a:solidFill>
                <a:highlight>
                  <a:srgbClr val="FFFFFF"/>
                </a:highlight>
                <a:latin typeface="Consolas" panose="020B0609020204030204" pitchFamily="49" charset="0"/>
              </a:rPr>
              <a:t>int</a:t>
            </a:r>
            <a:r>
              <a:rPr lang="en-GB" sz="1800" dirty="0">
                <a:solidFill>
                  <a:srgbClr val="000000"/>
                </a:solidFill>
                <a:highlight>
                  <a:srgbClr val="FFFFFF"/>
                </a:highlight>
                <a:latin typeface="Consolas" panose="020B0609020204030204" pitchFamily="49" charset="0"/>
              </a:rPr>
              <a:t>&gt;{ 1, 1, 2, 3, 5, 8};</a:t>
            </a:r>
          </a:p>
          <a:p>
            <a:endParaRPr lang="en-GB" sz="1800" b="1" dirty="0">
              <a:solidFill>
                <a:srgbClr val="2B91AF"/>
              </a:solidFill>
              <a:highlight>
                <a:srgbClr val="FFFFFF"/>
              </a:highlight>
              <a:latin typeface="Consolas" panose="020B0609020204030204" pitchFamily="49" charset="0"/>
            </a:endParaRPr>
          </a:p>
          <a:p>
            <a:r>
              <a:rPr lang="en-GB" sz="1800" b="1" dirty="0">
                <a:solidFill>
                  <a:srgbClr val="2B91AF"/>
                </a:solidFill>
                <a:highlight>
                  <a:srgbClr val="FFFFFF"/>
                </a:highlight>
                <a:latin typeface="Consolas" panose="020B0609020204030204" pitchFamily="49" charset="0"/>
              </a:rPr>
              <a:t>List</a:t>
            </a:r>
            <a:r>
              <a:rPr lang="en-GB" sz="1800" b="1" dirty="0">
                <a:solidFill>
                  <a:srgbClr val="000000"/>
                </a:solidFill>
                <a:highlight>
                  <a:srgbClr val="FFFFFF"/>
                </a:highlight>
                <a:latin typeface="Consolas" panose="020B0609020204030204" pitchFamily="49" charset="0"/>
              </a:rPr>
              <a:t>&lt;</a:t>
            </a:r>
            <a:r>
              <a:rPr lang="en-GB" sz="1800" b="1" dirty="0" err="1">
                <a:solidFill>
                  <a:srgbClr val="0000FF"/>
                </a:solidFill>
                <a:highlight>
                  <a:srgbClr val="FFFFFF"/>
                </a:highlight>
                <a:latin typeface="Consolas" panose="020B0609020204030204" pitchFamily="49" charset="0"/>
              </a:rPr>
              <a:t>int</a:t>
            </a:r>
            <a:r>
              <a:rPr lang="en-GB" sz="1800" b="1" dirty="0">
                <a:solidFill>
                  <a:srgbClr val="000000"/>
                </a:solidFill>
                <a:highlight>
                  <a:srgbClr val="FFFFFF"/>
                </a:highlight>
                <a:latin typeface="Consolas" panose="020B0609020204030204" pitchFamily="49" charset="0"/>
              </a:rPr>
              <a:t>&gt; </a:t>
            </a:r>
            <a:r>
              <a:rPr lang="en-GB" sz="1800" b="1" dirty="0" err="1">
                <a:solidFill>
                  <a:srgbClr val="000000"/>
                </a:solidFill>
                <a:highlight>
                  <a:srgbClr val="FFFFFF"/>
                </a:highlight>
                <a:latin typeface="Consolas" panose="020B0609020204030204" pitchFamily="49" charset="0"/>
              </a:rPr>
              <a:t>oddOnes</a:t>
            </a:r>
            <a:r>
              <a:rPr lang="en-GB" sz="1800" b="1" dirty="0">
                <a:solidFill>
                  <a:srgbClr val="000000"/>
                </a:solidFill>
                <a:highlight>
                  <a:srgbClr val="FFFFFF"/>
                </a:highlight>
                <a:latin typeface="Consolas" panose="020B0609020204030204" pitchFamily="49" charset="0"/>
              </a:rPr>
              <a:t> = </a:t>
            </a:r>
            <a:r>
              <a:rPr lang="en-GB" sz="1800" b="1" dirty="0" err="1">
                <a:solidFill>
                  <a:srgbClr val="000000"/>
                </a:solidFill>
                <a:highlight>
                  <a:srgbClr val="FFFFFF"/>
                </a:highlight>
                <a:latin typeface="Consolas" panose="020B0609020204030204" pitchFamily="49" charset="0"/>
              </a:rPr>
              <a:t>numbers.FindAll</a:t>
            </a:r>
            <a:r>
              <a:rPr lang="en-GB" sz="1800" b="1" dirty="0">
                <a:solidFill>
                  <a:srgbClr val="000000"/>
                </a:solidFill>
                <a:highlight>
                  <a:srgbClr val="FFFFFF"/>
                </a:highlight>
                <a:latin typeface="Consolas" panose="020B0609020204030204" pitchFamily="49" charset="0"/>
              </a:rPr>
              <a:t>(n =&gt; n % 2 == 1);</a:t>
            </a:r>
            <a:endParaRPr lang="en-GB" sz="1800" b="1" dirty="0"/>
          </a:p>
        </p:txBody>
      </p:sp>
      <p:sp>
        <p:nvSpPr>
          <p:cNvPr id="6" name="Rectangle 5"/>
          <p:cNvSpPr/>
          <p:nvPr/>
        </p:nvSpPr>
        <p:spPr>
          <a:xfrm>
            <a:off x="410224" y="3464290"/>
            <a:ext cx="8519493" cy="2246769"/>
          </a:xfrm>
          <a:prstGeom prst="rect">
            <a:avLst/>
          </a:prstGeom>
          <a:ln>
            <a:solidFill>
              <a:schemeClr val="bg1">
                <a:lumMod val="65000"/>
              </a:schemeClr>
            </a:solidFill>
          </a:ln>
        </p:spPr>
        <p:txBody>
          <a:bodyPr wrap="square">
            <a:spAutoFit/>
          </a:bodyPr>
          <a:lstStyle/>
          <a:p>
            <a:r>
              <a:rPr lang="en-GB" sz="2000" dirty="0">
                <a:solidFill>
                  <a:srgbClr val="0000FF"/>
                </a:solidFill>
                <a:highlight>
                  <a:srgbClr val="FFFFFF"/>
                </a:highlight>
                <a:latin typeface="Consolas" panose="020B0609020204030204" pitchFamily="49" charset="0"/>
              </a:rPr>
              <a:t>double</a:t>
            </a:r>
            <a:r>
              <a:rPr lang="en-GB" sz="2000" dirty="0">
                <a:solidFill>
                  <a:srgbClr val="000000"/>
                </a:solidFill>
                <a:highlight>
                  <a:srgbClr val="FFFFFF"/>
                </a:highlight>
                <a:latin typeface="Consolas" panose="020B0609020204030204" pitchFamily="49" charset="0"/>
              </a:rPr>
              <a:t> avg1 = </a:t>
            </a:r>
            <a:r>
              <a:rPr lang="en-GB" sz="2000" dirty="0" err="1">
                <a:solidFill>
                  <a:srgbClr val="000000"/>
                </a:solidFill>
                <a:highlight>
                  <a:srgbClr val="FFFFFF"/>
                </a:highlight>
                <a:latin typeface="Consolas" panose="020B0609020204030204" pitchFamily="49" charset="0"/>
              </a:rPr>
              <a:t>numbers.FindAll</a:t>
            </a:r>
            <a:r>
              <a:rPr lang="en-GB" sz="2000" dirty="0">
                <a:solidFill>
                  <a:srgbClr val="000000"/>
                </a:solidFill>
                <a:highlight>
                  <a:srgbClr val="FFFFFF"/>
                </a:highlight>
                <a:latin typeface="Consolas" panose="020B0609020204030204" pitchFamily="49" charset="0"/>
              </a:rPr>
              <a:t>(n =&gt; n % 2 == 1).</a:t>
            </a:r>
            <a:r>
              <a:rPr lang="en-GB" sz="2000" b="1" dirty="0">
                <a:solidFill>
                  <a:srgbClr val="000000"/>
                </a:solidFill>
                <a:highlight>
                  <a:srgbClr val="FFFFFF"/>
                </a:highlight>
                <a:latin typeface="Consolas" panose="020B0609020204030204" pitchFamily="49" charset="0"/>
              </a:rPr>
              <a:t>Average()</a:t>
            </a:r>
            <a:r>
              <a:rPr lang="en-GB" sz="2000" dirty="0">
                <a:solidFill>
                  <a:srgbClr val="000000"/>
                </a:solidFill>
                <a:highlight>
                  <a:srgbClr val="FFFFFF"/>
                </a:highlight>
                <a:latin typeface="Consolas" panose="020B0609020204030204" pitchFamily="49" charset="0"/>
              </a:rPr>
              <a:t>;</a:t>
            </a:r>
          </a:p>
          <a:p>
            <a:endParaRPr lang="en-GB" sz="2000" dirty="0">
              <a:solidFill>
                <a:srgbClr val="000000"/>
              </a:solidFill>
              <a:highlight>
                <a:srgbClr val="FFFFFF"/>
              </a:highlight>
              <a:latin typeface="Consolas" panose="020B0609020204030204" pitchFamily="49" charset="0"/>
            </a:endParaRPr>
          </a:p>
          <a:p>
            <a:r>
              <a:rPr lang="en-GB" sz="2000" dirty="0">
                <a:solidFill>
                  <a:srgbClr val="0000FF"/>
                </a:solidFill>
                <a:highlight>
                  <a:srgbClr val="FFFFFF"/>
                </a:highlight>
                <a:latin typeface="Consolas" panose="020B0609020204030204" pitchFamily="49" charset="0"/>
              </a:rPr>
              <a:t>double</a:t>
            </a:r>
            <a:r>
              <a:rPr lang="en-GB" sz="2000" dirty="0">
                <a:solidFill>
                  <a:srgbClr val="000000"/>
                </a:solidFill>
                <a:highlight>
                  <a:srgbClr val="FFFFFF"/>
                </a:highlight>
                <a:latin typeface="Consolas" panose="020B0609020204030204" pitchFamily="49" charset="0"/>
              </a:rPr>
              <a:t> avg2 = </a:t>
            </a:r>
          </a:p>
          <a:p>
            <a:r>
              <a:rPr lang="en-GB" sz="2000" dirty="0">
                <a:solidFill>
                  <a:srgbClr val="000000"/>
                </a:solidFill>
                <a:highlight>
                  <a:srgbClr val="FFFFFF"/>
                </a:highlight>
                <a:latin typeface="Consolas" panose="020B0609020204030204" pitchFamily="49" charset="0"/>
              </a:rPr>
              <a:t>    </a:t>
            </a:r>
            <a:r>
              <a:rPr lang="en-GB" sz="2000" dirty="0" err="1">
                <a:solidFill>
                  <a:srgbClr val="000000"/>
                </a:solidFill>
                <a:highlight>
                  <a:srgbClr val="FFFFFF"/>
                </a:highlight>
                <a:latin typeface="Consolas" panose="020B0609020204030204" pitchFamily="49" charset="0"/>
              </a:rPr>
              <a:t>numbers.FindAll</a:t>
            </a:r>
            <a:r>
              <a:rPr lang="en-GB" sz="2000" dirty="0">
                <a:solidFill>
                  <a:srgbClr val="000000"/>
                </a:solidFill>
                <a:highlight>
                  <a:srgbClr val="FFFFFF"/>
                </a:highlight>
                <a:latin typeface="Consolas" panose="020B0609020204030204" pitchFamily="49" charset="0"/>
              </a:rPr>
              <a:t>(n =&gt; n % 2 == 1).</a:t>
            </a:r>
            <a:r>
              <a:rPr lang="en-GB" sz="2000" b="1" dirty="0">
                <a:solidFill>
                  <a:srgbClr val="000000"/>
                </a:solidFill>
                <a:highlight>
                  <a:srgbClr val="FFFFFF"/>
                </a:highlight>
                <a:latin typeface="Consolas" panose="020B0609020204030204" pitchFamily="49" charset="0"/>
              </a:rPr>
              <a:t>Distinct()</a:t>
            </a:r>
            <a:r>
              <a:rPr lang="en-GB" sz="2000" dirty="0">
                <a:solidFill>
                  <a:srgbClr val="000000"/>
                </a:solidFill>
                <a:highlight>
                  <a:srgbClr val="FFFFFF"/>
                </a:highlight>
                <a:latin typeface="Consolas" panose="020B0609020204030204" pitchFamily="49" charset="0"/>
              </a:rPr>
              <a:t>.</a:t>
            </a:r>
            <a:r>
              <a:rPr lang="en-GB" sz="2000" b="1" dirty="0">
                <a:solidFill>
                  <a:srgbClr val="000000"/>
                </a:solidFill>
                <a:highlight>
                  <a:srgbClr val="FFFFFF"/>
                </a:highlight>
                <a:latin typeface="Consolas" panose="020B0609020204030204" pitchFamily="49" charset="0"/>
              </a:rPr>
              <a:t>Average()</a:t>
            </a:r>
            <a:r>
              <a:rPr lang="en-GB" sz="2000" dirty="0">
                <a:solidFill>
                  <a:srgbClr val="000000"/>
                </a:solidFill>
                <a:highlight>
                  <a:srgbClr val="FFFFFF"/>
                </a:highlight>
                <a:latin typeface="Consolas" panose="020B0609020204030204" pitchFamily="49" charset="0"/>
              </a:rPr>
              <a:t>;</a:t>
            </a:r>
          </a:p>
          <a:p>
            <a:endParaRPr lang="en-GB" sz="20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2498072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3428" y="1043806"/>
            <a:ext cx="8845062" cy="45704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&gt; students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List</a:t>
            </a:r>
            <a:r>
              <a:rPr lang="en-GB" sz="1600" dirty="0">
                <a:solidFill>
                  <a:srgbClr val="000000"/>
                </a:solidFill>
                <a:highlight>
                  <a:srgbClr val="FFFFFF"/>
                </a:highlight>
                <a:latin typeface="Consolas" panose="020B0609020204030204" pitchFamily="49" charset="0"/>
              </a:rPr>
              <a:t>&lt;</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&gt;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18, Name = </a:t>
            </a:r>
            <a:r>
              <a:rPr lang="en-GB" sz="1600" dirty="0">
                <a:solidFill>
                  <a:srgbClr val="A31515"/>
                </a:solidFill>
                <a:highlight>
                  <a:srgbClr val="FFFFFF"/>
                </a:highlight>
                <a:latin typeface="Consolas" panose="020B0609020204030204" pitchFamily="49" charset="0"/>
              </a:rPr>
              <a:t>"Sam"</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"C#"</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20, Name = </a:t>
            </a:r>
            <a:r>
              <a:rPr lang="en-GB" sz="1600" dirty="0">
                <a:solidFill>
                  <a:srgbClr val="A31515"/>
                </a:solidFill>
                <a:highlight>
                  <a:srgbClr val="FFFFFF"/>
                </a:highlight>
                <a:latin typeface="Consolas" panose="020B0609020204030204" pitchFamily="49" charset="0"/>
              </a:rPr>
              <a:t>"Mike"</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"Java"</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19, Name = </a:t>
            </a:r>
            <a:r>
              <a:rPr lang="en-GB" sz="1600" dirty="0">
                <a:solidFill>
                  <a:srgbClr val="A31515"/>
                </a:solidFill>
                <a:highlight>
                  <a:srgbClr val="FFFFFF"/>
                </a:highlight>
                <a:latin typeface="Consolas" panose="020B0609020204030204" pitchFamily="49" charset="0"/>
              </a:rPr>
              <a:t>"Bob"</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"Networking"</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a:solidFill>
                  <a:srgbClr val="2B91AF"/>
                </a:solidFill>
                <a:highlight>
                  <a:srgbClr val="FFFFFF"/>
                </a:highlight>
                <a:latin typeface="Consolas" panose="020B0609020204030204" pitchFamily="49" charset="0"/>
              </a:rPr>
              <a:t>Student</a:t>
            </a:r>
            <a:r>
              <a:rPr lang="en-GB" sz="1600" dirty="0">
                <a:solidFill>
                  <a:srgbClr val="000000"/>
                </a:solidFill>
                <a:highlight>
                  <a:srgbClr val="FFFFFF"/>
                </a:highlight>
                <a:latin typeface="Consolas" panose="020B0609020204030204" pitchFamily="49" charset="0"/>
              </a:rPr>
              <a:t>() { Age = 21, Name = </a:t>
            </a:r>
            <a:r>
              <a:rPr lang="en-GB" sz="1600" dirty="0">
                <a:solidFill>
                  <a:srgbClr val="A31515"/>
                </a:solidFill>
                <a:highlight>
                  <a:srgbClr val="FFFFFF"/>
                </a:highlight>
                <a:latin typeface="Consolas" panose="020B0609020204030204" pitchFamily="49" charset="0"/>
              </a:rPr>
              <a:t>"Jonathan"</a:t>
            </a:r>
            <a:r>
              <a:rPr lang="en-GB" sz="1600" dirty="0">
                <a:solidFill>
                  <a:srgbClr val="000000"/>
                </a:solidFill>
                <a:highlight>
                  <a:srgbClr val="FFFFFF"/>
                </a:highlight>
                <a:latin typeface="Consolas" panose="020B0609020204030204" pitchFamily="49" charset="0"/>
              </a:rPr>
              <a:t>, Subject = </a:t>
            </a:r>
            <a:r>
              <a:rPr lang="en-GB" sz="1600" dirty="0">
                <a:solidFill>
                  <a:srgbClr val="A31515"/>
                </a:solidFill>
                <a:highlight>
                  <a:srgbClr val="FFFFFF"/>
                </a:highlight>
                <a:latin typeface="Consolas" panose="020B0609020204030204" pitchFamily="49" charset="0"/>
              </a:rPr>
              <a:t>"Marketing"</a:t>
            </a:r>
            <a:r>
              <a:rPr lang="en-GB" sz="1600" dirty="0">
                <a:solidFill>
                  <a:srgbClr val="000000"/>
                </a:solidFill>
                <a:highlight>
                  <a:srgbClr val="FFFFFF"/>
                </a:highlight>
                <a:latin typeface="Consolas" panose="020B0609020204030204" pitchFamily="49" charset="0"/>
              </a:rPr>
              <a:t> }</a:t>
            </a:r>
          </a:p>
          <a:p>
            <a:r>
              <a:rPr lang="en-GB" sz="1600" dirty="0">
                <a:solidFill>
                  <a:srgbClr val="000000"/>
                </a:solidFill>
                <a:highlight>
                  <a:srgbClr val="FFFFFF"/>
                </a:highlight>
                <a:latin typeface="Consolas" panose="020B0609020204030204" pitchFamily="49" charset="0"/>
              </a:rPr>
              <a:t>};</a:t>
            </a:r>
          </a:p>
          <a:p>
            <a:endParaRPr lang="en-GB" sz="1600" dirty="0">
              <a:solidFill>
                <a:srgbClr val="000000"/>
              </a:solidFill>
              <a:highlight>
                <a:srgbClr val="FFFFFF"/>
              </a:highlight>
              <a:latin typeface="Consolas" panose="020B0609020204030204" pitchFamily="49" charset="0"/>
            </a:endParaRPr>
          </a:p>
          <a:p>
            <a:r>
              <a:rPr lang="en-GB" sz="1600" dirty="0" err="1">
                <a:solidFill>
                  <a:srgbClr val="0000FF"/>
                </a:solidFill>
                <a:highlight>
                  <a:srgbClr val="FFFFFF"/>
                </a:highlight>
                <a:latin typeface="Consolas" panose="020B0609020204030204" pitchFamily="49" charset="0"/>
              </a:rPr>
              <a:t>var</a:t>
            </a:r>
            <a:r>
              <a:rPr lang="en-GB" sz="1600" dirty="0">
                <a:solidFill>
                  <a:srgbClr val="000000"/>
                </a:solidFill>
                <a:highlight>
                  <a:srgbClr val="FFFFFF"/>
                </a:highlight>
                <a:latin typeface="Consolas" panose="020B0609020204030204" pitchFamily="49" charset="0"/>
              </a:rPr>
              <a:t> query = </a:t>
            </a:r>
            <a:r>
              <a:rPr lang="en-GB" sz="1800" b="1" dirty="0" err="1">
                <a:solidFill>
                  <a:srgbClr val="000000"/>
                </a:solidFill>
                <a:highlight>
                  <a:srgbClr val="FFFFFF"/>
                </a:highlight>
                <a:latin typeface="Consolas" panose="020B0609020204030204" pitchFamily="49" charset="0"/>
              </a:rPr>
              <a:t>students.Select</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a:t>
            </a:r>
            <a:r>
              <a:rPr lang="en-GB" sz="1800" b="1" dirty="0">
                <a:solidFill>
                  <a:srgbClr val="000000"/>
                </a:solidFill>
                <a:highlight>
                  <a:srgbClr val="FFFFFF"/>
                </a:highlight>
                <a:latin typeface="Consolas" panose="020B0609020204030204" pitchFamily="49" charset="0"/>
              </a:rPr>
              <a:t> =&gt; </a:t>
            </a:r>
            <a:r>
              <a:rPr lang="en-GB" sz="1800" b="1" dirty="0">
                <a:solidFill>
                  <a:srgbClr val="0000FF"/>
                </a:solidFill>
                <a:highlight>
                  <a:srgbClr val="FFFFFF"/>
                </a:highlight>
                <a:latin typeface="Consolas" panose="020B0609020204030204" pitchFamily="49" charset="0"/>
              </a:rPr>
              <a:t>new</a:t>
            </a:r>
            <a:r>
              <a:rPr lang="en-GB" sz="1800" b="1" dirty="0">
                <a:solidFill>
                  <a:srgbClr val="000000"/>
                </a:solidFill>
                <a:highlight>
                  <a:srgbClr val="FFFFFF"/>
                </a:highlight>
                <a:latin typeface="Consolas" panose="020B0609020204030204" pitchFamily="49" charset="0"/>
              </a:rPr>
              <a:t> { </a:t>
            </a:r>
            <a:r>
              <a:rPr lang="en-GB" sz="1800" b="1" dirty="0" err="1">
                <a:solidFill>
                  <a:srgbClr val="000000"/>
                </a:solidFill>
                <a:highlight>
                  <a:srgbClr val="FFFFFF"/>
                </a:highlight>
                <a:latin typeface="Consolas" panose="020B0609020204030204" pitchFamily="49" charset="0"/>
              </a:rPr>
              <a:t>stu.Name</a:t>
            </a:r>
            <a:r>
              <a:rPr lang="en-GB" sz="1800" b="1" dirty="0">
                <a:solidFill>
                  <a:srgbClr val="000000"/>
                </a:solidFill>
                <a:highlight>
                  <a:srgbClr val="FFFFFF"/>
                </a:highlight>
                <a:latin typeface="Consolas" panose="020B0609020204030204" pitchFamily="49" charset="0"/>
              </a:rPr>
              <a:t>, </a:t>
            </a:r>
            <a:r>
              <a:rPr lang="en-GB" sz="1800" b="1" dirty="0" err="1">
                <a:solidFill>
                  <a:srgbClr val="000000"/>
                </a:solidFill>
                <a:highlight>
                  <a:srgbClr val="FFFFFF"/>
                </a:highlight>
                <a:latin typeface="Consolas" panose="020B0609020204030204" pitchFamily="49" charset="0"/>
              </a:rPr>
              <a:t>stu.Subject</a:t>
            </a:r>
            <a:r>
              <a:rPr lang="en-GB" sz="1800" b="1" dirty="0">
                <a:solidFill>
                  <a:srgbClr val="000000"/>
                </a:solidFill>
                <a:highlight>
                  <a:srgbClr val="FFFFFF"/>
                </a:highlight>
                <a:latin typeface="Consolas" panose="020B0609020204030204" pitchFamily="49" charset="0"/>
              </a:rPr>
              <a:t> });</a:t>
            </a:r>
            <a:endParaRPr lang="en-GB" sz="1600" b="1" dirty="0">
              <a:solidFill>
                <a:srgbClr val="000000"/>
              </a:solidFill>
              <a:highlight>
                <a:srgbClr val="FFFFFF"/>
              </a:highlight>
              <a:latin typeface="Consolas" panose="020B0609020204030204" pitchFamily="49" charset="0"/>
            </a:endParaRPr>
          </a:p>
          <a:p>
            <a:endParaRPr lang="en-GB" sz="1600" dirty="0">
              <a:solidFill>
                <a:srgbClr val="000000"/>
              </a:solidFill>
              <a:highlight>
                <a:srgbClr val="FFFFFF"/>
              </a:highlight>
              <a:latin typeface="Consolas" panose="020B0609020204030204" pitchFamily="49" charset="0"/>
            </a:endParaRPr>
          </a:p>
          <a:p>
            <a:r>
              <a:rPr lang="sv-SE" sz="1600" dirty="0">
                <a:solidFill>
                  <a:srgbClr val="0000FF"/>
                </a:solidFill>
                <a:highlight>
                  <a:srgbClr val="FFFFFF"/>
                </a:highlight>
                <a:latin typeface="Consolas" panose="020B0609020204030204" pitchFamily="49" charset="0"/>
              </a:rPr>
              <a:t>foreach</a:t>
            </a:r>
            <a:r>
              <a:rPr lang="sv-SE" sz="1600" dirty="0">
                <a:solidFill>
                  <a:srgbClr val="000000"/>
                </a:solidFill>
                <a:highlight>
                  <a:srgbClr val="FFFFFF"/>
                </a:highlight>
                <a:latin typeface="Consolas" panose="020B0609020204030204" pitchFamily="49" charset="0"/>
              </a:rPr>
              <a:t> (</a:t>
            </a:r>
            <a:r>
              <a:rPr lang="sv-SE" sz="1600" dirty="0">
                <a:solidFill>
                  <a:srgbClr val="0000FF"/>
                </a:solidFill>
                <a:highlight>
                  <a:srgbClr val="FFFFFF"/>
                </a:highlight>
                <a:latin typeface="Consolas" panose="020B0609020204030204" pitchFamily="49" charset="0"/>
              </a:rPr>
              <a:t>var</a:t>
            </a:r>
            <a:r>
              <a:rPr lang="sv-SE" sz="1600" dirty="0">
                <a:solidFill>
                  <a:srgbClr val="000000"/>
                </a:solidFill>
                <a:highlight>
                  <a:srgbClr val="FFFFFF"/>
                </a:highlight>
                <a:latin typeface="Consolas" panose="020B0609020204030204" pitchFamily="49" charset="0"/>
              </a:rPr>
              <a:t> stu </a:t>
            </a:r>
            <a:r>
              <a:rPr lang="sv-SE" sz="1600" dirty="0">
                <a:solidFill>
                  <a:srgbClr val="0000FF"/>
                </a:solidFill>
                <a:highlight>
                  <a:srgbClr val="FFFFFF"/>
                </a:highlight>
                <a:latin typeface="Consolas" panose="020B0609020204030204" pitchFamily="49" charset="0"/>
              </a:rPr>
              <a:t>in</a:t>
            </a:r>
            <a:r>
              <a:rPr lang="sv-SE" sz="1600" dirty="0">
                <a:solidFill>
                  <a:srgbClr val="000000"/>
                </a:solidFill>
                <a:highlight>
                  <a:srgbClr val="FFFFFF"/>
                </a:highlight>
                <a:latin typeface="Consolas" panose="020B0609020204030204" pitchFamily="49" charset="0"/>
              </a:rPr>
              <a:t> query)</a:t>
            </a:r>
            <a:br>
              <a:rPr lang="sv-SE" sz="1600" dirty="0">
                <a:solidFill>
                  <a:srgbClr val="000000"/>
                </a:solidFill>
                <a:highlight>
                  <a:srgbClr val="FFFFFF"/>
                </a:highlight>
                <a:latin typeface="Consolas" panose="020B0609020204030204" pitchFamily="49" charset="0"/>
              </a:rPr>
            </a:br>
            <a:r>
              <a:rPr lang="en-GB" sz="1600" dirty="0">
                <a:solidFill>
                  <a:srgbClr val="000000"/>
                </a:solidFill>
                <a:highlight>
                  <a:srgbClr val="FFFFFF"/>
                </a:highlight>
                <a:latin typeface="Consolas" panose="020B0609020204030204" pitchFamily="49" charset="0"/>
              </a:rPr>
              <a:t>{</a:t>
            </a:r>
          </a:p>
          <a:p>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Console</a:t>
            </a:r>
            <a:r>
              <a:rPr lang="en-GB" sz="1600" dirty="0" err="1">
                <a:solidFill>
                  <a:srgbClr val="000000"/>
                </a:solidFill>
                <a:highlight>
                  <a:srgbClr val="FFFFFF"/>
                </a:highlight>
                <a:latin typeface="Consolas" panose="020B0609020204030204" pitchFamily="49" charset="0"/>
              </a:rPr>
              <a:t>.WriteLine</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$"Name:</a:t>
            </a:r>
            <a:r>
              <a:rPr lang="en-GB" sz="1600" dirty="0">
                <a:solidFill>
                  <a:srgbClr val="000000"/>
                </a:solidFill>
                <a:highlight>
                  <a:srgbClr val="FFFFFF"/>
                </a:highlight>
                <a:latin typeface="Consolas" panose="020B0609020204030204" pitchFamily="49" charset="0"/>
              </a:rPr>
              <a:t>{</a:t>
            </a:r>
            <a:r>
              <a:rPr lang="en-GB" sz="1600" dirty="0" err="1">
                <a:solidFill>
                  <a:srgbClr val="000000"/>
                </a:solidFill>
                <a:highlight>
                  <a:srgbClr val="FFFFFF"/>
                </a:highlight>
                <a:latin typeface="Consolas" panose="020B0609020204030204" pitchFamily="49" charset="0"/>
              </a:rPr>
              <a:t>stu.Name</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 Subject:</a:t>
            </a:r>
            <a:r>
              <a:rPr lang="en-GB" sz="1600" dirty="0">
                <a:solidFill>
                  <a:srgbClr val="000000"/>
                </a:solidFill>
                <a:highlight>
                  <a:srgbClr val="FFFFFF"/>
                </a:highlight>
                <a:latin typeface="Consolas" panose="020B0609020204030204" pitchFamily="49" charset="0"/>
              </a:rPr>
              <a:t>{</a:t>
            </a:r>
            <a:r>
              <a:rPr lang="en-GB" sz="1600" dirty="0" err="1">
                <a:solidFill>
                  <a:srgbClr val="000000"/>
                </a:solidFill>
                <a:highlight>
                  <a:srgbClr val="FFFFFF"/>
                </a:highlight>
                <a:latin typeface="Consolas" panose="020B0609020204030204" pitchFamily="49" charset="0"/>
              </a:rPr>
              <a:t>stu.Subject</a:t>
            </a:r>
            <a:r>
              <a:rPr lang="en-GB" sz="1600" dirty="0">
                <a:solidFill>
                  <a:srgbClr val="000000"/>
                </a:solidFill>
                <a:highlight>
                  <a:srgbClr val="FFFFFF"/>
                </a:highlight>
                <a:latin typeface="Consolas" panose="020B0609020204030204" pitchFamily="49" charset="0"/>
              </a:rPr>
              <a:t>}</a:t>
            </a:r>
            <a:r>
              <a:rPr lang="en-GB" sz="1600" dirty="0">
                <a:solidFill>
                  <a:srgbClr val="A31515"/>
                </a:solidFill>
                <a:highlight>
                  <a:srgbClr val="FFFFFF"/>
                </a:highlight>
                <a:latin typeface="Consolas" panose="020B0609020204030204" pitchFamily="49" charset="0"/>
              </a:rPr>
              <a:t>"</a:t>
            </a:r>
            <a:r>
              <a:rPr lang="en-GB" sz="1600" dirty="0">
                <a:solidFill>
                  <a:srgbClr val="000000"/>
                </a:solidFill>
                <a:highlight>
                  <a:srgbClr val="FFFFFF"/>
                </a:highlight>
                <a:latin typeface="Consolas" panose="020B0609020204030204" pitchFamily="49" charset="0"/>
              </a:rPr>
              <a:t>);</a:t>
            </a:r>
            <a:br>
              <a:rPr lang="en-GB" sz="1600" dirty="0">
                <a:solidFill>
                  <a:srgbClr val="000000"/>
                </a:solidFill>
                <a:highlight>
                  <a:srgbClr val="FFFFFF"/>
                </a:highlight>
                <a:latin typeface="Consolas" panose="020B0609020204030204" pitchFamily="49" charset="0"/>
              </a:rPr>
            </a:br>
            <a:r>
              <a:rPr lang="en-GB" sz="1600" dirty="0">
                <a:solidFill>
                  <a:srgbClr val="000000"/>
                </a:solidFill>
                <a:highlight>
                  <a:srgbClr val="FFFFFF"/>
                </a:highlight>
                <a:latin typeface="Consolas" panose="020B0609020204030204" pitchFamily="49" charset="0"/>
              </a:rPr>
              <a:t>}</a:t>
            </a:r>
          </a:p>
        </p:txBody>
      </p:sp>
      <p:sp>
        <p:nvSpPr>
          <p:cNvPr id="2" name="Title 1"/>
          <p:cNvSpPr>
            <a:spLocks noGrp="1"/>
          </p:cNvSpPr>
          <p:nvPr>
            <p:ph type="title"/>
          </p:nvPr>
        </p:nvSpPr>
        <p:spPr/>
        <p:txBody>
          <a:bodyPr>
            <a:normAutofit/>
          </a:bodyPr>
          <a:lstStyle/>
          <a:p>
            <a:r>
              <a:rPr lang="en-GB" dirty="0"/>
              <a:t>Returning selected attributes - using anonymous type</a:t>
            </a:r>
          </a:p>
        </p:txBody>
      </p:sp>
      <p:sp>
        <p:nvSpPr>
          <p:cNvPr id="6" name="Rounded Rectangle 5"/>
          <p:cNvSpPr/>
          <p:nvPr/>
        </p:nvSpPr>
        <p:spPr>
          <a:xfrm>
            <a:off x="1582617" y="3594093"/>
            <a:ext cx="7136081" cy="485537"/>
          </a:xfrm>
          <a:prstGeom prst="round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58717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Review</a:t>
            </a:r>
            <a:endParaRPr lang="en-US" dirty="0"/>
          </a:p>
        </p:txBody>
      </p:sp>
      <p:sp>
        <p:nvSpPr>
          <p:cNvPr id="3" name="Content Placeholder 2"/>
          <p:cNvSpPr>
            <a:spLocks noGrp="1"/>
          </p:cNvSpPr>
          <p:nvPr>
            <p:ph idx="1"/>
          </p:nvPr>
        </p:nvSpPr>
        <p:spPr/>
        <p:txBody>
          <a:bodyPr/>
          <a:lstStyle/>
          <a:p>
            <a:r>
              <a:rPr lang="en-GB" dirty="0"/>
              <a:t>In this chapter you learned how to use Lambda operations</a:t>
            </a:r>
            <a:endParaRPr lang="en-US" dirty="0"/>
          </a:p>
        </p:txBody>
      </p:sp>
    </p:spTree>
    <p:extLst>
      <p:ext uri="{BB962C8B-B14F-4D97-AF65-F5344CB8AC3E}">
        <p14:creationId xmlns:p14="http://schemas.microsoft.com/office/powerpoint/2010/main" val="2848032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normAutofit/>
          </a:bodyPr>
          <a:lstStyle/>
          <a:p>
            <a:r>
              <a:rPr lang="en-GB" dirty="0"/>
              <a:t>Lab – LINQ and Lambda</a:t>
            </a:r>
          </a:p>
        </p:txBody>
      </p:sp>
      <p:pic>
        <p:nvPicPr>
          <p:cNvPr id="665604" name="Picture 4" descr="j0289001[1]"/>
          <p:cNvPicPr>
            <a:picLocks noGrp="1" noChangeArrowheads="1"/>
          </p:cNvPicPr>
          <p:nvPr>
            <p:ph idx="4294967295"/>
          </p:nvPr>
        </p:nvPicPr>
        <p:blipFill>
          <a:blip r:embed="rId3" cstate="print"/>
          <a:srcRect/>
          <a:stretch>
            <a:fillRect/>
          </a:stretch>
        </p:blipFill>
        <p:spPr>
          <a:xfrm>
            <a:off x="539776" y="2024466"/>
            <a:ext cx="1078960" cy="1163578"/>
          </a:xfrm>
          <a:prstGeom prst="rect">
            <a:avLst/>
          </a:prstGeom>
          <a:noFill/>
          <a:ln/>
        </p:spPr>
      </p:pic>
      <p:sp>
        <p:nvSpPr>
          <p:cNvPr id="665603" name="Rectangle 3"/>
          <p:cNvSpPr>
            <a:spLocks noChangeArrowheads="1"/>
          </p:cNvSpPr>
          <p:nvPr/>
        </p:nvSpPr>
        <p:spPr bwMode="auto">
          <a:xfrm>
            <a:off x="2520000" y="900000"/>
            <a:ext cx="5760000" cy="5220000"/>
          </a:xfrm>
          <a:prstGeom prst="rect">
            <a:avLst/>
          </a:prstGeom>
          <a:noFill/>
          <a:ln w="9525">
            <a:noFill/>
            <a:miter lim="800000"/>
            <a:headEnd/>
            <a:tailEnd/>
          </a:ln>
          <a:effectLst/>
        </p:spPr>
        <p:txBody>
          <a:bodyPr/>
          <a:lstStyle/>
          <a:p>
            <a:pPr marL="360000" indent="-360000">
              <a:spcBef>
                <a:spcPts val="600"/>
              </a:spcBef>
              <a:buClr>
                <a:schemeClr val="accent1"/>
              </a:buClr>
              <a:buFont typeface="Wingdings" pitchFamily="2" charset="2"/>
              <a:buChar char="§"/>
            </a:pPr>
            <a:endParaRPr lang="en-GB" sz="2400" b="1" dirty="0">
              <a:latin typeface="Arial" pitchFamily="34" charset="0"/>
              <a:cs typeface="Arial" pitchFamily="34" charset="0"/>
            </a:endParaRPr>
          </a:p>
        </p:txBody>
      </p:sp>
      <p:sp>
        <p:nvSpPr>
          <p:cNvPr id="5" name="Rectangle 3"/>
          <p:cNvSpPr>
            <a:spLocks noChangeArrowheads="1"/>
          </p:cNvSpPr>
          <p:nvPr/>
        </p:nvSpPr>
        <p:spPr bwMode="auto">
          <a:xfrm>
            <a:off x="2520000" y="900000"/>
            <a:ext cx="5940000" cy="5220000"/>
          </a:xfrm>
          <a:prstGeom prst="rect">
            <a:avLst/>
          </a:prstGeom>
          <a:noFill/>
          <a:ln w="9525">
            <a:noFill/>
            <a:miter lim="800000"/>
            <a:headEnd/>
            <a:tailEnd/>
          </a:ln>
          <a:effectLst/>
        </p:spPr>
        <p:txBody>
          <a:bodyPr/>
          <a:lstStyle/>
          <a:p>
            <a:pPr marL="360000" indent="-360000">
              <a:spcAft>
                <a:spcPts val="600"/>
              </a:spcAft>
              <a:buClr>
                <a:schemeClr val="accent1"/>
              </a:buClr>
              <a:buFont typeface="Wingdings" pitchFamily="2" charset="2"/>
              <a:buChar char="§"/>
            </a:pPr>
            <a:r>
              <a:rPr lang="en-GB" sz="2000" b="1" dirty="0">
                <a:latin typeface="Arial" pitchFamily="34" charset="0"/>
                <a:cs typeface="Arial" pitchFamily="34" charset="0"/>
              </a:rPr>
              <a:t>Please see your Lab Guide</a:t>
            </a:r>
          </a:p>
          <a:p>
            <a:pPr marL="720000" lvl="1" indent="-360000">
              <a:spcAft>
                <a:spcPts val="600"/>
              </a:spcAft>
              <a:buClr>
                <a:schemeClr val="accent1"/>
              </a:buClr>
              <a:buFont typeface="Wingdings" pitchFamily="2" charset="2"/>
              <a:buChar char="§"/>
            </a:pPr>
            <a:r>
              <a:rPr lang="en-GB" sz="2000" dirty="0" smtClean="0">
                <a:latin typeface="Arial" pitchFamily="34" charset="0"/>
                <a:cs typeface="Arial" pitchFamily="34" charset="0"/>
              </a:rPr>
              <a:t>Lambda</a:t>
            </a:r>
            <a:endParaRPr lang="en-GB" sz="2000" dirty="0">
              <a:latin typeface="Arial" pitchFamily="34" charset="0"/>
              <a:cs typeface="Arial" pitchFamily="34" charset="0"/>
            </a:endParaRPr>
          </a:p>
        </p:txBody>
      </p:sp>
    </p:spTree>
    <p:extLst>
      <p:ext uri="{BB962C8B-B14F-4D97-AF65-F5344CB8AC3E}">
        <p14:creationId xmlns:p14="http://schemas.microsoft.com/office/powerpoint/2010/main" val="528330074"/>
      </p:ext>
    </p:extLst>
  </p:cSld>
  <p:clrMapOvr>
    <a:masterClrMapping/>
  </p:clrMapOvr>
</p:sld>
</file>

<file path=ppt/theme/theme1.xml><?xml version="1.0" encoding="utf-8"?>
<a:theme xmlns:a="http://schemas.openxmlformats.org/drawingml/2006/main" name="QA-IQSwooshPresentationtemplate">
  <a:themeElements>
    <a:clrScheme name="QA-IQSwooshPresentationtemplate 1">
      <a:dk1>
        <a:srgbClr val="000066"/>
      </a:dk1>
      <a:lt1>
        <a:srgbClr val="FFFFFF"/>
      </a:lt1>
      <a:dk2>
        <a:srgbClr val="005AA9"/>
      </a:dk2>
      <a:lt2>
        <a:srgbClr val="AAAAAA"/>
      </a:lt2>
      <a:accent1>
        <a:srgbClr val="FFFFB9"/>
      </a:accent1>
      <a:accent2>
        <a:srgbClr val="E1FFE1"/>
      </a:accent2>
      <a:accent3>
        <a:srgbClr val="FFFFFF"/>
      </a:accent3>
      <a:accent4>
        <a:srgbClr val="000056"/>
      </a:accent4>
      <a:accent5>
        <a:srgbClr val="FFFFD9"/>
      </a:accent5>
      <a:accent6>
        <a:srgbClr val="CCE7CC"/>
      </a:accent6>
      <a:hlink>
        <a:srgbClr val="E1E1FF"/>
      </a:hlink>
      <a:folHlink>
        <a:srgbClr val="F0C8FF"/>
      </a:folHlink>
    </a:clrScheme>
    <a:fontScheme name="QA-IQSwooshPresentation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GB" sz="1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GB" sz="1000" b="0" i="0" u="none" strike="noStrike" cap="none" normalizeH="0" baseline="0" smtClean="0">
            <a:ln>
              <a:noFill/>
            </a:ln>
            <a:solidFill>
              <a:schemeClr val="tx1"/>
            </a:solidFill>
            <a:effectLst/>
            <a:latin typeface="Arial" charset="0"/>
          </a:defRPr>
        </a:defPPr>
      </a:lstStyle>
    </a:lnDef>
  </a:objectDefaults>
  <a:extraClrSchemeLst>
    <a:extraClrScheme>
      <a:clrScheme name="QA-IQSwooshPresentationtemplate 1">
        <a:dk1>
          <a:srgbClr val="000066"/>
        </a:dk1>
        <a:lt1>
          <a:srgbClr val="FFFFFF"/>
        </a:lt1>
        <a:dk2>
          <a:srgbClr val="005AA9"/>
        </a:dk2>
        <a:lt2>
          <a:srgbClr val="AAAAAA"/>
        </a:lt2>
        <a:accent1>
          <a:srgbClr val="FFFFB9"/>
        </a:accent1>
        <a:accent2>
          <a:srgbClr val="E1FFE1"/>
        </a:accent2>
        <a:accent3>
          <a:srgbClr val="FFFFFF"/>
        </a:accent3>
        <a:accent4>
          <a:srgbClr val="000056"/>
        </a:accent4>
        <a:accent5>
          <a:srgbClr val="FFFFD9"/>
        </a:accent5>
        <a:accent6>
          <a:srgbClr val="CCE7CC"/>
        </a:accent6>
        <a:hlink>
          <a:srgbClr val="E1E1FF"/>
        </a:hlink>
        <a:folHlink>
          <a:srgbClr val="F0C8FF"/>
        </a:folHlink>
      </a:clrScheme>
      <a:clrMap bg1="lt1" tx1="dk1" bg2="lt2" tx2="dk2" accent1="accent1" accent2="accent2" accent3="accent3" accent4="accent4" accent5="accent5" accent6="accent6" hlink="hlink" folHlink="folHlink"/>
    </a:extraClrScheme>
    <a:extraClrScheme>
      <a:clrScheme name="QA-IQSwooshPresentationtemplate 2">
        <a:dk1>
          <a:srgbClr val="000066"/>
        </a:dk1>
        <a:lt1>
          <a:srgbClr val="FFFFFF"/>
        </a:lt1>
        <a:dk2>
          <a:srgbClr val="005AA9"/>
        </a:dk2>
        <a:lt2>
          <a:srgbClr val="AAAAAA"/>
        </a:lt2>
        <a:accent1>
          <a:srgbClr val="FFFFB9"/>
        </a:accent1>
        <a:accent2>
          <a:srgbClr val="E1FFE1"/>
        </a:accent2>
        <a:accent3>
          <a:srgbClr val="FFFFFF"/>
        </a:accent3>
        <a:accent4>
          <a:srgbClr val="000056"/>
        </a:accent4>
        <a:accent5>
          <a:srgbClr val="FFFFD9"/>
        </a:accent5>
        <a:accent6>
          <a:srgbClr val="CCE7CC"/>
        </a:accent6>
        <a:hlink>
          <a:srgbClr val="000099"/>
        </a:hlink>
        <a:folHlink>
          <a:srgbClr val="3333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QA Template 2014">
  <a:themeElements>
    <a:clrScheme name="Custom 1">
      <a:dk1>
        <a:srgbClr val="000000"/>
      </a:dk1>
      <a:lt1>
        <a:srgbClr val="FFFFFF"/>
      </a:lt1>
      <a:dk2>
        <a:srgbClr val="4F81BD"/>
      </a:dk2>
      <a:lt2>
        <a:srgbClr val="AAAAAA"/>
      </a:lt2>
      <a:accent1>
        <a:srgbClr val="B8CCE4"/>
      </a:accent1>
      <a:accent2>
        <a:srgbClr val="E1FFE1"/>
      </a:accent2>
      <a:accent3>
        <a:srgbClr val="FFFFFF"/>
      </a:accent3>
      <a:accent4>
        <a:srgbClr val="0070C0"/>
      </a:accent4>
      <a:accent5>
        <a:srgbClr val="FFFFD9"/>
      </a:accent5>
      <a:accent6>
        <a:srgbClr val="CCE7CC"/>
      </a:accent6>
      <a:hlink>
        <a:srgbClr val="AAAAAA"/>
      </a:hlink>
      <a:folHlink>
        <a:srgbClr val="0000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rtlCol="0" anchor="ctr"/>
      <a:lstStyle>
        <a:defPPr algn="ctr">
          <a:defRPr sz="1600" dirty="0" smtClean="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accent1">
            <a:lumMod val="40000"/>
            <a:lumOff val="60000"/>
          </a:schemeClr>
        </a:solidFill>
      </a:spPr>
      <a:bodyPr wrap="square" rtlCol="0">
        <a:spAutoFit/>
      </a:bodyPr>
      <a:lstStyle>
        <a:defPPr>
          <a:defRPr sz="2000" dirty="0" smtClean="0">
            <a:latin typeface="Courier New" pitchFamily="49" charset="0"/>
            <a:cs typeface="Courier New" pitchFamily="49" charset="0"/>
          </a:defRPr>
        </a:defPPr>
      </a:lstStyle>
    </a:tx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hapterNo xmlns="4ff00d7d-e7fe-48a8-a79f-9d301ade6bee">4</ChapterNo>
    <PPTPrintingStyle xmlns="4ff00d7d-e7fe-48a8-a79f-9d301ade6bee">Portrait Print Notes</PPTPrintingStyle>
    <ChapterType xmlns="4ff00d7d-e7fe-48a8-a79f-9d301ade6bee">Chapter</ChapterType>
    <EnsureEvenPages xmlns="4ff00d7d-e7fe-48a8-a79f-9d301ade6bee">true</EnsureEvenPages>
    <BookType xmlns="4ff00d7d-e7fe-48a8-a79f-9d301ade6bee">DG</BookType>
    <PageNumbering xmlns="4ff00d7d-e7fe-48a8-a79f-9d301ade6bee">Sequential</PageNumbering>
    <SequenceNo xmlns="4ff00d7d-e7fe-48a8-a79f-9d301ade6bee">14</SequenceNo>
    <StartPageNumber xmlns="4ff00d7d-e7fe-48a8-a79f-9d301ade6bee">0</StartPageNumber>
    <CoursewareMasterStatus xmlns="d87ebf94-adeb-449c-a646-cea72623b18d">Completed</CoursewareMasterStatus>
  </documentManagement>
</p:properties>
</file>

<file path=customXml/item3.xml><?xml version="1.0" encoding="utf-8"?>
<ct:contentTypeSchema xmlns:ct="http://schemas.microsoft.com/office/2006/metadata/contentType" xmlns:ma="http://schemas.microsoft.com/office/2006/metadata/properties/metaAttributes" ct:_="" ma:_="" ma:contentTypeName="Workbook - Chapter (PowerPoint)" ma:contentTypeID="0x0101009AB076E22428264284E11C73D716557C1600D71E8F456A51A24FB21A96B15F5410B5" ma:contentTypeVersion="0" ma:contentTypeDescription="PowerPoint chapter (not full workbook)" ma:contentTypeScope="" ma:versionID="ec256328dfeb3dfbb2f6486fa22048d1">
  <xsd:schema xmlns:xsd="http://www.w3.org/2001/XMLSchema" xmlns:xs="http://www.w3.org/2001/XMLSchema" xmlns:p="http://schemas.microsoft.com/office/2006/metadata/properties" xmlns:ns2="4ff00d7d-e7fe-48a8-a79f-9d301ade6bee" xmlns:ns3="d87ebf94-adeb-449c-a646-cea72623b18d" targetNamespace="http://schemas.microsoft.com/office/2006/metadata/properties" ma:root="true" ma:fieldsID="a32dc882b35851cacf459fe7105de587" ns2:_="" ns3:_="">
    <xsd:import namespace="4ff00d7d-e7fe-48a8-a79f-9d301ade6bee"/>
    <xsd:import namespace="d87ebf94-adeb-449c-a646-cea72623b18d"/>
    <xsd:element name="properties">
      <xsd:complexType>
        <xsd:sequence>
          <xsd:element name="documentManagement">
            <xsd:complexType>
              <xsd:all>
                <xsd:element ref="ns2:BookType" minOccurs="0"/>
                <xsd:element ref="ns2:SequenceNo" minOccurs="0"/>
                <xsd:element ref="ns2:ChapterType" minOccurs="0"/>
                <xsd:element ref="ns2:ChapterNo" minOccurs="0"/>
                <xsd:element ref="ns2:EnsureEvenPages" minOccurs="0"/>
                <xsd:element ref="ns2:PageNumbering" minOccurs="0"/>
                <xsd:element ref="ns2:PPTPrintingStyle" minOccurs="0"/>
                <xsd:element ref="ns2:StartPageNumber" minOccurs="0"/>
                <xsd:element ref="ns3:CoursewareMaster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f00d7d-e7fe-48a8-a79f-9d301ade6bee" elementFormDefault="qualified">
    <xsd:import namespace="http://schemas.microsoft.com/office/2006/documentManagement/types"/>
    <xsd:import namespace="http://schemas.microsoft.com/office/infopath/2007/PartnerControls"/>
    <xsd:element name="BookType" ma:index="2" nillable="true" ma:displayName="Book Type" ma:default="None" ma:format="Dropdown" ma:internalName="BookType" ma:readOnly="false">
      <xsd:simpleType>
        <xsd:restriction base="dms:Choice">
          <xsd:enumeration value="None"/>
          <xsd:enumeration value="DG"/>
          <xsd:enumeration value="DG2"/>
          <xsd:enumeration value="DG3"/>
          <xsd:enumeration value="DG4"/>
          <xsd:enumeration value="DG_LP"/>
          <xsd:enumeration value="APP"/>
          <xsd:enumeration value="EG"/>
          <xsd:enumeration value="EG2"/>
          <xsd:enumeration value="HAND"/>
          <xsd:enumeration value="HAND2"/>
          <xsd:enumeration value="HAND3"/>
          <xsd:enumeration value="IK"/>
          <xsd:enumeration value="PCR"/>
          <xsd:enumeration value="LABS"/>
        </xsd:restriction>
      </xsd:simpleType>
    </xsd:element>
    <xsd:element name="SequenceNo" ma:index="3" nillable="true" ma:displayName="Sequence No" ma:decimals="2" ma:hidden="true" ma:internalName="SequenceNo" ma:readOnly="false" ma:percentage="FALSE">
      <xsd:simpleType>
        <xsd:restriction base="dms:Number"/>
      </xsd:simpleType>
    </xsd:element>
    <xsd:element name="ChapterType" ma:index="10" nillable="true" ma:displayName="Chapter Type" ma:format="Dropdown" ma:hidden="true" ma:internalName="ChapterType" ma:readOnly="false">
      <xsd:simpleType>
        <xsd:union memberTypes="dms:Text">
          <xsd:simpleType>
            <xsd:restriction base="dms:Choice">
              <xsd:enumeration value="Appendix"/>
              <xsd:enumeration value="Chapter"/>
              <xsd:enumeration value="Exercise"/>
            </xsd:restriction>
          </xsd:simpleType>
        </xsd:union>
      </xsd:simpleType>
    </xsd:element>
    <xsd:element name="ChapterNo" ma:index="11" nillable="true" ma:displayName="Chapter No" ma:hidden="true" ma:internalName="ChapterNo" ma:readOnly="false">
      <xsd:simpleType>
        <xsd:restriction base="dms:Text">
          <xsd:maxLength value="5"/>
        </xsd:restriction>
      </xsd:simpleType>
    </xsd:element>
    <xsd:element name="EnsureEvenPages" ma:index="12" nillable="true" ma:displayName="Ensure Even Pages" ma:default="1" ma:hidden="true" ma:internalName="EnsureEvenPages" ma:readOnly="false">
      <xsd:simpleType>
        <xsd:restriction base="dms:Boolean"/>
      </xsd:simpleType>
    </xsd:element>
    <xsd:element name="PageNumbering" ma:index="13" nillable="true" ma:displayName="Page Numbering" ma:default="Sequential" ma:format="Dropdown" ma:hidden="true" ma:internalName="PageNumbering" ma:readOnly="false">
      <xsd:simpleType>
        <xsd:restriction base="dms:Choice">
          <xsd:enumeration value="None"/>
          <xsd:enumeration value="Restart at Page 1"/>
          <xsd:enumeration value="Sequential"/>
        </xsd:restriction>
      </xsd:simpleType>
    </xsd:element>
    <xsd:element name="PPTPrintingStyle" ma:index="14" nillable="true" ma:displayName="PPT Printing Style" ma:format="Dropdown" ma:internalName="PPTPrintingStyle">
      <xsd:simpleType>
        <xsd:restriction base="dms:Choice">
          <xsd:enumeration value="Handout 2 Up"/>
          <xsd:enumeration value="Handout 3 Up"/>
          <xsd:enumeration value="Landscape"/>
          <xsd:enumeration value="Portrait"/>
          <xsd:enumeration value="Portrait Print Notes"/>
        </xsd:restriction>
      </xsd:simpleType>
    </xsd:element>
    <xsd:element name="StartPageNumber" ma:index="15" nillable="true" ma:displayName="Start Page No" ma:decimals="0" ma:hidden="true" ma:internalName="StartPageNumber" ma:readOnly="false"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d87ebf94-adeb-449c-a646-cea72623b18d" elementFormDefault="qualified">
    <xsd:import namespace="http://schemas.microsoft.com/office/2006/documentManagement/types"/>
    <xsd:import namespace="http://schemas.microsoft.com/office/infopath/2007/PartnerControls"/>
    <xsd:element name="CoursewareMasterStatus" ma:index="16" nillable="true" ma:displayName="Status" ma:default="Completed" ma:description="Courseware Master Status Field" ma:format="Dropdown" ma:internalName="CoursewareMasterStatus">
      <xsd:simpleType>
        <xsd:restriction base="dms:Choice">
          <xsd:enumeration value="PDF Convert"/>
          <xsd:enumeration value="Transfer - No PDF"/>
          <xsd:enumeration value="Completed"/>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bb3bdb55-ce43-40c7-ac96-dc2d075fdb96" ContentTypeId="0x0101009AB076E22428264284E11C73D716557C16" PreviousValue="true"/>
</file>

<file path=customXml/itemProps1.xml><?xml version="1.0" encoding="utf-8"?>
<ds:datastoreItem xmlns:ds="http://schemas.openxmlformats.org/officeDocument/2006/customXml" ds:itemID="{B0FBBAEE-DDEA-4D6D-81D6-CD84B3550BF5}">
  <ds:schemaRefs>
    <ds:schemaRef ds:uri="http://schemas.microsoft.com/sharepoint/v3/contenttype/forms"/>
  </ds:schemaRefs>
</ds:datastoreItem>
</file>

<file path=customXml/itemProps2.xml><?xml version="1.0" encoding="utf-8"?>
<ds:datastoreItem xmlns:ds="http://schemas.openxmlformats.org/officeDocument/2006/customXml" ds:itemID="{EA665279-8EA2-46B9-A89E-F980735DE498}">
  <ds:schemaRefs>
    <ds:schemaRef ds:uri="http://purl.org/dc/terms/"/>
    <ds:schemaRef ds:uri="d87ebf94-adeb-449c-a646-cea72623b18d"/>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http://schemas.microsoft.com/office/2006/metadata/properties"/>
    <ds:schemaRef ds:uri="4ff00d7d-e7fe-48a8-a79f-9d301ade6bee"/>
    <ds:schemaRef ds:uri="http://www.w3.org/XML/1998/namespace"/>
    <ds:schemaRef ds:uri="http://purl.org/dc/dcmitype/"/>
  </ds:schemaRefs>
</ds:datastoreItem>
</file>

<file path=customXml/itemProps3.xml><?xml version="1.0" encoding="utf-8"?>
<ds:datastoreItem xmlns:ds="http://schemas.openxmlformats.org/officeDocument/2006/customXml" ds:itemID="{F0C2E925-A556-4C3E-8DBC-6A83D7B67B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f00d7d-e7fe-48a8-a79f-9d301ade6bee"/>
    <ds:schemaRef ds:uri="d87ebf94-adeb-449c-a646-cea72623b1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D4F8FBFB-C320-469B-92D6-47913F13D5ED}">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
  <TotalTime>10662</TotalTime>
  <Words>1996</Words>
  <Application>Microsoft Office PowerPoint</Application>
  <PresentationFormat>On-screen Show (4:3)</PresentationFormat>
  <Paragraphs>244</Paragraphs>
  <Slides>22</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Arial</vt:lpstr>
      <vt:lpstr>Book Antiqua</vt:lpstr>
      <vt:lpstr>Consolas</vt:lpstr>
      <vt:lpstr>Courier New</vt:lpstr>
      <vt:lpstr>Times New Roman</vt:lpstr>
      <vt:lpstr>Wingdings</vt:lpstr>
      <vt:lpstr>QA-IQSwooshPresentationtemplate</vt:lpstr>
      <vt:lpstr>QA Template 2014</vt:lpstr>
      <vt:lpstr>PowerPoint Presentation</vt:lpstr>
      <vt:lpstr>Contents</vt:lpstr>
      <vt:lpstr>What is Language Integrated Query ?</vt:lpstr>
      <vt:lpstr>Simple query </vt:lpstr>
      <vt:lpstr>A more complex filter</vt:lpstr>
      <vt:lpstr>What is the var keyword?</vt:lpstr>
      <vt:lpstr>Ordering the result –  orderby</vt:lpstr>
      <vt:lpstr>Returning selected attributes - using anonymous type</vt:lpstr>
      <vt:lpstr>Need to learn more?</vt:lpstr>
      <vt:lpstr>Let’s use a couple of those keywords</vt:lpstr>
      <vt:lpstr>Lambda Expressions</vt:lpstr>
      <vt:lpstr>Using a Func&lt;&gt;  - Part 1/2</vt:lpstr>
      <vt:lpstr>Using a Func&lt;&gt;  - Part 2/2</vt:lpstr>
      <vt:lpstr>Lambda – Towards a more compact code</vt:lpstr>
      <vt:lpstr>Simple query the Lambda way</vt:lpstr>
      <vt:lpstr>A more complex filter</vt:lpstr>
      <vt:lpstr>Ordering the result –  orderby</vt:lpstr>
      <vt:lpstr>LINQ – Aggregation Operators</vt:lpstr>
      <vt:lpstr>List&lt;&gt; FindAll method</vt:lpstr>
      <vt:lpstr>Returning selected attributes - using anonymous type</vt:lpstr>
      <vt:lpstr>Review</vt:lpstr>
      <vt:lpstr>Lab – LINQ and Lambda</vt:lpstr>
    </vt:vector>
  </TitlesOfParts>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LINQ Primer</dc:title>
  <dc:creator>QA Ltd</dc:creator>
  <cp:lastModifiedBy>Admin</cp:lastModifiedBy>
  <cp:revision>287</cp:revision>
  <dcterms:created xsi:type="dcterms:W3CDTF">2008-02-15T11:31:17Z</dcterms:created>
  <dcterms:modified xsi:type="dcterms:W3CDTF">2020-02-20T09:18:31Z</dcterms:modified>
  <cp:category>Chapter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0x0101009AB076E22428264284E11C73D716557C1600D71E8F456A51A24FB21A96B15F5410B5</vt:lpwstr>
  </property>
  <property fmtid="{D5CDD505-2E9C-101B-9397-08002B2CF9AE}" pid="3" name="BrandingStandard">
    <vt:lpwstr>2010</vt:lpwstr>
  </property>
  <property fmtid="{D5CDD505-2E9C-101B-9397-08002B2CF9AE}" pid="4" name="Difficulty">
    <vt:lpwstr/>
  </property>
  <property fmtid="{D5CDD505-2E9C-101B-9397-08002B2CF9AE}" pid="5" name="Duration">
    <vt:lpwstr/>
  </property>
</Properties>
</file>